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44" r:id="rId3"/>
    <p:sldId id="343" r:id="rId4"/>
    <p:sldId id="317" r:id="rId5"/>
    <p:sldId id="346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5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0.xml"/><Relationship Id="rId22" Type="http://schemas.openxmlformats.org/officeDocument/2006/relationships/image" Target="../media/image15.svg"/><Relationship Id="rId21" Type="http://schemas.openxmlformats.org/officeDocument/2006/relationships/image" Target="../media/image14.png"/><Relationship Id="rId20" Type="http://schemas.openxmlformats.org/officeDocument/2006/relationships/tags" Target="../tags/tag69.xml"/><Relationship Id="rId2" Type="http://schemas.openxmlformats.org/officeDocument/2006/relationships/tags" Target="../tags/tag63.xml"/><Relationship Id="rId19" Type="http://schemas.openxmlformats.org/officeDocument/2006/relationships/image" Target="../media/image13.svg"/><Relationship Id="rId18" Type="http://schemas.openxmlformats.org/officeDocument/2006/relationships/image" Target="../media/image12.png"/><Relationship Id="rId17" Type="http://schemas.openxmlformats.org/officeDocument/2006/relationships/tags" Target="../tags/tag68.xml"/><Relationship Id="rId16" Type="http://schemas.openxmlformats.org/officeDocument/2006/relationships/image" Target="../media/image11.svg"/><Relationship Id="rId15" Type="http://schemas.openxmlformats.org/officeDocument/2006/relationships/image" Target="../media/image10.png"/><Relationship Id="rId14" Type="http://schemas.openxmlformats.org/officeDocument/2006/relationships/tags" Target="../tags/tag67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66.xml"/><Relationship Id="rId10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73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tags" Target="../tags/tag72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tags" Target="../tags/tag7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5.xml"/><Relationship Id="rId14" Type="http://schemas.openxmlformats.org/officeDocument/2006/relationships/image" Target="../media/image1.png"/><Relationship Id="rId13" Type="http://schemas.openxmlformats.org/officeDocument/2006/relationships/image" Target="../media/image17.svg"/><Relationship Id="rId12" Type="http://schemas.openxmlformats.org/officeDocument/2006/relationships/image" Target="../media/image2.png"/><Relationship Id="rId11" Type="http://schemas.openxmlformats.org/officeDocument/2006/relationships/tags" Target="../tags/tag74.xml"/><Relationship Id="rId10" Type="http://schemas.openxmlformats.org/officeDocument/2006/relationships/image" Target="../media/image15.svg"/><Relationship Id="rId1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问题</a:t>
            </a:r>
            <a:r>
              <a:rPr lang="zh-CN" altLang="en-US" sz="2400" b="1"/>
              <a:t>简述</a:t>
            </a:r>
            <a:endParaRPr lang="zh-CN" altLang="en-US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5" name="圆柱形 4"/>
          <p:cNvSpPr/>
          <p:nvPr/>
        </p:nvSpPr>
        <p:spPr>
          <a:xfrm>
            <a:off x="1319530" y="3262630"/>
            <a:ext cx="1143000" cy="1215390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Initial Dataset</a:t>
            </a:r>
            <a:endParaRPr lang="en-US" altLang="zh-CN"/>
          </a:p>
        </p:txBody>
      </p:sp>
      <p:pic>
        <p:nvPicPr>
          <p:cNvPr id="7" name="图片 6" descr="科学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275" y="3563620"/>
            <a:ext cx="914400" cy="914400"/>
          </a:xfrm>
          <a:prstGeom prst="rect">
            <a:avLst/>
          </a:prstGeom>
        </p:spPr>
      </p:pic>
      <p:pic>
        <p:nvPicPr>
          <p:cNvPr id="8" name="图片 7" descr="文档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0200" y="3563620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88280" y="319532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Self-edit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3324860" y="319532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LLM</a:t>
            </a:r>
            <a:endParaRPr lang="en-US" altLang="zh-CN"/>
          </a:p>
        </p:txBody>
      </p:sp>
      <p:pic>
        <p:nvPicPr>
          <p:cNvPr id="13" name="图片 12" descr="科学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7725" y="3563620"/>
            <a:ext cx="914400" cy="9144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786880" y="3195320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Inner LLM</a:t>
            </a:r>
            <a:endParaRPr lang="en-US" altLang="zh-CN"/>
          </a:p>
        </p:txBody>
      </p:sp>
      <p:pic>
        <p:nvPicPr>
          <p:cNvPr id="15" name="图片 14" descr="评估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41815" y="3563620"/>
            <a:ext cx="914400" cy="9144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034145" y="3262630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Evaluation</a:t>
            </a:r>
            <a:endParaRPr lang="en-US" altLang="zh-CN"/>
          </a:p>
        </p:txBody>
      </p:sp>
      <p:sp>
        <p:nvSpPr>
          <p:cNvPr id="17" name="右箭头 16"/>
          <p:cNvSpPr/>
          <p:nvPr/>
        </p:nvSpPr>
        <p:spPr>
          <a:xfrm>
            <a:off x="4591050" y="3916680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2712085" y="3916680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6483350" y="3916680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8470900" y="3916680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3763010" y="2571115"/>
            <a:ext cx="6190615" cy="422910"/>
            <a:chOff x="5926" y="4049"/>
            <a:chExt cx="9749" cy="666"/>
          </a:xfrm>
          <a:solidFill>
            <a:schemeClr val="accent1"/>
          </a:solidFill>
        </p:grpSpPr>
        <p:sp>
          <p:nvSpPr>
            <p:cNvPr id="24" name="直角上箭头 23"/>
            <p:cNvSpPr/>
            <p:nvPr/>
          </p:nvSpPr>
          <p:spPr>
            <a:xfrm rot="10800000">
              <a:off x="5926" y="4061"/>
              <a:ext cx="9655" cy="654"/>
            </a:xfrm>
            <a:prstGeom prst="bentUpArrow">
              <a:avLst>
                <a:gd name="adj1" fmla="val 25000"/>
                <a:gd name="adj2" fmla="val 25000"/>
                <a:gd name="adj3" fmla="val 35168"/>
              </a:avLst>
            </a:prstGeom>
            <a:grpFill/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5669" y="4049"/>
              <a:ext cx="7" cy="662"/>
            </a:xfrm>
            <a:prstGeom prst="line">
              <a:avLst/>
            </a:prstGeom>
            <a:grpFill/>
            <a:ln w="101600" cmpd="sng">
              <a:solidFill>
                <a:schemeClr val="accent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7" name="图片 26" descr="任务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433830" y="5047615"/>
            <a:ext cx="914400" cy="914400"/>
          </a:xfrm>
          <a:prstGeom prst="rect">
            <a:avLst/>
          </a:prstGeom>
        </p:spPr>
      </p:pic>
      <p:sp>
        <p:nvSpPr>
          <p:cNvPr id="28" name="右箭头 27"/>
          <p:cNvSpPr/>
          <p:nvPr/>
        </p:nvSpPr>
        <p:spPr>
          <a:xfrm rot="19500000">
            <a:off x="2722245" y="495871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257300" y="607123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New task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564515" y="1886585"/>
            <a:ext cx="10300970" cy="2672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2460000">
            <a:off x="4591050" y="497268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123180" y="1984375"/>
            <a:ext cx="1487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SEAL Loop</a:t>
            </a:r>
            <a:endParaRPr lang="en-US" altLang="zh-CN"/>
          </a:p>
        </p:txBody>
      </p:sp>
      <p:pic>
        <p:nvPicPr>
          <p:cNvPr id="33" name="图片 32" descr="文档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15280" y="5047615"/>
            <a:ext cx="914400" cy="9144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293360" y="607123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Self-edit</a:t>
            </a:r>
            <a:endParaRPr lang="en-US" altLang="zh-CN"/>
          </a:p>
        </p:txBody>
      </p:sp>
      <p:pic>
        <p:nvPicPr>
          <p:cNvPr id="35" name="图片 34" descr="科学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97725" y="5047615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786880" y="6071235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CPT LLM</a:t>
            </a:r>
            <a:endParaRPr lang="en-US" altLang="zh-CN"/>
          </a:p>
        </p:txBody>
      </p:sp>
      <p:sp>
        <p:nvSpPr>
          <p:cNvPr id="37" name="右箭头 36"/>
          <p:cNvSpPr/>
          <p:nvPr/>
        </p:nvSpPr>
        <p:spPr>
          <a:xfrm>
            <a:off x="6483350" y="540067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23180" y="6450965"/>
            <a:ext cx="1487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CPT lane</a:t>
            </a:r>
            <a:endParaRPr lang="en-US" altLang="zh-CN"/>
          </a:p>
        </p:txBody>
      </p:sp>
    </p:spTree>
    <p:custDataLst>
      <p:tags r:id="rId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问题</a:t>
            </a:r>
            <a:r>
              <a:rPr lang="zh-CN" altLang="en-US" sz="2400" b="1"/>
              <a:t>简述</a:t>
            </a:r>
            <a:endParaRPr lang="zh-CN" altLang="en-US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27898"/>
          <a:stretch>
            <a:fillRect/>
          </a:stretch>
        </p:blipFill>
        <p:spPr>
          <a:xfrm>
            <a:off x="1003935" y="772795"/>
            <a:ext cx="4377690" cy="4272280"/>
          </a:xfrm>
          <a:prstGeom prst="rect">
            <a:avLst/>
          </a:prstGeom>
        </p:spPr>
      </p:pic>
      <p:pic>
        <p:nvPicPr>
          <p:cNvPr id="27" name="图片 26" descr="任务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875915" y="5330825"/>
            <a:ext cx="914400" cy="914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699385" y="635444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New task</a:t>
            </a:r>
            <a:endParaRPr lang="en-US" altLang="zh-CN"/>
          </a:p>
        </p:txBody>
      </p:sp>
      <p:pic>
        <p:nvPicPr>
          <p:cNvPr id="33" name="图片 32" descr="文档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7365" y="5330825"/>
            <a:ext cx="914400" cy="9144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735445" y="635444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Self-edit</a:t>
            </a:r>
            <a:endParaRPr lang="en-US" altLang="zh-CN"/>
          </a:p>
        </p:txBody>
      </p:sp>
      <p:pic>
        <p:nvPicPr>
          <p:cNvPr id="35" name="图片 34" descr="科学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9810" y="5330825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8228965" y="6354445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CPT LLM</a:t>
            </a:r>
            <a:endParaRPr lang="en-US" altLang="zh-CN"/>
          </a:p>
        </p:txBody>
      </p:sp>
      <p:sp>
        <p:nvSpPr>
          <p:cNvPr id="37" name="右箭头 36"/>
          <p:cNvSpPr/>
          <p:nvPr/>
        </p:nvSpPr>
        <p:spPr>
          <a:xfrm>
            <a:off x="4022090" y="568388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科学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66640" y="5330825"/>
            <a:ext cx="914400" cy="91440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6012815" y="568388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899400" y="568388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451985" y="6354445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LLM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306695" y="929640"/>
            <a:ext cx="63881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CPT</a:t>
            </a:r>
            <a:r>
              <a:rPr lang="zh-CN" altLang="en-US" sz="2000"/>
              <a:t>过程中使用</a:t>
            </a:r>
            <a:r>
              <a:rPr lang="en-US" altLang="zh-CN" sz="2000"/>
              <a:t>lora</a:t>
            </a:r>
            <a:r>
              <a:rPr lang="zh-CN" altLang="en-US" sz="2000"/>
              <a:t>微调后直接</a:t>
            </a:r>
            <a:r>
              <a:rPr lang="en-US" altLang="zh-CN" sz="2000"/>
              <a:t>merge</a:t>
            </a:r>
            <a:r>
              <a:rPr lang="zh-CN" altLang="en-US" sz="2000"/>
              <a:t>的方式，模型对于</a:t>
            </a:r>
            <a:r>
              <a:rPr lang="zh-CN" altLang="en-US" sz="2000"/>
              <a:t>历史任务存在遗忘问题</a:t>
            </a:r>
            <a:endParaRPr lang="en-US" sz="2000"/>
          </a:p>
          <a:p>
            <a:pPr indent="0" fontAlgn="auto">
              <a:lnSpc>
                <a:spcPct val="150000"/>
              </a:lnSpc>
            </a:pPr>
            <a:r>
              <a:rPr lang="en-US" sz="2000"/>
              <a:t>2. </a:t>
            </a:r>
            <a:r>
              <a:rPr lang="zh-CN" altLang="en-US" sz="2000"/>
              <a:t>没有在</a:t>
            </a:r>
            <a:r>
              <a:rPr lang="en-US" altLang="zh-CN" sz="2000"/>
              <a:t>CPT</a:t>
            </a:r>
            <a:r>
              <a:rPr lang="zh-CN" altLang="en-US" sz="2000"/>
              <a:t>链路中关于</a:t>
            </a:r>
            <a:r>
              <a:rPr lang="en-US" altLang="zh-CN" sz="2000"/>
              <a:t>self-edit</a:t>
            </a:r>
            <a:r>
              <a:rPr lang="zh-CN" altLang="en-US" sz="2000"/>
              <a:t>生成能力的遗忘分析（要做两个</a:t>
            </a:r>
            <a:r>
              <a:rPr lang="en-US" altLang="zh-CN" sz="2000"/>
              <a:t>baseline</a:t>
            </a:r>
            <a:r>
              <a:rPr lang="zh-CN" altLang="en-US" sz="2000"/>
              <a:t>，</a:t>
            </a:r>
            <a:r>
              <a:rPr lang="en-US" altLang="zh-CN" sz="2000"/>
              <a:t>single passage</a:t>
            </a:r>
            <a:r>
              <a:rPr lang="zh-CN" altLang="en-US" sz="2000"/>
              <a:t>与</a:t>
            </a:r>
            <a:r>
              <a:rPr lang="en-US" altLang="zh-CN" sz="2000"/>
              <a:t>200 passages</a:t>
            </a:r>
            <a:r>
              <a:rPr lang="zh-CN" altLang="en-US" sz="2000"/>
              <a:t>）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 SEAL Loop</a:t>
            </a:r>
            <a:r>
              <a:rPr lang="zh-CN" altLang="en-US" sz="2000"/>
              <a:t>只在</a:t>
            </a:r>
            <a:r>
              <a:rPr lang="en-US" altLang="zh-CN" sz="2000"/>
              <a:t>LLM</a:t>
            </a:r>
            <a:r>
              <a:rPr lang="zh-CN" altLang="en-US" sz="2000"/>
              <a:t>初始化阶段是完整的，在后续模型进行</a:t>
            </a:r>
            <a:r>
              <a:rPr lang="en-US" altLang="zh-CN" sz="2000"/>
              <a:t>CPT</a:t>
            </a:r>
            <a:r>
              <a:rPr lang="zh-CN" altLang="en-US" sz="2000"/>
              <a:t>进化的过程中没有</a:t>
            </a:r>
            <a:r>
              <a:rPr lang="zh-CN" altLang="en-US" sz="2000"/>
              <a:t>闭环</a:t>
            </a:r>
            <a:endParaRPr lang="zh-CN" altLang="en-US" sz="2000"/>
          </a:p>
        </p:txBody>
      </p:sp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完成在</a:t>
            </a:r>
            <a:r>
              <a:rPr lang="en-US" altLang="zh-CN" sz="2000"/>
              <a:t>CPT</a:t>
            </a:r>
            <a:r>
              <a:rPr lang="zh-CN" altLang="en-US" sz="2000"/>
              <a:t>过程中对于</a:t>
            </a:r>
            <a:r>
              <a:rPr lang="en-US" altLang="zh-CN" sz="2000"/>
              <a:t>self-edit</a:t>
            </a:r>
            <a:r>
              <a:rPr lang="zh-CN" altLang="en-US" sz="2000"/>
              <a:t>性能遗忘的下三角矩阵分析代码，正在</a:t>
            </a:r>
            <a:r>
              <a:rPr lang="zh-CN" altLang="en-US" sz="2000"/>
              <a:t>运行。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根据之前读过的论文与</a:t>
            </a:r>
            <a:r>
              <a:rPr lang="en-US" altLang="zh-CN" sz="2000"/>
              <a:t>SEAL</a:t>
            </a:r>
            <a:r>
              <a:rPr lang="zh-CN" altLang="en-US" sz="2000"/>
              <a:t>的</a:t>
            </a:r>
            <a:r>
              <a:rPr lang="zh-CN" altLang="en-US" sz="2000"/>
              <a:t>问题思考改进</a:t>
            </a:r>
            <a:r>
              <a:rPr lang="zh-CN" altLang="en-US" sz="2000"/>
              <a:t>方案。</a:t>
            </a:r>
            <a:endParaRPr lang="zh-CN" altLang="en-US" sz="2000"/>
          </a:p>
        </p:txBody>
      </p:sp>
      <p:pic>
        <p:nvPicPr>
          <p:cNvPr id="3" name="图片 2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改进</a:t>
            </a:r>
            <a:r>
              <a:rPr lang="zh-CN" altLang="en-US" sz="2400" b="1"/>
              <a:t>思路</a:t>
            </a:r>
            <a:endParaRPr lang="zh-CN" altLang="en-US" sz="2400" b="1"/>
          </a:p>
        </p:txBody>
      </p:sp>
      <p:pic>
        <p:nvPicPr>
          <p:cNvPr id="3" name="图片 2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5440" y="920750"/>
            <a:ext cx="1060767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由于</a:t>
            </a:r>
            <a:r>
              <a:rPr lang="en-US" altLang="zh-CN" sz="2000"/>
              <a:t>SEAL</a:t>
            </a:r>
            <a:r>
              <a:rPr lang="zh-CN" altLang="en-US" sz="2000"/>
              <a:t>的</a:t>
            </a:r>
            <a:r>
              <a:rPr lang="en-US" altLang="zh-CN" sz="2000"/>
              <a:t>CPT</a:t>
            </a:r>
            <a:r>
              <a:rPr lang="zh-CN" altLang="en-US" sz="2000"/>
              <a:t>使用的是原始的</a:t>
            </a:r>
            <a:r>
              <a:rPr lang="en-US" altLang="zh-CN" sz="2000"/>
              <a:t>lora</a:t>
            </a:r>
            <a:r>
              <a:rPr lang="zh-CN" altLang="en-US" sz="2000"/>
              <a:t>作为</a:t>
            </a:r>
            <a:r>
              <a:rPr lang="en-US" altLang="zh-CN" sz="2000"/>
              <a:t>baseline</a:t>
            </a:r>
            <a:r>
              <a:rPr lang="zh-CN" altLang="en-US" sz="2000"/>
              <a:t>，可以使用正交的</a:t>
            </a:r>
            <a:r>
              <a:rPr lang="en-US" altLang="zh-CN" sz="2000"/>
              <a:t>LoRA</a:t>
            </a:r>
            <a:r>
              <a:rPr lang="zh-CN" altLang="en-US" sz="2000"/>
              <a:t>技术来作为防遗忘</a:t>
            </a:r>
            <a:r>
              <a:rPr lang="zh-CN" altLang="en-US" sz="2000"/>
              <a:t>的基本</a:t>
            </a:r>
            <a:r>
              <a:rPr lang="zh-CN" altLang="en-US" sz="2000"/>
              <a:t>框架。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构建关于历史任务元知识特征与更新的相关信息，</a:t>
            </a:r>
            <a:r>
              <a:rPr lang="en-US" altLang="zh-CN" sz="2000"/>
              <a:t>LLM</a:t>
            </a:r>
            <a:r>
              <a:rPr lang="zh-CN" altLang="en-US" sz="2000"/>
              <a:t>的</a:t>
            </a:r>
            <a:r>
              <a:rPr lang="en-US" altLang="zh-CN" sz="2000"/>
              <a:t>self-edit</a:t>
            </a:r>
            <a:r>
              <a:rPr lang="zh-CN" altLang="en-US" sz="2000"/>
              <a:t>根据新任务与任务库中的历史任务信息给出在</a:t>
            </a:r>
            <a:r>
              <a:rPr lang="en-US" altLang="zh-CN" sz="2000"/>
              <a:t>lora</a:t>
            </a:r>
            <a:r>
              <a:rPr lang="zh-CN" altLang="en-US" sz="2000"/>
              <a:t>更新时的正交化限制权重，</a:t>
            </a:r>
            <a:r>
              <a:rPr lang="en-US" altLang="zh-CN" sz="2000"/>
              <a:t>LLM</a:t>
            </a:r>
            <a:r>
              <a:rPr lang="zh-CN" altLang="en-US" sz="2000"/>
              <a:t>可以根据权重（代表相似度）阈值进行任务</a:t>
            </a:r>
            <a:r>
              <a:rPr lang="en-US" altLang="zh-CN" sz="2000"/>
              <a:t>match</a:t>
            </a:r>
            <a:r>
              <a:rPr lang="zh-CN" altLang="en-US" sz="2000"/>
              <a:t>，低于</a:t>
            </a:r>
            <a:r>
              <a:rPr lang="zh-CN" altLang="en-US" sz="2000"/>
              <a:t>阈值直接在合并任务的</a:t>
            </a:r>
            <a:r>
              <a:rPr lang="en-US" altLang="zh-CN" sz="2000"/>
              <a:t>lora</a:t>
            </a:r>
            <a:r>
              <a:rPr lang="zh-CN" altLang="en-US" sz="2000"/>
              <a:t>上进行更新，防止</a:t>
            </a:r>
            <a:r>
              <a:rPr lang="en-US" altLang="zh-CN" sz="2000"/>
              <a:t>lora</a:t>
            </a:r>
            <a:r>
              <a:rPr lang="zh-CN" altLang="en-US" sz="2000"/>
              <a:t>数量过多，</a:t>
            </a:r>
            <a:r>
              <a:rPr lang="zh-CN" altLang="en-US" sz="2000"/>
              <a:t>信息冗余，可更新正交空间</a:t>
            </a:r>
            <a:r>
              <a:rPr lang="zh-CN" altLang="en-US" sz="2000"/>
              <a:t>变小。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在</a:t>
            </a:r>
            <a:r>
              <a:rPr lang="en-US" altLang="zh-CN" sz="2000"/>
              <a:t>CPT</a:t>
            </a:r>
            <a:r>
              <a:rPr lang="zh-CN" altLang="en-US" sz="2000"/>
              <a:t>链路中加入对于</a:t>
            </a:r>
            <a:r>
              <a:rPr lang="en-US" altLang="zh-CN" sz="2000"/>
              <a:t>self-edit</a:t>
            </a:r>
            <a:r>
              <a:rPr lang="zh-CN" altLang="en-US" sz="2000"/>
              <a:t>能力的一个监控以及每步更新的正则，如果监控能力下滑超过阈值，可以加入</a:t>
            </a:r>
            <a:r>
              <a:rPr lang="en-US" altLang="zh-CN" sz="2000"/>
              <a:t>outer RL loop</a:t>
            </a:r>
            <a:r>
              <a:rPr lang="zh-CN" altLang="en-US" sz="2000"/>
              <a:t>形成</a:t>
            </a:r>
            <a:r>
              <a:rPr lang="zh-CN" altLang="en-US" sz="2000"/>
              <a:t>一次闭环。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4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65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6.xml><?xml version="1.0" encoding="utf-8"?>
<p:tagLst xmlns:p="http://schemas.openxmlformats.org/presentationml/2006/main">
  <p:tag name="KSO_DOCER_RESOURCE_TRACE_INFO" val="{&quot;id&quot;:&quot;3476857&quot;,&quot;origin&quot;:0,&quot;type&quot;:&quot;icons&quot;,&quot;user&quot;:&quot;263212569&quot;}"/>
</p:tagLst>
</file>

<file path=ppt/tags/tag67.xml><?xml version="1.0" encoding="utf-8"?>
<p:tagLst xmlns:p="http://schemas.openxmlformats.org/presentationml/2006/main">
  <p:tag name="KSO_DOCER_RESOURCE_TRACE_INFO" val="{&quot;id&quot;:&quot;21563431&quot;,&quot;origin&quot;:0,&quot;type&quot;:&quot;icons&quot;,&quot;user&quot;:&quot;263212569&quot;}"/>
</p:tagLst>
</file>

<file path=ppt/tags/tag68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69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3356,50059455,3476857,21563431,3504987],&quot;65&quot;:[20205081]}"/>
</p:tagLst>
</file>

<file path=ppt/tags/tag71.xml><?xml version="1.0" encoding="utf-8"?>
<p:tagLst xmlns:p="http://schemas.openxmlformats.org/presentationml/2006/main">
  <p:tag name="KSO_DOCER_RESOURCE_TRACE_INFO" val="{&quot;id&quot;:&quot;21563431&quot;,&quot;origin&quot;:0,&quot;type&quot;:&quot;icons&quot;,&quot;user&quot;:&quot;263212569&quot;}"/>
</p:tagLst>
</file>

<file path=ppt/tags/tag72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73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74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WPS 演示</Application>
  <PresentationFormat>宽屏</PresentationFormat>
  <Paragraphs>49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228</cp:revision>
  <dcterms:created xsi:type="dcterms:W3CDTF">2019-06-19T02:08:00Z</dcterms:created>
  <dcterms:modified xsi:type="dcterms:W3CDTF">2026-05-26T03:05:10Z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CC4AC3AD79CA40C18E9B66A5156574DC_11</vt:lpwstr>
  </property>
</Properties>
</file>