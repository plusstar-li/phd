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4.svg" ContentType="image/svg+xml"/>
  <Override PartName="/ppt/media/image1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45" r:id="rId3"/>
    <p:sldId id="343" r:id="rId4"/>
    <p:sldId id="344" r:id="rId5"/>
    <p:sldId id="317" r:id="rId6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1"/>
        <p:guide pos="38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4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svg"/><Relationship Id="rId8" Type="http://schemas.openxmlformats.org/officeDocument/2006/relationships/image" Target="../media/image10.png"/><Relationship Id="rId7" Type="http://schemas.openxmlformats.org/officeDocument/2006/relationships/tags" Target="../tags/tag6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tags" Target="../tags/tag65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69.xml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tags" Target="../tags/tag68.xml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tags" Target="../tags/tag67.xml"/><Relationship Id="rId10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4660900"/>
            <a:ext cx="10600055" cy="216598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9709150" y="4566920"/>
            <a:ext cx="1287780" cy="22517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11291570" y="5459730"/>
            <a:ext cx="10160" cy="1338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Single Passage Setting</a:t>
            </a:r>
            <a:endParaRPr lang="en-US" altLang="zh-CN" sz="2400" b="1"/>
          </a:p>
        </p:txBody>
      </p:sp>
      <p:sp>
        <p:nvSpPr>
          <p:cNvPr id="14" name="文本框 13"/>
          <p:cNvSpPr txBox="1"/>
          <p:nvPr/>
        </p:nvSpPr>
        <p:spPr>
          <a:xfrm>
            <a:off x="345440" y="920750"/>
            <a:ext cx="538861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2000"/>
              <a:t>每个训练集只有单篇文章和</a:t>
            </a:r>
            <a:r>
              <a:rPr lang="en-US" altLang="zh-CN" sz="2000"/>
              <a:t>5</a:t>
            </a:r>
            <a:r>
              <a:rPr lang="zh-CN" altLang="en-US" sz="2000"/>
              <a:t>条</a:t>
            </a:r>
            <a:r>
              <a:rPr lang="en-US" altLang="zh-CN" sz="2000"/>
              <a:t>self-edit</a:t>
            </a:r>
            <a:r>
              <a:rPr lang="zh-CN" altLang="en-US" sz="2000"/>
              <a:t>用于训练，验证集是从数据集中采样出来的与训练集</a:t>
            </a:r>
            <a:r>
              <a:rPr lang="en-US" altLang="zh-CN" sz="2000"/>
              <a:t>disjoint</a:t>
            </a:r>
            <a:r>
              <a:rPr lang="zh-CN" altLang="en-US" sz="2000"/>
              <a:t>的</a:t>
            </a:r>
            <a:r>
              <a:rPr lang="en-US" altLang="zh-CN" sz="2000"/>
              <a:t>8</a:t>
            </a:r>
            <a:r>
              <a:rPr lang="zh-CN" altLang="en-US" sz="2000"/>
              <a:t>篇</a:t>
            </a:r>
            <a:r>
              <a:rPr lang="zh-CN" altLang="en-US" sz="2000"/>
              <a:t>文章</a:t>
            </a: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r>
              <a:rPr lang="zh-CN" altLang="en-US" sz="2000"/>
              <a:t>每次在训练集上</a:t>
            </a:r>
            <a:r>
              <a:rPr lang="en-US" altLang="zh-CN" sz="2000"/>
              <a:t>merge LoRA</a:t>
            </a:r>
            <a:r>
              <a:rPr lang="zh-CN" altLang="en-US" sz="2000"/>
              <a:t>之后，会使用</a:t>
            </a:r>
            <a:r>
              <a:rPr lang="en-US" altLang="zh-CN" sz="2000"/>
              <a:t>merge</a:t>
            </a:r>
            <a:r>
              <a:rPr lang="zh-CN" altLang="en-US" sz="2000"/>
              <a:t>后的模型在验证集任务上生成新的</a:t>
            </a:r>
            <a:r>
              <a:rPr lang="en-US" altLang="zh-CN" sz="2000"/>
              <a:t>self-edit</a:t>
            </a:r>
            <a:r>
              <a:rPr lang="zh-CN" altLang="en-US" sz="2000"/>
              <a:t>并且重新进行</a:t>
            </a:r>
            <a:r>
              <a:rPr lang="en-US" altLang="zh-CN" sz="2000"/>
              <a:t>inner SFT</a:t>
            </a:r>
            <a:endParaRPr lang="zh-CN" altLang="en-US" sz="20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735" y="223520"/>
            <a:ext cx="4977765" cy="42551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 flipH="1">
            <a:off x="8978900" y="4951730"/>
            <a:ext cx="10160" cy="1338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Multi Passage Setting</a:t>
            </a:r>
            <a:endParaRPr lang="en-US" altLang="zh-CN" sz="2400" b="1"/>
          </a:p>
        </p:txBody>
      </p:sp>
      <p:sp>
        <p:nvSpPr>
          <p:cNvPr id="14" name="文本框 13"/>
          <p:cNvSpPr txBox="1"/>
          <p:nvPr/>
        </p:nvSpPr>
        <p:spPr>
          <a:xfrm>
            <a:off x="345440" y="920750"/>
            <a:ext cx="479361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2000"/>
              <a:t>每个训练集</a:t>
            </a:r>
            <a:r>
              <a:rPr lang="en-US" altLang="zh-CN" sz="2000"/>
              <a:t>100</a:t>
            </a:r>
            <a:r>
              <a:rPr lang="zh-CN" altLang="en-US" sz="2000"/>
              <a:t>篇文章，每篇文章</a:t>
            </a:r>
            <a:r>
              <a:rPr lang="en-US" altLang="zh-CN" sz="2000"/>
              <a:t>5</a:t>
            </a:r>
            <a:r>
              <a:rPr lang="zh-CN" altLang="en-US" sz="2000"/>
              <a:t>条</a:t>
            </a:r>
            <a:r>
              <a:rPr lang="en-US" altLang="zh-CN" sz="2000"/>
              <a:t>self-edit</a:t>
            </a:r>
            <a:r>
              <a:rPr lang="zh-CN" altLang="en-US" sz="2000"/>
              <a:t>整合成一个数据集进行训练，验证集是从数据集中采样出来的与训练集</a:t>
            </a:r>
            <a:r>
              <a:rPr lang="en-US" altLang="zh-CN" sz="2000"/>
              <a:t>disjoint</a:t>
            </a:r>
            <a:r>
              <a:rPr lang="zh-CN" altLang="en-US" sz="2000"/>
              <a:t>的</a:t>
            </a:r>
            <a:r>
              <a:rPr lang="en-US" altLang="zh-CN" sz="2000"/>
              <a:t>8</a:t>
            </a:r>
            <a:r>
              <a:rPr lang="zh-CN" altLang="en-US" sz="2000"/>
              <a:t>×</a:t>
            </a:r>
            <a:r>
              <a:rPr lang="en-US" altLang="zh-CN" sz="2000"/>
              <a:t>100</a:t>
            </a:r>
            <a:r>
              <a:rPr lang="zh-CN" altLang="en-US" sz="2000"/>
              <a:t>篇文章。</a:t>
            </a:r>
            <a:endParaRPr lang="en-US" altLang="zh-CN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420" y="0"/>
            <a:ext cx="5814060" cy="45675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070" y="4699000"/>
            <a:ext cx="6858000" cy="18669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196580" y="4606290"/>
            <a:ext cx="618490" cy="20294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Self-Adapting LoRA</a:t>
            </a:r>
            <a:endParaRPr lang="en-US" altLang="zh-CN" sz="24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210" y="1116965"/>
            <a:ext cx="2531110" cy="8705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285" y="1987550"/>
            <a:ext cx="3014980" cy="773430"/>
          </a:xfrm>
          <a:prstGeom prst="rect">
            <a:avLst/>
          </a:prstGeom>
        </p:spPr>
      </p:pic>
      <p:pic>
        <p:nvPicPr>
          <p:cNvPr id="27" name="图片 26" descr="任务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2058670" y="3274060"/>
            <a:ext cx="914400" cy="91440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882140" y="4297680"/>
            <a:ext cx="1205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New task</a:t>
            </a:r>
            <a:endParaRPr lang="en-US" altLang="zh-CN"/>
          </a:p>
        </p:txBody>
      </p:sp>
      <p:pic>
        <p:nvPicPr>
          <p:cNvPr id="33" name="图片 32" descr="文档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40120" y="3274060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/>
              <p:cNvSpPr txBox="1"/>
              <p:nvPr/>
            </p:nvSpPr>
            <p:spPr>
              <a:xfrm>
                <a:off x="5918200" y="4297680"/>
                <a:ext cx="120523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/>
                  <a:t>Self-edit</a:t>
                </a:r>
                <a:endParaRPr lang="en-US" altLang="zh-CN"/>
              </a:p>
              <a:p>
                <a:pPr algn="ctr"/>
                <a:r>
                  <a:rPr lang="en-US" altLang="zh-CN"/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/>
                  <a:t>)</a:t>
                </a:r>
                <a:endParaRPr lang="en-US" altLang="zh-CN"/>
              </a:p>
            </p:txBody>
          </p:sp>
        </mc:Choice>
        <mc:Fallback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200" y="4297680"/>
                <a:ext cx="1205230" cy="64516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图片 34" descr="科学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822565" y="3274060"/>
            <a:ext cx="914400" cy="91440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7411720" y="4297680"/>
            <a:ext cx="1735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CPT LLM</a:t>
            </a:r>
            <a:endParaRPr lang="en-US" altLang="zh-CN"/>
          </a:p>
        </p:txBody>
      </p:sp>
      <p:sp>
        <p:nvSpPr>
          <p:cNvPr id="37" name="右箭头 36"/>
          <p:cNvSpPr/>
          <p:nvPr/>
        </p:nvSpPr>
        <p:spPr>
          <a:xfrm>
            <a:off x="3204845" y="3627120"/>
            <a:ext cx="612775" cy="228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科学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49395" y="3274060"/>
            <a:ext cx="914400" cy="914400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5195570" y="3627120"/>
            <a:ext cx="612775" cy="228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7082155" y="3627120"/>
            <a:ext cx="612775" cy="228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634740" y="4297680"/>
            <a:ext cx="1735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LLM</a:t>
            </a:r>
            <a:endParaRPr lang="en-US" altLang="zh-CN"/>
          </a:p>
        </p:txBody>
      </p:sp>
      <p:sp>
        <p:nvSpPr>
          <p:cNvPr id="10" name="圆柱形 9"/>
          <p:cNvSpPr/>
          <p:nvPr/>
        </p:nvSpPr>
        <p:spPr>
          <a:xfrm>
            <a:off x="2058670" y="5165725"/>
            <a:ext cx="862330" cy="984250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 rot="18780000">
            <a:off x="3333750" y="4749165"/>
            <a:ext cx="612775" cy="228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764665" y="6278880"/>
            <a:ext cx="1322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Task RAG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4246245" y="4848860"/>
            <a:ext cx="64058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2000"/>
              <a:t>任务的表示方式</a:t>
            </a: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r>
              <a:rPr lang="en-US" altLang="zh-CN" sz="2000">
                <a:latin typeface="Cambria Math" panose="02040503050406030204" charset="0"/>
                <a:cs typeface="Cambria Math" panose="02040503050406030204" charset="0"/>
              </a:rPr>
              <a:t>single passage: </a:t>
            </a:r>
            <a:r>
              <a:rPr lang="en-US" altLang="zh-CN" sz="2000">
                <a:latin typeface="Cambria Math" panose="02040503050406030204" charset="0"/>
                <a:cs typeface="Cambria Math" panose="02040503050406030204" charset="0"/>
                <a:sym typeface="+mn-ea"/>
              </a:rPr>
              <a:t>Random/</a:t>
            </a:r>
            <a:r>
              <a:rPr lang="zh-CN" altLang="en-US" sz="2000">
                <a:latin typeface="Cambria Math" panose="02040503050406030204" charset="0"/>
                <a:cs typeface="Cambria Math" panose="02040503050406030204" charset="0"/>
                <a:sym typeface="+mn-ea"/>
              </a:rPr>
              <a:t>最关键的</a:t>
            </a:r>
            <a:r>
              <a:rPr lang="en-US" altLang="zh-CN" sz="2000">
                <a:latin typeface="Cambria Math" panose="02040503050406030204" charset="0"/>
                <a:cs typeface="Cambria Math" panose="02040503050406030204" charset="0"/>
                <a:sym typeface="+mn-ea"/>
              </a:rPr>
              <a:t>implication</a:t>
            </a:r>
            <a:endParaRPr lang="en-US" altLang="zh-CN" sz="2000"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en-US" altLang="zh-CN" sz="2000">
                <a:latin typeface="Cambria Math" panose="02040503050406030204" charset="0"/>
                <a:cs typeface="Cambria Math" panose="02040503050406030204" charset="0"/>
              </a:rPr>
              <a:t>multi passage : </a:t>
            </a:r>
            <a:r>
              <a:rPr lang="zh-CN" altLang="en-US" sz="2000">
                <a:latin typeface="Cambria Math" panose="02040503050406030204" charset="0"/>
                <a:cs typeface="Cambria Math" panose="02040503050406030204" charset="0"/>
              </a:rPr>
              <a:t>模型提取“知识标签”或“主题描述”，维护进入</a:t>
            </a:r>
            <a:r>
              <a:rPr lang="en-US" altLang="zh-CN" sz="2000">
                <a:latin typeface="Cambria Math" panose="02040503050406030204" charset="0"/>
                <a:cs typeface="Cambria Math" panose="02040503050406030204" charset="0"/>
              </a:rPr>
              <a:t>RAG</a:t>
            </a:r>
            <a:r>
              <a:rPr lang="zh-CN" altLang="en-US" sz="2000">
                <a:latin typeface="Cambria Math" panose="02040503050406030204" charset="0"/>
                <a:cs typeface="Cambria Math" panose="02040503050406030204" charset="0"/>
              </a:rPr>
              <a:t>，然后做</a:t>
            </a:r>
            <a:r>
              <a:rPr lang="en-US" altLang="zh-CN" sz="2000">
                <a:latin typeface="Cambria Math" panose="02040503050406030204" charset="0"/>
                <a:cs typeface="Cambria Math" panose="02040503050406030204" charset="0"/>
              </a:rPr>
              <a:t>retri</a:t>
            </a:r>
            <a:r>
              <a:rPr lang="en-US" altLang="zh-CN" sz="2000">
                <a:latin typeface="Cambria Math" panose="02040503050406030204" charset="0"/>
                <a:cs typeface="Cambria Math" panose="02040503050406030204" charset="0"/>
              </a:rPr>
              <a:t>eve</a:t>
            </a:r>
            <a:r>
              <a:rPr lang="zh-CN" altLang="en-US" sz="2000">
                <a:latin typeface="Cambria Math" panose="02040503050406030204" charset="0"/>
                <a:cs typeface="Cambria Math" panose="02040503050406030204" charset="0"/>
              </a:rPr>
              <a:t>和</a:t>
            </a:r>
            <a:r>
              <a:rPr lang="en-US" altLang="zh-CN" sz="2000">
                <a:latin typeface="Cambria Math" panose="02040503050406030204" charset="0"/>
                <a:cs typeface="Cambria Math" panose="02040503050406030204" charset="0"/>
              </a:rPr>
              <a:t>match</a:t>
            </a:r>
            <a:endParaRPr lang="en-US" altLang="zh-CN" sz="2000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18375" y="1981835"/>
            <a:ext cx="2044065" cy="687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2000">
                <a:latin typeface="Cambria Math" panose="02040503050406030204" charset="0"/>
                <a:cs typeface="Cambria Math" panose="02040503050406030204" charset="0"/>
              </a:rPr>
              <a:t>小于阈值复用</a:t>
            </a:r>
            <a:r>
              <a:rPr lang="en-US" altLang="zh-CN" sz="2000">
                <a:latin typeface="Cambria Math" panose="02040503050406030204" charset="0"/>
                <a:cs typeface="Cambria Math" panose="02040503050406030204" charset="0"/>
              </a:rPr>
              <a:t>A</a:t>
            </a:r>
            <a:endParaRPr lang="en-US" altLang="zh-CN" sz="2000">
              <a:latin typeface="Cambria Math" panose="02040503050406030204" charset="0"/>
              <a:cs typeface="Cambria Math" panose="02040503050406030204" charset="0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Summary</a:t>
            </a:r>
            <a:endParaRPr lang="en-US" altLang="zh-CN" sz="2400" b="1"/>
          </a:p>
        </p:txBody>
      </p:sp>
      <p:sp>
        <p:nvSpPr>
          <p:cNvPr id="2" name="文本框 1"/>
          <p:cNvSpPr txBox="1"/>
          <p:nvPr/>
        </p:nvSpPr>
        <p:spPr>
          <a:xfrm>
            <a:off x="345440" y="920750"/>
            <a:ext cx="83496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1. </a:t>
            </a:r>
            <a:r>
              <a:rPr lang="zh-CN" altLang="en-US" sz="2000"/>
              <a:t>完成想法性能验证的</a:t>
            </a:r>
            <a:r>
              <a:rPr lang="zh-CN" altLang="en-US" sz="2000"/>
              <a:t>实验。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2. </a:t>
            </a:r>
            <a:r>
              <a:rPr lang="zh-CN" altLang="en-US" sz="2000"/>
              <a:t>完成</a:t>
            </a:r>
            <a:r>
              <a:rPr lang="en-US" altLang="zh-CN" sz="2000"/>
              <a:t>CPT</a:t>
            </a:r>
            <a:r>
              <a:rPr lang="zh-CN" altLang="en-US" sz="2000"/>
              <a:t>实验的方</a:t>
            </a:r>
            <a:r>
              <a:rPr lang="zh-CN" altLang="en-US" sz="2000"/>
              <a:t>案和代码。</a:t>
            </a:r>
            <a:endParaRPr lang="zh-CN" altLang="en-US" sz="2000"/>
          </a:p>
        </p:txBody>
      </p:sp>
      <p:pic>
        <p:nvPicPr>
          <p:cNvPr id="3" name="图片 2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DOCER_RESOURCE_TRACE_INFO" val="{&quot;id&quot;:&quot;21563431&quot;,&quot;origin&quot;:0,&quot;type&quot;:&quot;icons&quot;,&quot;user&quot;:&quot;263212569&quot;}"/>
</p:tagLst>
</file>

<file path=ppt/tags/tag66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263212569&quot;}"/>
</p:tagLst>
</file>

<file path=ppt/tags/tag67.xml><?xml version="1.0" encoding="utf-8"?>
<p:tagLst xmlns:p="http://schemas.openxmlformats.org/presentationml/2006/main">
  <p:tag name="KSO_DOCER_RESOURCE_TRACE_INFO" val="{&quot;id&quot;:&quot;50063356&quot;,&quot;origin&quot;:0,&quot;type&quot;:&quot;icons&quot;,&quot;user&quot;:&quot;263212569&quot;}"/>
</p:tagLst>
</file>

<file path=ppt/tags/tag68.xml><?xml version="1.0" encoding="utf-8"?>
<p:tagLst xmlns:p="http://schemas.openxmlformats.org/presentationml/2006/main">
  <p:tag name="KSO_DOCER_RESOURCE_TRACE_INFO" val="{&quot;id&quot;:&quot;50063356&quot;,&quot;origin&quot;:0,&quot;type&quot;:&quot;icons&quot;,&quot;user&quot;:&quot;263212569&quot;}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resource_record_key" val="{&quot;10&quot;:[50063356,50059455,3476857,21563431,3504987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</Words>
  <Application>WPS 演示</Application>
  <PresentationFormat>宽屏</PresentationFormat>
  <Paragraphs>33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Cambria Math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是她</cp:lastModifiedBy>
  <cp:revision>239</cp:revision>
  <dcterms:created xsi:type="dcterms:W3CDTF">2019-06-19T02:08:00Z</dcterms:created>
  <dcterms:modified xsi:type="dcterms:W3CDTF">2026-06-09T03:21:53Z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CC4AC3AD79CA40C18E9B66A5156574DC_11</vt:lpwstr>
  </property>
</Properties>
</file>