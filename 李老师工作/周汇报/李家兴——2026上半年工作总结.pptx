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media/image10.svg" ContentType="image/svg+xml"/>
  <Override PartName="/ppt/media/image12.svg" ContentType="image/svg+xml"/>
  <Override PartName="/ppt/media/image13.svg" ContentType="image/svg+xml"/>
  <Override PartName="/ppt/media/image14.svg" ContentType="image/svg+xml"/>
  <Override PartName="/ppt/media/image15.svg" ContentType="image/svg+xml"/>
  <Override PartName="/ppt/media/image16.svg" ContentType="image/svg+xml"/>
  <Override PartName="/ppt/media/image2.svg" ContentType="image/svg+xml"/>
  <Override PartName="/ppt/media/image4.svg" ContentType="image/svg+xml"/>
  <Override PartName="/ppt/media/image45.svg" ContentType="image/svg+xml"/>
  <Override PartName="/ppt/media/image46.svg" ContentType="image/svg+xml"/>
  <Override PartName="/ppt/media/image47.svg" ContentType="image/svg+xml"/>
  <Override PartName="/ppt/media/image48.svg" ContentType="image/svg+xml"/>
  <Override PartName="/ppt/media/image49.svg" ContentType="image/svg+xml"/>
  <Override PartName="/ppt/media/image51.svg" ContentType="image/svg+xml"/>
  <Override PartName="/ppt/media/image53.svg" ContentType="image/svg+xml"/>
  <Override PartName="/ppt/media/image55.svg" ContentType="image/svg+xml"/>
  <Override PartName="/ppt/media/image57.svg" ContentType="image/svg+xml"/>
  <Override PartName="/ppt/media/image59.svg" ContentType="image/svg+xml"/>
  <Override PartName="/ppt/media/image6.svg" ContentType="image/svg+xml"/>
  <Override PartName="/ppt/media/image61.svg" ContentType="image/svg+xml"/>
  <Override PartName="/ppt/media/image63.svg" ContentType="image/svg+xml"/>
  <Override PartName="/ppt/media/image64.svg" ContentType="image/svg+xml"/>
  <Override PartName="/ppt/media/image65.svg" ContentType="image/svg+xml"/>
  <Override PartName="/ppt/media/image67.svg" ContentType="image/svg+xml"/>
  <Override PartName="/ppt/media/image69.svg" ContentType="image/svg+xml"/>
  <Override PartName="/ppt/media/image70.svg" ContentType="image/svg+xml"/>
  <Override PartName="/ppt/media/image71.svg" ContentType="image/svg+xml"/>
  <Override PartName="/ppt/media/image73.svg" ContentType="image/svg+xml"/>
  <Override PartName="/ppt/media/image75.svg" ContentType="image/svg+xml"/>
  <Override PartName="/ppt/media/image76.svg" ContentType="image/svg+xml"/>
  <Override PartName="/ppt/media/image77.svg" ContentType="image/svg+xml"/>
  <Override PartName="/ppt/media/image78.svg" ContentType="image/svg+xml"/>
  <Override PartName="/ppt/media/image79.svg" ContentType="image/svg+xml"/>
  <Override PartName="/ppt/media/image8.svg" ContentType="image/svg+xml"/>
  <Override PartName="/ppt/media/image81.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9"/>
  </p:notesMasterIdLst>
  <p:sldIdLst>
    <p:sldId id="307" r:id="rId3"/>
    <p:sldId id="330" r:id="rId4"/>
    <p:sldId id="326" r:id="rId5"/>
    <p:sldId id="325" r:id="rId6"/>
    <p:sldId id="292" r:id="rId7"/>
    <p:sldId id="300" r:id="rId8"/>
    <p:sldId id="301" r:id="rId9"/>
    <p:sldId id="308" r:id="rId10"/>
    <p:sldId id="309" r:id="rId11"/>
    <p:sldId id="312" r:id="rId12"/>
    <p:sldId id="313" r:id="rId13"/>
    <p:sldId id="314" r:id="rId14"/>
    <p:sldId id="316" r:id="rId15"/>
    <p:sldId id="319" r:id="rId16"/>
    <p:sldId id="320" r:id="rId17"/>
    <p:sldId id="321" r:id="rId18"/>
    <p:sldId id="332" r:id="rId19"/>
    <p:sldId id="337" r:id="rId20"/>
    <p:sldId id="333" r:id="rId21"/>
    <p:sldId id="336" r:id="rId22"/>
    <p:sldId id="338" r:id="rId23"/>
    <p:sldId id="339" r:id="rId24"/>
    <p:sldId id="334" r:id="rId25"/>
    <p:sldId id="335" r:id="rId26"/>
    <p:sldId id="329" r:id="rId27"/>
    <p:sldId id="290" r:id="rId28"/>
  </p:sldIdLst>
  <p:sldSz cx="18288000" cy="10287000"/>
  <p:notesSz cx="6858000" cy="9144000"/>
  <p:embeddedFontLst>
    <p:embeddedFont>
      <p:font typeface="微软雅黑" panose="020B0503020204020204" charset="-122"/>
      <p:regular r:id="rId33"/>
      <p:bold r:id="rId34"/>
    </p:embeddedFont>
    <p:embeddedFont>
      <p:font typeface="Calibri" panose="020F0502020204030204" charset="0"/>
      <p:regular r:id="rId35"/>
      <p:bold r:id="rId36"/>
      <p:italic r:id="rId37"/>
      <p:boldItalic r:id="rId38"/>
    </p:embeddedFont>
  </p:embeddedFontLst>
  <p:custDataLst>
    <p:tags r:id="rId39"/>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059" userDrawn="1">
          <p15:clr>
            <a:srgbClr val="A4A3A4"/>
          </p15:clr>
        </p15:guide>
        <p15:guide id="2" pos="298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A5DCDC"/>
    <a:srgbClr val="356A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showGuides="1">
      <p:cViewPr varScale="1">
        <p:scale>
          <a:sx n="103" d="100"/>
          <a:sy n="103" d="100"/>
        </p:scale>
        <p:origin x="534" y="126"/>
      </p:cViewPr>
      <p:guideLst>
        <p:guide orient="horz" pos="2059"/>
        <p:guide pos="2987"/>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9" Type="http://schemas.openxmlformats.org/officeDocument/2006/relationships/tags" Target="tags/tag74.xml"/><Relationship Id="rId38" Type="http://schemas.openxmlformats.org/officeDocument/2006/relationships/font" Target="fonts/font6.fntdata"/><Relationship Id="rId37" Type="http://schemas.openxmlformats.org/officeDocument/2006/relationships/font" Target="fonts/font5.fntdata"/><Relationship Id="rId36" Type="http://schemas.openxmlformats.org/officeDocument/2006/relationships/font" Target="fonts/font4.fntdata"/><Relationship Id="rId35" Type="http://schemas.openxmlformats.org/officeDocument/2006/relationships/font" Target="fonts/font3.fntdata"/><Relationship Id="rId34" Type="http://schemas.openxmlformats.org/officeDocument/2006/relationships/font" Target="fonts/font2.fntdata"/><Relationship Id="rId33" Type="http://schemas.openxmlformats.org/officeDocument/2006/relationships/font" Target="fonts/font1.fntdata"/><Relationship Id="rId32" Type="http://schemas.openxmlformats.org/officeDocument/2006/relationships/tableStyles" Target="tableStyles.xml"/><Relationship Id="rId31" Type="http://schemas.openxmlformats.org/officeDocument/2006/relationships/viewProps" Target="viewProps.xml"/><Relationship Id="rId30" Type="http://schemas.openxmlformats.org/officeDocument/2006/relationships/presProps" Target="presProps.xml"/><Relationship Id="rId3" Type="http://schemas.openxmlformats.org/officeDocument/2006/relationships/slide" Target="slides/slide1.xml"/><Relationship Id="rId29" Type="http://schemas.openxmlformats.org/officeDocument/2006/relationships/notesMaster" Target="notesMasters/notesMaster1.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image" Target="../media/image8.svg"/><Relationship Id="rId8" Type="http://schemas.openxmlformats.org/officeDocument/2006/relationships/image" Target="../media/image7.png"/><Relationship Id="rId7" Type="http://schemas.openxmlformats.org/officeDocument/2006/relationships/image" Target="../media/image6.svg"/><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 Id="rId3" Type="http://schemas.openxmlformats.org/officeDocument/2006/relationships/image" Target="../media/image2.svg"/><Relationship Id="rId2" Type="http://schemas.openxmlformats.org/officeDocument/2006/relationships/image" Target="../media/image1.png"/><Relationship Id="rId14" Type="http://schemas.openxmlformats.org/officeDocument/2006/relationships/slideLayout" Target="../slideLayouts/slideLayout7.xml"/><Relationship Id="rId13" Type="http://schemas.openxmlformats.org/officeDocument/2006/relationships/image" Target="../media/image11.png"/><Relationship Id="rId12" Type="http://schemas.openxmlformats.org/officeDocument/2006/relationships/tags" Target="../tags/tag2.xml"/><Relationship Id="rId11" Type="http://schemas.openxmlformats.org/officeDocument/2006/relationships/image" Target="../media/image10.svg"/><Relationship Id="rId10" Type="http://schemas.openxmlformats.org/officeDocument/2006/relationships/image" Target="../media/image9.png"/><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9" Type="http://schemas.openxmlformats.org/officeDocument/2006/relationships/image" Target="../media/image15.svg"/><Relationship Id="rId8" Type="http://schemas.openxmlformats.org/officeDocument/2006/relationships/image" Target="../media/image7.png"/><Relationship Id="rId7" Type="http://schemas.openxmlformats.org/officeDocument/2006/relationships/image" Target="../media/image14.svg"/><Relationship Id="rId6" Type="http://schemas.openxmlformats.org/officeDocument/2006/relationships/image" Target="../media/image5.png"/><Relationship Id="rId5" Type="http://schemas.openxmlformats.org/officeDocument/2006/relationships/image" Target="../media/image13.svg"/><Relationship Id="rId4" Type="http://schemas.openxmlformats.org/officeDocument/2006/relationships/image" Target="../media/image3.png"/><Relationship Id="rId3" Type="http://schemas.openxmlformats.org/officeDocument/2006/relationships/image" Target="../media/image12.svg"/><Relationship Id="rId2" Type="http://schemas.openxmlformats.org/officeDocument/2006/relationships/image" Target="../media/image1.png"/><Relationship Id="rId14" Type="http://schemas.openxmlformats.org/officeDocument/2006/relationships/slideLayout" Target="../slideLayouts/slideLayout7.xml"/><Relationship Id="rId13" Type="http://schemas.openxmlformats.org/officeDocument/2006/relationships/image" Target="../media/image11.png"/><Relationship Id="rId12" Type="http://schemas.openxmlformats.org/officeDocument/2006/relationships/tags" Target="../tags/tag4.xml"/><Relationship Id="rId11" Type="http://schemas.openxmlformats.org/officeDocument/2006/relationships/image" Target="../media/image16.svg"/><Relationship Id="rId10" Type="http://schemas.openxmlformats.org/officeDocument/2006/relationships/image" Target="../media/image9.png"/><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tags" Target="../tags/tag7.xml"/><Relationship Id="rId4" Type="http://schemas.openxmlformats.org/officeDocument/2006/relationships/image" Target="../media/image17.png"/><Relationship Id="rId3" Type="http://schemas.openxmlformats.org/officeDocument/2006/relationships/tags" Target="../tags/tag6.xml"/><Relationship Id="rId2" Type="http://schemas.openxmlformats.org/officeDocument/2006/relationships/image" Target="../media/image11.png"/><Relationship Id="rId1" Type="http://schemas.openxmlformats.org/officeDocument/2006/relationships/tags" Target="../tags/tag5.xml"/></Relationships>
</file>

<file path=ppt/slides/_rels/slide4.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tags" Target="../tags/tag9.xml"/><Relationship Id="rId4" Type="http://schemas.openxmlformats.org/officeDocument/2006/relationships/image" Target="../media/image11.png"/><Relationship Id="rId3" Type="http://schemas.openxmlformats.org/officeDocument/2006/relationships/tags" Target="../tags/tag8.xml"/><Relationship Id="rId2" Type="http://schemas.openxmlformats.org/officeDocument/2006/relationships/image" Target="../media/image19.png"/><Relationship Id="rId1" Type="http://schemas.openxmlformats.org/officeDocument/2006/relationships/image" Target="../media/image18.png"/></Relationships>
</file>

<file path=ppt/slides/_rels/slide5.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tags" Target="../tags/tag11.xml"/><Relationship Id="rId5" Type="http://schemas.openxmlformats.org/officeDocument/2006/relationships/image" Target="../media/image11.png"/><Relationship Id="rId4" Type="http://schemas.openxmlformats.org/officeDocument/2006/relationships/tags" Target="../tags/tag10.xml"/><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image" Target="../media/image20.png"/></Relationships>
</file>

<file path=ppt/slides/_rels/slide6.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tags" Target="../tags/tag13.xml"/><Relationship Id="rId4" Type="http://schemas.openxmlformats.org/officeDocument/2006/relationships/image" Target="../media/image11.png"/><Relationship Id="rId3" Type="http://schemas.openxmlformats.org/officeDocument/2006/relationships/tags" Target="../tags/tag12.xml"/><Relationship Id="rId2" Type="http://schemas.openxmlformats.org/officeDocument/2006/relationships/image" Target="../media/image24.png"/><Relationship Id="rId1" Type="http://schemas.openxmlformats.org/officeDocument/2006/relationships/image" Target="../media/image23.png"/></Relationships>
</file>

<file path=ppt/slides/_rels/slide7.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tags" Target="../tags/tag15.xml"/><Relationship Id="rId3" Type="http://schemas.openxmlformats.org/officeDocument/2006/relationships/image" Target="../media/image11.png"/><Relationship Id="rId2" Type="http://schemas.openxmlformats.org/officeDocument/2006/relationships/tags" Target="../tags/tag14.xml"/><Relationship Id="rId1" Type="http://schemas.openxmlformats.org/officeDocument/2006/relationships/image" Target="../media/image25.png"/></Relationships>
</file>

<file path=ppt/slides/_rels/slide8.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tags" Target="../tags/tag17.xml"/><Relationship Id="rId3" Type="http://schemas.openxmlformats.org/officeDocument/2006/relationships/image" Target="../media/image11.png"/><Relationship Id="rId2" Type="http://schemas.openxmlformats.org/officeDocument/2006/relationships/tags" Target="../tags/tag16.xml"/><Relationship Id="rId1" Type="http://schemas.openxmlformats.org/officeDocument/2006/relationships/image" Target="../media/image26.png"/></Relationships>
</file>

<file path=ppt/slides/_rels/slide9.xml.rels><?xml version="1.0" encoding="UTF-8" standalone="yes"?>
<Relationships xmlns="http://schemas.openxmlformats.org/package/2006/relationships"><Relationship Id="rId8" Type="http://schemas.openxmlformats.org/officeDocument/2006/relationships/slideLayout" Target="../slideLayouts/slideLayout1.xml"/><Relationship Id="rId7" Type="http://schemas.openxmlformats.org/officeDocument/2006/relationships/tags" Target="../tags/tag19.xml"/><Relationship Id="rId6" Type="http://schemas.openxmlformats.org/officeDocument/2006/relationships/image" Target="../media/image11.png"/><Relationship Id="rId5" Type="http://schemas.openxmlformats.org/officeDocument/2006/relationships/tags" Target="../tags/tag18.xml"/><Relationship Id="rId4" Type="http://schemas.openxmlformats.org/officeDocument/2006/relationships/image" Target="../media/image30.png"/><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image" Target="../media/image27.png"/></Relationships>
</file>

<file path=ppt/slides/_rels/slide10.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tags" Target="../tags/tag21.xml"/><Relationship Id="rId3" Type="http://schemas.openxmlformats.org/officeDocument/2006/relationships/image" Target="../media/image11.png"/><Relationship Id="rId2" Type="http://schemas.openxmlformats.org/officeDocument/2006/relationships/tags" Target="../tags/tag20.xml"/><Relationship Id="rId1" Type="http://schemas.openxmlformats.org/officeDocument/2006/relationships/image" Target="../media/image31.png"/></Relationships>
</file>

<file path=ppt/slides/_rels/slide11.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tags" Target="../tags/tag23.xml"/><Relationship Id="rId4" Type="http://schemas.openxmlformats.org/officeDocument/2006/relationships/image" Target="../media/image11.png"/><Relationship Id="rId3" Type="http://schemas.openxmlformats.org/officeDocument/2006/relationships/tags" Target="../tags/tag22.xml"/><Relationship Id="rId2" Type="http://schemas.openxmlformats.org/officeDocument/2006/relationships/image" Target="../media/image33.png"/><Relationship Id="rId1" Type="http://schemas.openxmlformats.org/officeDocument/2006/relationships/image" Target="../media/image32.png"/></Relationships>
</file>

<file path=ppt/slides/_rels/slide12.xml.rels><?xml version="1.0" encoding="UTF-8" standalone="yes"?>
<Relationships xmlns="http://schemas.openxmlformats.org/package/2006/relationships"><Relationship Id="rId9" Type="http://schemas.openxmlformats.org/officeDocument/2006/relationships/tags" Target="../tags/tag25.xml"/><Relationship Id="rId8" Type="http://schemas.openxmlformats.org/officeDocument/2006/relationships/image" Target="../media/image11.png"/><Relationship Id="rId7" Type="http://schemas.openxmlformats.org/officeDocument/2006/relationships/tags" Target="../tags/tag24.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 Id="rId3" Type="http://schemas.openxmlformats.org/officeDocument/2006/relationships/image" Target="../media/image36.png"/><Relationship Id="rId2" Type="http://schemas.openxmlformats.org/officeDocument/2006/relationships/image" Target="../media/image35.png"/><Relationship Id="rId10" Type="http://schemas.openxmlformats.org/officeDocument/2006/relationships/slideLayout" Target="../slideLayouts/slideLayout1.xml"/><Relationship Id="rId1" Type="http://schemas.openxmlformats.org/officeDocument/2006/relationships/image" Target="../media/image34.png"/></Relationships>
</file>

<file path=ppt/slides/_rels/slide13.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tags" Target="../tags/tag27.xml"/><Relationship Id="rId3" Type="http://schemas.openxmlformats.org/officeDocument/2006/relationships/image" Target="../media/image11.png"/><Relationship Id="rId2" Type="http://schemas.openxmlformats.org/officeDocument/2006/relationships/tags" Target="../tags/tag26.xml"/><Relationship Id="rId1" Type="http://schemas.openxmlformats.org/officeDocument/2006/relationships/image" Target="../media/image40.png"/></Relationships>
</file>

<file path=ppt/slides/_rels/slide14.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tags" Target="../tags/tag29.xml"/><Relationship Id="rId3" Type="http://schemas.openxmlformats.org/officeDocument/2006/relationships/image" Target="../media/image11.png"/><Relationship Id="rId2" Type="http://schemas.openxmlformats.org/officeDocument/2006/relationships/tags" Target="../tags/tag28.xml"/><Relationship Id="rId1" Type="http://schemas.openxmlformats.org/officeDocument/2006/relationships/image" Target="../media/image31.png"/></Relationships>
</file>

<file path=ppt/slides/_rels/slide15.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tags" Target="../tags/tag31.xml"/><Relationship Id="rId5" Type="http://schemas.openxmlformats.org/officeDocument/2006/relationships/image" Target="../media/image11.png"/><Relationship Id="rId4" Type="http://schemas.openxmlformats.org/officeDocument/2006/relationships/tags" Target="../tags/tag30.xml"/><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image" Target="../media/image41.png"/></Relationships>
</file>

<file path=ppt/slides/_rels/slide16.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tags" Target="../tags/tag33.xml"/><Relationship Id="rId3" Type="http://schemas.openxmlformats.org/officeDocument/2006/relationships/image" Target="../media/image11.png"/><Relationship Id="rId2" Type="http://schemas.openxmlformats.org/officeDocument/2006/relationships/tags" Target="../tags/tag32.xml"/><Relationship Id="rId1" Type="http://schemas.openxmlformats.org/officeDocument/2006/relationships/image" Target="../media/image44.png"/></Relationships>
</file>

<file path=ppt/slides/_rels/slide17.xml.rels><?xml version="1.0" encoding="UTF-8" standalone="yes"?>
<Relationships xmlns="http://schemas.openxmlformats.org/package/2006/relationships"><Relationship Id="rId9" Type="http://schemas.openxmlformats.org/officeDocument/2006/relationships/image" Target="../media/image48.svg"/><Relationship Id="rId8" Type="http://schemas.openxmlformats.org/officeDocument/2006/relationships/image" Target="../media/image7.png"/><Relationship Id="rId7" Type="http://schemas.openxmlformats.org/officeDocument/2006/relationships/image" Target="../media/image47.svg"/><Relationship Id="rId6" Type="http://schemas.openxmlformats.org/officeDocument/2006/relationships/image" Target="../media/image5.png"/><Relationship Id="rId5" Type="http://schemas.openxmlformats.org/officeDocument/2006/relationships/image" Target="../media/image46.svg"/><Relationship Id="rId4" Type="http://schemas.openxmlformats.org/officeDocument/2006/relationships/image" Target="../media/image3.png"/><Relationship Id="rId3" Type="http://schemas.openxmlformats.org/officeDocument/2006/relationships/image" Target="../media/image45.svg"/><Relationship Id="rId2" Type="http://schemas.openxmlformats.org/officeDocument/2006/relationships/image" Target="../media/image1.png"/><Relationship Id="rId14" Type="http://schemas.openxmlformats.org/officeDocument/2006/relationships/slideLayout" Target="../slideLayouts/slideLayout7.xml"/><Relationship Id="rId13" Type="http://schemas.openxmlformats.org/officeDocument/2006/relationships/image" Target="../media/image11.png"/><Relationship Id="rId12" Type="http://schemas.openxmlformats.org/officeDocument/2006/relationships/tags" Target="../tags/tag35.xml"/><Relationship Id="rId11" Type="http://schemas.openxmlformats.org/officeDocument/2006/relationships/image" Target="../media/image49.svg"/><Relationship Id="rId10" Type="http://schemas.openxmlformats.org/officeDocument/2006/relationships/image" Target="../media/image9.png"/><Relationship Id="rId1" Type="http://schemas.openxmlformats.org/officeDocument/2006/relationships/tags" Target="../tags/tag34.xml"/></Relationships>
</file>

<file path=ppt/slides/_rels/slide18.xml.rels><?xml version="1.0" encoding="UTF-8" standalone="yes"?>
<Relationships xmlns="http://schemas.openxmlformats.org/package/2006/relationships"><Relationship Id="rId9" Type="http://schemas.openxmlformats.org/officeDocument/2006/relationships/image" Target="../media/image53.svg"/><Relationship Id="rId8" Type="http://schemas.openxmlformats.org/officeDocument/2006/relationships/image" Target="../media/image52.png"/><Relationship Id="rId7" Type="http://schemas.openxmlformats.org/officeDocument/2006/relationships/tags" Target="../tags/tag39.xml"/><Relationship Id="rId6" Type="http://schemas.openxmlformats.org/officeDocument/2006/relationships/image" Target="../media/image51.svg"/><Relationship Id="rId5" Type="http://schemas.openxmlformats.org/officeDocument/2006/relationships/image" Target="../media/image50.png"/><Relationship Id="rId4" Type="http://schemas.openxmlformats.org/officeDocument/2006/relationships/tags" Target="../tags/tag38.xml"/><Relationship Id="rId3" Type="http://schemas.openxmlformats.org/officeDocument/2006/relationships/tags" Target="../tags/tag37.xml"/><Relationship Id="rId26" Type="http://schemas.openxmlformats.org/officeDocument/2006/relationships/slideLayout" Target="../slideLayouts/slideLayout1.xml"/><Relationship Id="rId25" Type="http://schemas.openxmlformats.org/officeDocument/2006/relationships/tags" Target="../tags/tag45.xml"/><Relationship Id="rId24" Type="http://schemas.openxmlformats.org/officeDocument/2006/relationships/image" Target="../media/image63.svg"/><Relationship Id="rId23" Type="http://schemas.openxmlformats.org/officeDocument/2006/relationships/image" Target="../media/image62.png"/><Relationship Id="rId22" Type="http://schemas.openxmlformats.org/officeDocument/2006/relationships/tags" Target="../tags/tag44.xml"/><Relationship Id="rId21" Type="http://schemas.openxmlformats.org/officeDocument/2006/relationships/image" Target="../media/image61.svg"/><Relationship Id="rId20" Type="http://schemas.openxmlformats.org/officeDocument/2006/relationships/image" Target="../media/image60.png"/><Relationship Id="rId2" Type="http://schemas.openxmlformats.org/officeDocument/2006/relationships/image" Target="../media/image11.png"/><Relationship Id="rId19" Type="http://schemas.openxmlformats.org/officeDocument/2006/relationships/tags" Target="../tags/tag43.xml"/><Relationship Id="rId18" Type="http://schemas.openxmlformats.org/officeDocument/2006/relationships/image" Target="../media/image59.svg"/><Relationship Id="rId17" Type="http://schemas.openxmlformats.org/officeDocument/2006/relationships/image" Target="../media/image58.png"/><Relationship Id="rId16" Type="http://schemas.openxmlformats.org/officeDocument/2006/relationships/tags" Target="../tags/tag42.xml"/><Relationship Id="rId15" Type="http://schemas.openxmlformats.org/officeDocument/2006/relationships/image" Target="../media/image57.svg"/><Relationship Id="rId14" Type="http://schemas.openxmlformats.org/officeDocument/2006/relationships/image" Target="../media/image56.png"/><Relationship Id="rId13" Type="http://schemas.openxmlformats.org/officeDocument/2006/relationships/tags" Target="../tags/tag41.xml"/><Relationship Id="rId12" Type="http://schemas.openxmlformats.org/officeDocument/2006/relationships/image" Target="../media/image55.svg"/><Relationship Id="rId11" Type="http://schemas.openxmlformats.org/officeDocument/2006/relationships/image" Target="../media/image54.png"/><Relationship Id="rId10" Type="http://schemas.openxmlformats.org/officeDocument/2006/relationships/tags" Target="../tags/tag40.xml"/><Relationship Id="rId1" Type="http://schemas.openxmlformats.org/officeDocument/2006/relationships/tags" Target="../tags/tag36.xml"/></Relationships>
</file>

<file path=ppt/slides/_rels/slide19.xml.rels><?xml version="1.0" encoding="UTF-8" standalone="yes"?>
<Relationships xmlns="http://schemas.openxmlformats.org/package/2006/relationships"><Relationship Id="rId9" Type="http://schemas.openxmlformats.org/officeDocument/2006/relationships/image" Target="../media/image65.svg"/><Relationship Id="rId8" Type="http://schemas.openxmlformats.org/officeDocument/2006/relationships/image" Target="../media/image52.png"/><Relationship Id="rId7" Type="http://schemas.openxmlformats.org/officeDocument/2006/relationships/tags" Target="../tags/tag49.xml"/><Relationship Id="rId6" Type="http://schemas.openxmlformats.org/officeDocument/2006/relationships/image" Target="../media/image64.svg"/><Relationship Id="rId5" Type="http://schemas.openxmlformats.org/officeDocument/2006/relationships/image" Target="../media/image50.png"/><Relationship Id="rId4" Type="http://schemas.openxmlformats.org/officeDocument/2006/relationships/tags" Target="../tags/tag48.xml"/><Relationship Id="rId3" Type="http://schemas.openxmlformats.org/officeDocument/2006/relationships/tags" Target="../tags/tag47.xml"/><Relationship Id="rId26" Type="http://schemas.openxmlformats.org/officeDocument/2006/relationships/slideLayout" Target="../slideLayouts/slideLayout1.xml"/><Relationship Id="rId25" Type="http://schemas.openxmlformats.org/officeDocument/2006/relationships/tags" Target="../tags/tag55.xml"/><Relationship Id="rId24" Type="http://schemas.openxmlformats.org/officeDocument/2006/relationships/image" Target="../media/image73.svg"/><Relationship Id="rId23" Type="http://schemas.openxmlformats.org/officeDocument/2006/relationships/image" Target="../media/image72.png"/><Relationship Id="rId22" Type="http://schemas.openxmlformats.org/officeDocument/2006/relationships/tags" Target="../tags/tag54.xml"/><Relationship Id="rId21" Type="http://schemas.openxmlformats.org/officeDocument/2006/relationships/image" Target="../media/image71.svg"/><Relationship Id="rId20" Type="http://schemas.openxmlformats.org/officeDocument/2006/relationships/image" Target="../media/image60.png"/><Relationship Id="rId2" Type="http://schemas.openxmlformats.org/officeDocument/2006/relationships/image" Target="../media/image11.png"/><Relationship Id="rId19" Type="http://schemas.openxmlformats.org/officeDocument/2006/relationships/tags" Target="../tags/tag53.xml"/><Relationship Id="rId18" Type="http://schemas.openxmlformats.org/officeDocument/2006/relationships/image" Target="../media/image70.svg"/><Relationship Id="rId17" Type="http://schemas.openxmlformats.org/officeDocument/2006/relationships/image" Target="../media/image58.png"/><Relationship Id="rId16" Type="http://schemas.openxmlformats.org/officeDocument/2006/relationships/tags" Target="../tags/tag52.xml"/><Relationship Id="rId15" Type="http://schemas.openxmlformats.org/officeDocument/2006/relationships/image" Target="../media/image69.svg"/><Relationship Id="rId14" Type="http://schemas.openxmlformats.org/officeDocument/2006/relationships/image" Target="../media/image68.png"/><Relationship Id="rId13" Type="http://schemas.openxmlformats.org/officeDocument/2006/relationships/tags" Target="../tags/tag51.xml"/><Relationship Id="rId12" Type="http://schemas.openxmlformats.org/officeDocument/2006/relationships/image" Target="../media/image67.svg"/><Relationship Id="rId11" Type="http://schemas.openxmlformats.org/officeDocument/2006/relationships/image" Target="../media/image66.png"/><Relationship Id="rId10" Type="http://schemas.openxmlformats.org/officeDocument/2006/relationships/tags" Target="../tags/tag50.xml"/><Relationship Id="rId1" Type="http://schemas.openxmlformats.org/officeDocument/2006/relationships/tags" Target="../tags/tag46.xml"/></Relationships>
</file>

<file path=ppt/slides/_rels/slide20.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tags" Target="../tags/tag59.xml"/><Relationship Id="rId5" Type="http://schemas.openxmlformats.org/officeDocument/2006/relationships/tags" Target="../tags/tag58.xml"/><Relationship Id="rId4" Type="http://schemas.openxmlformats.org/officeDocument/2006/relationships/image" Target="../media/image74.png"/><Relationship Id="rId3" Type="http://schemas.openxmlformats.org/officeDocument/2006/relationships/tags" Target="../tags/tag57.xml"/><Relationship Id="rId2" Type="http://schemas.openxmlformats.org/officeDocument/2006/relationships/image" Target="../media/image11.png"/><Relationship Id="rId1" Type="http://schemas.openxmlformats.org/officeDocument/2006/relationships/tags" Target="../tags/tag56.xml"/></Relationships>
</file>

<file path=ppt/slides/_rels/slide21.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61.xml"/><Relationship Id="rId2" Type="http://schemas.openxmlformats.org/officeDocument/2006/relationships/image" Target="../media/image11.png"/><Relationship Id="rId1" Type="http://schemas.openxmlformats.org/officeDocument/2006/relationships/tags" Target="../tags/tag60.xml"/></Relationships>
</file>

<file path=ppt/slides/_rels/slide22.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63.xml"/><Relationship Id="rId2" Type="http://schemas.openxmlformats.org/officeDocument/2006/relationships/image" Target="../media/image11.png"/><Relationship Id="rId1" Type="http://schemas.openxmlformats.org/officeDocument/2006/relationships/tags" Target="../tags/tag62.xml"/></Relationships>
</file>

<file path=ppt/slides/_rels/slide23.xml.rels><?xml version="1.0" encoding="UTF-8" standalone="yes"?>
<Relationships xmlns="http://schemas.openxmlformats.org/package/2006/relationships"><Relationship Id="rId9" Type="http://schemas.openxmlformats.org/officeDocument/2006/relationships/image" Target="../media/image78.svg"/><Relationship Id="rId8" Type="http://schemas.openxmlformats.org/officeDocument/2006/relationships/image" Target="../media/image7.png"/><Relationship Id="rId7" Type="http://schemas.openxmlformats.org/officeDocument/2006/relationships/image" Target="../media/image77.svg"/><Relationship Id="rId6" Type="http://schemas.openxmlformats.org/officeDocument/2006/relationships/image" Target="../media/image5.png"/><Relationship Id="rId5" Type="http://schemas.openxmlformats.org/officeDocument/2006/relationships/image" Target="../media/image76.svg"/><Relationship Id="rId4" Type="http://schemas.openxmlformats.org/officeDocument/2006/relationships/image" Target="../media/image3.png"/><Relationship Id="rId3" Type="http://schemas.openxmlformats.org/officeDocument/2006/relationships/image" Target="../media/image75.svg"/><Relationship Id="rId2" Type="http://schemas.openxmlformats.org/officeDocument/2006/relationships/image" Target="../media/image1.png"/><Relationship Id="rId14" Type="http://schemas.openxmlformats.org/officeDocument/2006/relationships/slideLayout" Target="../slideLayouts/slideLayout7.xml"/><Relationship Id="rId13" Type="http://schemas.openxmlformats.org/officeDocument/2006/relationships/image" Target="../media/image11.png"/><Relationship Id="rId12" Type="http://schemas.openxmlformats.org/officeDocument/2006/relationships/tags" Target="../tags/tag65.xml"/><Relationship Id="rId11" Type="http://schemas.openxmlformats.org/officeDocument/2006/relationships/image" Target="../media/image79.svg"/><Relationship Id="rId10" Type="http://schemas.openxmlformats.org/officeDocument/2006/relationships/image" Target="../media/image9.png"/><Relationship Id="rId1" Type="http://schemas.openxmlformats.org/officeDocument/2006/relationships/tags" Target="../tags/tag64.xml"/></Relationships>
</file>

<file path=ppt/slides/_rels/slide24.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tags" Target="../tags/tag68.xml"/><Relationship Id="rId3" Type="http://schemas.openxmlformats.org/officeDocument/2006/relationships/tags" Target="../tags/tag67.xml"/><Relationship Id="rId2" Type="http://schemas.openxmlformats.org/officeDocument/2006/relationships/image" Target="../media/image11.png"/><Relationship Id="rId1" Type="http://schemas.openxmlformats.org/officeDocument/2006/relationships/tags" Target="../tags/tag66.xml"/></Relationships>
</file>

<file path=ppt/slides/_rels/slide25.xml.rels><?xml version="1.0" encoding="UTF-8" standalone="yes"?>
<Relationships xmlns="http://schemas.openxmlformats.org/package/2006/relationships"><Relationship Id="rId9" Type="http://schemas.openxmlformats.org/officeDocument/2006/relationships/image" Target="../media/image48.svg"/><Relationship Id="rId8" Type="http://schemas.openxmlformats.org/officeDocument/2006/relationships/image" Target="../media/image7.png"/><Relationship Id="rId7" Type="http://schemas.openxmlformats.org/officeDocument/2006/relationships/image" Target="../media/image47.svg"/><Relationship Id="rId6" Type="http://schemas.openxmlformats.org/officeDocument/2006/relationships/image" Target="../media/image5.png"/><Relationship Id="rId5" Type="http://schemas.openxmlformats.org/officeDocument/2006/relationships/image" Target="../media/image46.svg"/><Relationship Id="rId4" Type="http://schemas.openxmlformats.org/officeDocument/2006/relationships/image" Target="../media/image3.png"/><Relationship Id="rId3" Type="http://schemas.openxmlformats.org/officeDocument/2006/relationships/image" Target="../media/image45.svg"/><Relationship Id="rId2" Type="http://schemas.openxmlformats.org/officeDocument/2006/relationships/image" Target="../media/image1.png"/><Relationship Id="rId14" Type="http://schemas.openxmlformats.org/officeDocument/2006/relationships/slideLayout" Target="../slideLayouts/slideLayout7.xml"/><Relationship Id="rId13" Type="http://schemas.openxmlformats.org/officeDocument/2006/relationships/image" Target="../media/image11.png"/><Relationship Id="rId12" Type="http://schemas.openxmlformats.org/officeDocument/2006/relationships/tags" Target="../tags/tag70.xml"/><Relationship Id="rId11" Type="http://schemas.openxmlformats.org/officeDocument/2006/relationships/image" Target="../media/image49.svg"/><Relationship Id="rId10" Type="http://schemas.openxmlformats.org/officeDocument/2006/relationships/image" Target="../media/image9.png"/><Relationship Id="rId1" Type="http://schemas.openxmlformats.org/officeDocument/2006/relationships/tags" Target="../tags/tag69.xml"/></Relationships>
</file>

<file path=ppt/slides/_rels/slide26.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tags" Target="../tags/tag73.xml"/><Relationship Id="rId4" Type="http://schemas.openxmlformats.org/officeDocument/2006/relationships/tags" Target="../tags/tag72.xml"/><Relationship Id="rId3" Type="http://schemas.openxmlformats.org/officeDocument/2006/relationships/tags" Target="../tags/tag71.xml"/><Relationship Id="rId2" Type="http://schemas.openxmlformats.org/officeDocument/2006/relationships/image" Target="../media/image81.svg"/><Relationship Id="rId1" Type="http://schemas.openxmlformats.org/officeDocument/2006/relationships/image" Target="../media/image8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 name="Freeform 35"/>
          <p:cNvSpPr/>
          <p:nvPr>
            <p:custDataLst>
              <p:tags r:id="rId1"/>
            </p:custDataLst>
          </p:nvPr>
        </p:nvSpPr>
        <p:spPr>
          <a:xfrm>
            <a:off x="0" y="1"/>
            <a:ext cx="3624132" cy="2858674"/>
          </a:xfrm>
          <a:custGeom>
            <a:avLst/>
            <a:gdLst/>
            <a:ahLst/>
            <a:cxnLst/>
            <a:rect l="l" t="t" r="r" b="b"/>
            <a:pathLst>
              <a:path w="3624132" h="2858674">
                <a:moveTo>
                  <a:pt x="0" y="0"/>
                </a:moveTo>
                <a:lnTo>
                  <a:pt x="3624132" y="0"/>
                </a:lnTo>
                <a:lnTo>
                  <a:pt x="3624132" y="2858675"/>
                </a:lnTo>
                <a:lnTo>
                  <a:pt x="0" y="285867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2" name="Group 2"/>
          <p:cNvGrpSpPr/>
          <p:nvPr/>
        </p:nvGrpSpPr>
        <p:grpSpPr>
          <a:xfrm>
            <a:off x="13120137" y="4702694"/>
            <a:ext cx="881613" cy="881613"/>
            <a:chOff x="0" y="0"/>
            <a:chExt cx="1175484" cy="1175484"/>
          </a:xfrm>
        </p:grpSpPr>
        <p:sp>
          <p:nvSpPr>
            <p:cNvPr id="3" name="Freeform 3"/>
            <p:cNvSpPr/>
            <p:nvPr/>
          </p:nvSpPr>
          <p:spPr>
            <a:xfrm>
              <a:off x="0" y="0"/>
              <a:ext cx="1175512" cy="1175512"/>
            </a:xfrm>
            <a:custGeom>
              <a:avLst/>
              <a:gdLst/>
              <a:ahLst/>
              <a:cxnLst/>
              <a:rect l="l" t="t" r="r" b="b"/>
              <a:pathLst>
                <a:path w="1175512" h="1175512">
                  <a:moveTo>
                    <a:pt x="0" y="587756"/>
                  </a:moveTo>
                  <a:cubicBezTo>
                    <a:pt x="0" y="263144"/>
                    <a:pt x="263144" y="0"/>
                    <a:pt x="587756" y="0"/>
                  </a:cubicBezTo>
                  <a:cubicBezTo>
                    <a:pt x="912368" y="0"/>
                    <a:pt x="1175512" y="263144"/>
                    <a:pt x="1175512" y="587756"/>
                  </a:cubicBezTo>
                  <a:cubicBezTo>
                    <a:pt x="1175512" y="912368"/>
                    <a:pt x="912368" y="1175512"/>
                    <a:pt x="587756" y="1175512"/>
                  </a:cubicBezTo>
                  <a:cubicBezTo>
                    <a:pt x="263144" y="1175512"/>
                    <a:pt x="0" y="912368"/>
                    <a:pt x="0" y="587756"/>
                  </a:cubicBezTo>
                  <a:close/>
                </a:path>
              </a:pathLst>
            </a:custGeom>
            <a:solidFill>
              <a:srgbClr val="FFFFFF"/>
            </a:solidFill>
          </p:spPr>
        </p:sp>
      </p:grpSp>
      <p:sp>
        <p:nvSpPr>
          <p:cNvPr id="4" name="Freeform 4"/>
          <p:cNvSpPr/>
          <p:nvPr/>
        </p:nvSpPr>
        <p:spPr>
          <a:xfrm>
            <a:off x="0" y="7739793"/>
            <a:ext cx="4166946" cy="2547208"/>
          </a:xfrm>
          <a:custGeom>
            <a:avLst/>
            <a:gdLst/>
            <a:ahLst/>
            <a:cxnLst/>
            <a:rect l="l" t="t" r="r" b="b"/>
            <a:pathLst>
              <a:path w="4166946" h="2547208">
                <a:moveTo>
                  <a:pt x="0" y="0"/>
                </a:moveTo>
                <a:lnTo>
                  <a:pt x="4166946" y="0"/>
                </a:lnTo>
                <a:lnTo>
                  <a:pt x="4166946" y="2547208"/>
                </a:lnTo>
                <a:lnTo>
                  <a:pt x="0" y="254720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a:off x="15351812" y="7673386"/>
            <a:ext cx="2936188" cy="2613614"/>
          </a:xfrm>
          <a:custGeom>
            <a:avLst/>
            <a:gdLst/>
            <a:ahLst/>
            <a:cxnLst/>
            <a:rect l="l" t="t" r="r" b="b"/>
            <a:pathLst>
              <a:path w="2936188" h="2613614">
                <a:moveTo>
                  <a:pt x="0" y="0"/>
                </a:moveTo>
                <a:lnTo>
                  <a:pt x="2936188" y="0"/>
                </a:lnTo>
                <a:lnTo>
                  <a:pt x="2936188" y="2613614"/>
                </a:lnTo>
                <a:lnTo>
                  <a:pt x="0" y="261361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6" name="Freeform 6"/>
          <p:cNvSpPr/>
          <p:nvPr/>
        </p:nvSpPr>
        <p:spPr>
          <a:xfrm>
            <a:off x="14806348" y="-9525"/>
            <a:ext cx="3491176" cy="2688062"/>
          </a:xfrm>
          <a:custGeom>
            <a:avLst/>
            <a:gdLst/>
            <a:ahLst/>
            <a:cxnLst/>
            <a:rect l="l" t="t" r="r" b="b"/>
            <a:pathLst>
              <a:path w="3491176" h="2688062">
                <a:moveTo>
                  <a:pt x="0" y="0"/>
                </a:moveTo>
                <a:lnTo>
                  <a:pt x="3491177" y="0"/>
                </a:lnTo>
                <a:lnTo>
                  <a:pt x="3491177" y="2688062"/>
                </a:lnTo>
                <a:lnTo>
                  <a:pt x="0" y="268806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grpSp>
        <p:nvGrpSpPr>
          <p:cNvPr id="7" name="Group 7"/>
          <p:cNvGrpSpPr/>
          <p:nvPr/>
        </p:nvGrpSpPr>
        <p:grpSpPr>
          <a:xfrm>
            <a:off x="14881124" y="492074"/>
            <a:ext cx="663678" cy="663678"/>
            <a:chOff x="0" y="0"/>
            <a:chExt cx="884904" cy="884904"/>
          </a:xfrm>
        </p:grpSpPr>
        <p:sp>
          <p:nvSpPr>
            <p:cNvPr id="8" name="Freeform 8"/>
            <p:cNvSpPr/>
            <p:nvPr/>
          </p:nvSpPr>
          <p:spPr>
            <a:xfrm>
              <a:off x="0" y="0"/>
              <a:ext cx="884936" cy="884936"/>
            </a:xfrm>
            <a:custGeom>
              <a:avLst/>
              <a:gdLst/>
              <a:ahLst/>
              <a:cxnLst/>
              <a:rect l="l" t="t" r="r" b="b"/>
              <a:pathLst>
                <a:path w="884936" h="884936">
                  <a:moveTo>
                    <a:pt x="0" y="442468"/>
                  </a:moveTo>
                  <a:cubicBezTo>
                    <a:pt x="0" y="198120"/>
                    <a:pt x="198120" y="0"/>
                    <a:pt x="442468" y="0"/>
                  </a:cubicBezTo>
                  <a:cubicBezTo>
                    <a:pt x="686816" y="0"/>
                    <a:pt x="884936" y="198120"/>
                    <a:pt x="884936" y="442468"/>
                  </a:cubicBezTo>
                  <a:cubicBezTo>
                    <a:pt x="884936" y="686816"/>
                    <a:pt x="686816" y="884936"/>
                    <a:pt x="442468" y="884936"/>
                  </a:cubicBezTo>
                  <a:cubicBezTo>
                    <a:pt x="198120" y="884936"/>
                    <a:pt x="0" y="686816"/>
                    <a:pt x="0" y="442468"/>
                  </a:cubicBezTo>
                  <a:close/>
                </a:path>
              </a:pathLst>
            </a:custGeom>
            <a:solidFill>
              <a:srgbClr val="356AFF"/>
            </a:solidFill>
          </p:spPr>
        </p:sp>
      </p:grpSp>
      <p:sp>
        <p:nvSpPr>
          <p:cNvPr id="9" name="Freeform 9"/>
          <p:cNvSpPr/>
          <p:nvPr/>
        </p:nvSpPr>
        <p:spPr>
          <a:xfrm>
            <a:off x="1563274" y="9463088"/>
            <a:ext cx="1713174" cy="762255"/>
          </a:xfrm>
          <a:custGeom>
            <a:avLst/>
            <a:gdLst/>
            <a:ahLst/>
            <a:cxnLst/>
            <a:rect l="l" t="t" r="r" b="b"/>
            <a:pathLst>
              <a:path w="1713174" h="762255">
                <a:moveTo>
                  <a:pt x="0" y="0"/>
                </a:moveTo>
                <a:lnTo>
                  <a:pt x="1713174" y="0"/>
                </a:lnTo>
                <a:lnTo>
                  <a:pt x="1713174" y="762254"/>
                </a:lnTo>
                <a:lnTo>
                  <a:pt x="0" y="762254"/>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0" name="TextBox 10"/>
          <p:cNvSpPr txBox="1"/>
          <p:nvPr/>
        </p:nvSpPr>
        <p:spPr>
          <a:xfrm>
            <a:off x="1605915" y="3362960"/>
            <a:ext cx="14561820" cy="1846580"/>
          </a:xfrm>
          <a:prstGeom prst="rect">
            <a:avLst/>
          </a:prstGeom>
        </p:spPr>
        <p:txBody>
          <a:bodyPr wrap="square" lIns="0" tIns="0" rIns="0" bIns="0" rtlCol="0" anchor="t">
            <a:spAutoFit/>
          </a:bodyPr>
          <a:lstStyle/>
          <a:p>
            <a:pPr algn="ctr">
              <a:lnSpc>
                <a:spcPts val="14400"/>
              </a:lnSpc>
            </a:pPr>
            <a:r>
              <a:rPr lang="en-US" sz="12000">
                <a:solidFill>
                  <a:srgbClr val="356AFF"/>
                </a:solidFill>
                <a:latin typeface="微软雅黑" panose="020B0503020204020204" charset="-122"/>
                <a:ea typeface="微软雅黑" panose="020B0503020204020204" charset="-122"/>
              </a:rPr>
              <a:t>2026</a:t>
            </a:r>
            <a:r>
              <a:rPr lang="zh-CN" altLang="en-US" sz="12000">
                <a:solidFill>
                  <a:srgbClr val="356AFF"/>
                </a:solidFill>
                <a:latin typeface="微软雅黑" panose="020B0503020204020204" charset="-122"/>
                <a:ea typeface="微软雅黑" panose="020B0503020204020204" charset="-122"/>
              </a:rPr>
              <a:t>上半年工作</a:t>
            </a:r>
            <a:r>
              <a:rPr lang="zh-CN" altLang="en-US" sz="12000">
                <a:solidFill>
                  <a:srgbClr val="356AFF"/>
                </a:solidFill>
                <a:latin typeface="微软雅黑" panose="020B0503020204020204" charset="-122"/>
                <a:ea typeface="微软雅黑" panose="020B0503020204020204" charset="-122"/>
              </a:rPr>
              <a:t>总结</a:t>
            </a:r>
            <a:endParaRPr lang="zh-CN" altLang="en-US" sz="12000">
              <a:solidFill>
                <a:srgbClr val="356AFF"/>
              </a:solidFill>
              <a:latin typeface="微软雅黑" panose="020B0503020204020204" charset="-122"/>
              <a:ea typeface="微软雅黑" panose="020B0503020204020204" charset="-122"/>
            </a:endParaRPr>
          </a:p>
        </p:txBody>
      </p:sp>
      <p:grpSp>
        <p:nvGrpSpPr>
          <p:cNvPr id="13" name="Group 13"/>
          <p:cNvGrpSpPr/>
          <p:nvPr/>
        </p:nvGrpSpPr>
        <p:grpSpPr>
          <a:xfrm>
            <a:off x="17352170" y="2226470"/>
            <a:ext cx="439840" cy="439840"/>
            <a:chOff x="0" y="0"/>
            <a:chExt cx="586454" cy="586454"/>
          </a:xfrm>
        </p:grpSpPr>
        <p:sp>
          <p:nvSpPr>
            <p:cNvPr id="14" name="Freeform 14"/>
            <p:cNvSpPr/>
            <p:nvPr/>
          </p:nvSpPr>
          <p:spPr>
            <a:xfrm>
              <a:off x="0" y="0"/>
              <a:ext cx="586486" cy="586486"/>
            </a:xfrm>
            <a:custGeom>
              <a:avLst/>
              <a:gdLst/>
              <a:ahLst/>
              <a:cxnLst/>
              <a:rect l="l" t="t" r="r" b="b"/>
              <a:pathLst>
                <a:path w="586486" h="586486">
                  <a:moveTo>
                    <a:pt x="0" y="293243"/>
                  </a:moveTo>
                  <a:cubicBezTo>
                    <a:pt x="0" y="131318"/>
                    <a:pt x="131318" y="0"/>
                    <a:pt x="293243" y="0"/>
                  </a:cubicBezTo>
                  <a:cubicBezTo>
                    <a:pt x="455168" y="0"/>
                    <a:pt x="586486" y="131318"/>
                    <a:pt x="586486" y="293243"/>
                  </a:cubicBezTo>
                  <a:cubicBezTo>
                    <a:pt x="586486" y="455168"/>
                    <a:pt x="455168" y="586486"/>
                    <a:pt x="293243" y="586486"/>
                  </a:cubicBezTo>
                  <a:cubicBezTo>
                    <a:pt x="131318" y="586486"/>
                    <a:pt x="0" y="455168"/>
                    <a:pt x="0" y="293243"/>
                  </a:cubicBezTo>
                  <a:close/>
                </a:path>
              </a:pathLst>
            </a:custGeom>
            <a:solidFill>
              <a:srgbClr val="356AFF"/>
            </a:solidFill>
          </p:spPr>
        </p:sp>
      </p:grpSp>
      <p:grpSp>
        <p:nvGrpSpPr>
          <p:cNvPr id="16" name="Group 16"/>
          <p:cNvGrpSpPr/>
          <p:nvPr/>
        </p:nvGrpSpPr>
        <p:grpSpPr>
          <a:xfrm>
            <a:off x="15597742" y="8893346"/>
            <a:ext cx="569742" cy="569742"/>
            <a:chOff x="0" y="0"/>
            <a:chExt cx="759656" cy="759656"/>
          </a:xfrm>
        </p:grpSpPr>
        <p:sp>
          <p:nvSpPr>
            <p:cNvPr id="17" name="Freeform 17"/>
            <p:cNvSpPr/>
            <p:nvPr/>
          </p:nvSpPr>
          <p:spPr>
            <a:xfrm>
              <a:off x="0" y="0"/>
              <a:ext cx="759714" cy="759714"/>
            </a:xfrm>
            <a:custGeom>
              <a:avLst/>
              <a:gdLst/>
              <a:ahLst/>
              <a:cxnLst/>
              <a:rect l="l" t="t" r="r" b="b"/>
              <a:pathLst>
                <a:path w="759714" h="759714">
                  <a:moveTo>
                    <a:pt x="0" y="379857"/>
                  </a:moveTo>
                  <a:cubicBezTo>
                    <a:pt x="0" y="170053"/>
                    <a:pt x="170053" y="0"/>
                    <a:pt x="379857" y="0"/>
                  </a:cubicBezTo>
                  <a:cubicBezTo>
                    <a:pt x="589661" y="0"/>
                    <a:pt x="759714" y="170053"/>
                    <a:pt x="759714" y="379857"/>
                  </a:cubicBezTo>
                  <a:cubicBezTo>
                    <a:pt x="759714" y="589661"/>
                    <a:pt x="589661" y="759714"/>
                    <a:pt x="379857" y="759714"/>
                  </a:cubicBezTo>
                  <a:cubicBezTo>
                    <a:pt x="170053" y="759714"/>
                    <a:pt x="0" y="589661"/>
                    <a:pt x="0" y="379857"/>
                  </a:cubicBezTo>
                  <a:close/>
                  <a:moveTo>
                    <a:pt x="189865" y="379857"/>
                  </a:moveTo>
                  <a:cubicBezTo>
                    <a:pt x="189865" y="484759"/>
                    <a:pt x="274955" y="569722"/>
                    <a:pt x="379730" y="569722"/>
                  </a:cubicBezTo>
                  <a:cubicBezTo>
                    <a:pt x="484505" y="569722"/>
                    <a:pt x="569595" y="484632"/>
                    <a:pt x="569595" y="379857"/>
                  </a:cubicBezTo>
                  <a:cubicBezTo>
                    <a:pt x="569595" y="275082"/>
                    <a:pt x="484505" y="189992"/>
                    <a:pt x="379730" y="189992"/>
                  </a:cubicBezTo>
                  <a:cubicBezTo>
                    <a:pt x="274955" y="189992"/>
                    <a:pt x="189865" y="275082"/>
                    <a:pt x="189865" y="379857"/>
                  </a:cubicBezTo>
                  <a:close/>
                </a:path>
              </a:pathLst>
            </a:custGeom>
            <a:solidFill>
              <a:srgbClr val="356AFF"/>
            </a:solidFill>
          </p:spPr>
        </p:sp>
      </p:grpSp>
      <p:grpSp>
        <p:nvGrpSpPr>
          <p:cNvPr id="20" name="Group 20"/>
          <p:cNvGrpSpPr/>
          <p:nvPr/>
        </p:nvGrpSpPr>
        <p:grpSpPr>
          <a:xfrm>
            <a:off x="492919" y="7834312"/>
            <a:ext cx="885825" cy="885825"/>
            <a:chOff x="0" y="0"/>
            <a:chExt cx="1181100" cy="1181100"/>
          </a:xfrm>
        </p:grpSpPr>
        <p:sp>
          <p:nvSpPr>
            <p:cNvPr id="21" name="Freeform 21"/>
            <p:cNvSpPr/>
            <p:nvPr/>
          </p:nvSpPr>
          <p:spPr>
            <a:xfrm>
              <a:off x="0" y="0"/>
              <a:ext cx="1181100" cy="1181100"/>
            </a:xfrm>
            <a:custGeom>
              <a:avLst/>
              <a:gdLst/>
              <a:ahLst/>
              <a:cxnLst/>
              <a:rect l="l" t="t" r="r" b="b"/>
              <a:pathLst>
                <a:path w="1181100" h="1181100">
                  <a:moveTo>
                    <a:pt x="1181100" y="590550"/>
                  </a:moveTo>
                  <a:cubicBezTo>
                    <a:pt x="1181100" y="264414"/>
                    <a:pt x="916686" y="0"/>
                    <a:pt x="590550" y="0"/>
                  </a:cubicBezTo>
                  <a:cubicBezTo>
                    <a:pt x="264414" y="0"/>
                    <a:pt x="0" y="264414"/>
                    <a:pt x="0" y="590550"/>
                  </a:cubicBezTo>
                  <a:cubicBezTo>
                    <a:pt x="0" y="916686"/>
                    <a:pt x="264414" y="1181100"/>
                    <a:pt x="590550" y="1181100"/>
                  </a:cubicBezTo>
                  <a:cubicBezTo>
                    <a:pt x="916686" y="1181100"/>
                    <a:pt x="1181100" y="916686"/>
                    <a:pt x="1181100" y="590550"/>
                  </a:cubicBezTo>
                  <a:close/>
                </a:path>
              </a:pathLst>
            </a:custGeom>
            <a:solidFill>
              <a:srgbClr val="2C57D4"/>
            </a:solidFill>
          </p:spPr>
        </p:sp>
      </p:grpSp>
      <p:sp>
        <p:nvSpPr>
          <p:cNvPr id="190" name="Freeform 30"/>
          <p:cNvSpPr/>
          <p:nvPr>
            <p:custDataLst>
              <p:tags r:id="rId12"/>
            </p:custDataLst>
          </p:nvPr>
        </p:nvSpPr>
        <p:spPr>
          <a:xfrm>
            <a:off x="304888" y="249061"/>
            <a:ext cx="2187262" cy="656549"/>
          </a:xfrm>
          <a:custGeom>
            <a:avLst/>
            <a:gdLst/>
            <a:ahLst/>
            <a:cxnLst/>
            <a:rect l="l" t="t" r="r" b="b"/>
            <a:pathLst>
              <a:path w="2187262" h="656549">
                <a:moveTo>
                  <a:pt x="0" y="0"/>
                </a:moveTo>
                <a:lnTo>
                  <a:pt x="2187262" y="0"/>
                </a:lnTo>
                <a:lnTo>
                  <a:pt x="2187262" y="656549"/>
                </a:lnTo>
                <a:lnTo>
                  <a:pt x="0" y="656549"/>
                </a:lnTo>
                <a:lnTo>
                  <a:pt x="0" y="0"/>
                </a:lnTo>
                <a:close/>
              </a:path>
            </a:pathLst>
          </a:custGeom>
          <a:blipFill>
            <a:blip r:embed="rId13"/>
            <a:stretch>
              <a:fillRect/>
            </a:stretch>
          </a:blipFill>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 name="Freeform 35"/>
          <p:cNvSpPr/>
          <p:nvPr>
            <p:custDataLst>
              <p:tags r:id="rId1"/>
            </p:custDataLst>
          </p:nvPr>
        </p:nvSpPr>
        <p:spPr>
          <a:xfrm>
            <a:off x="0" y="1"/>
            <a:ext cx="3624132" cy="2858674"/>
          </a:xfrm>
          <a:custGeom>
            <a:avLst/>
            <a:gdLst/>
            <a:ahLst/>
            <a:cxnLst/>
            <a:rect l="l" t="t" r="r" b="b"/>
            <a:pathLst>
              <a:path w="3624132" h="2858674">
                <a:moveTo>
                  <a:pt x="0" y="0"/>
                </a:moveTo>
                <a:lnTo>
                  <a:pt x="3624132" y="0"/>
                </a:lnTo>
                <a:lnTo>
                  <a:pt x="3624132" y="2858675"/>
                </a:lnTo>
                <a:lnTo>
                  <a:pt x="0" y="285867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2" name="Group 2"/>
          <p:cNvGrpSpPr/>
          <p:nvPr/>
        </p:nvGrpSpPr>
        <p:grpSpPr>
          <a:xfrm>
            <a:off x="13120137" y="4702694"/>
            <a:ext cx="881613" cy="881613"/>
            <a:chOff x="0" y="0"/>
            <a:chExt cx="1175484" cy="1175484"/>
          </a:xfrm>
        </p:grpSpPr>
        <p:sp>
          <p:nvSpPr>
            <p:cNvPr id="3" name="Freeform 3"/>
            <p:cNvSpPr/>
            <p:nvPr/>
          </p:nvSpPr>
          <p:spPr>
            <a:xfrm>
              <a:off x="0" y="0"/>
              <a:ext cx="1175512" cy="1175512"/>
            </a:xfrm>
            <a:custGeom>
              <a:avLst/>
              <a:gdLst/>
              <a:ahLst/>
              <a:cxnLst/>
              <a:rect l="l" t="t" r="r" b="b"/>
              <a:pathLst>
                <a:path w="1175512" h="1175512">
                  <a:moveTo>
                    <a:pt x="0" y="587756"/>
                  </a:moveTo>
                  <a:cubicBezTo>
                    <a:pt x="0" y="263144"/>
                    <a:pt x="263144" y="0"/>
                    <a:pt x="587756" y="0"/>
                  </a:cubicBezTo>
                  <a:cubicBezTo>
                    <a:pt x="912368" y="0"/>
                    <a:pt x="1175512" y="263144"/>
                    <a:pt x="1175512" y="587756"/>
                  </a:cubicBezTo>
                  <a:cubicBezTo>
                    <a:pt x="1175512" y="912368"/>
                    <a:pt x="912368" y="1175512"/>
                    <a:pt x="587756" y="1175512"/>
                  </a:cubicBezTo>
                  <a:cubicBezTo>
                    <a:pt x="263144" y="1175512"/>
                    <a:pt x="0" y="912368"/>
                    <a:pt x="0" y="587756"/>
                  </a:cubicBezTo>
                  <a:close/>
                </a:path>
              </a:pathLst>
            </a:custGeom>
            <a:solidFill>
              <a:srgbClr val="FFFFFF"/>
            </a:solidFill>
          </p:spPr>
        </p:sp>
      </p:grpSp>
      <p:sp>
        <p:nvSpPr>
          <p:cNvPr id="4" name="Freeform 4"/>
          <p:cNvSpPr/>
          <p:nvPr/>
        </p:nvSpPr>
        <p:spPr>
          <a:xfrm>
            <a:off x="0" y="7739793"/>
            <a:ext cx="4166946" cy="2547208"/>
          </a:xfrm>
          <a:custGeom>
            <a:avLst/>
            <a:gdLst/>
            <a:ahLst/>
            <a:cxnLst/>
            <a:rect l="l" t="t" r="r" b="b"/>
            <a:pathLst>
              <a:path w="4166946" h="2547208">
                <a:moveTo>
                  <a:pt x="0" y="0"/>
                </a:moveTo>
                <a:lnTo>
                  <a:pt x="4166946" y="0"/>
                </a:lnTo>
                <a:lnTo>
                  <a:pt x="4166946" y="2547208"/>
                </a:lnTo>
                <a:lnTo>
                  <a:pt x="0" y="254720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a:off x="15351812" y="7673386"/>
            <a:ext cx="2936188" cy="2613614"/>
          </a:xfrm>
          <a:custGeom>
            <a:avLst/>
            <a:gdLst/>
            <a:ahLst/>
            <a:cxnLst/>
            <a:rect l="l" t="t" r="r" b="b"/>
            <a:pathLst>
              <a:path w="2936188" h="2613614">
                <a:moveTo>
                  <a:pt x="0" y="0"/>
                </a:moveTo>
                <a:lnTo>
                  <a:pt x="2936188" y="0"/>
                </a:lnTo>
                <a:lnTo>
                  <a:pt x="2936188" y="2613614"/>
                </a:lnTo>
                <a:lnTo>
                  <a:pt x="0" y="261361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6" name="Freeform 6"/>
          <p:cNvSpPr/>
          <p:nvPr/>
        </p:nvSpPr>
        <p:spPr>
          <a:xfrm>
            <a:off x="14806348" y="-9525"/>
            <a:ext cx="3491176" cy="2688062"/>
          </a:xfrm>
          <a:custGeom>
            <a:avLst/>
            <a:gdLst/>
            <a:ahLst/>
            <a:cxnLst/>
            <a:rect l="l" t="t" r="r" b="b"/>
            <a:pathLst>
              <a:path w="3491176" h="2688062">
                <a:moveTo>
                  <a:pt x="0" y="0"/>
                </a:moveTo>
                <a:lnTo>
                  <a:pt x="3491177" y="0"/>
                </a:lnTo>
                <a:lnTo>
                  <a:pt x="3491177" y="2688062"/>
                </a:lnTo>
                <a:lnTo>
                  <a:pt x="0" y="268806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grpSp>
        <p:nvGrpSpPr>
          <p:cNvPr id="7" name="Group 7"/>
          <p:cNvGrpSpPr/>
          <p:nvPr/>
        </p:nvGrpSpPr>
        <p:grpSpPr>
          <a:xfrm>
            <a:off x="14881124" y="492074"/>
            <a:ext cx="663678" cy="663678"/>
            <a:chOff x="0" y="0"/>
            <a:chExt cx="884904" cy="884904"/>
          </a:xfrm>
        </p:grpSpPr>
        <p:sp>
          <p:nvSpPr>
            <p:cNvPr id="8" name="Freeform 8"/>
            <p:cNvSpPr/>
            <p:nvPr/>
          </p:nvSpPr>
          <p:spPr>
            <a:xfrm>
              <a:off x="0" y="0"/>
              <a:ext cx="884936" cy="884936"/>
            </a:xfrm>
            <a:custGeom>
              <a:avLst/>
              <a:gdLst/>
              <a:ahLst/>
              <a:cxnLst/>
              <a:rect l="l" t="t" r="r" b="b"/>
              <a:pathLst>
                <a:path w="884936" h="884936">
                  <a:moveTo>
                    <a:pt x="0" y="442468"/>
                  </a:moveTo>
                  <a:cubicBezTo>
                    <a:pt x="0" y="198120"/>
                    <a:pt x="198120" y="0"/>
                    <a:pt x="442468" y="0"/>
                  </a:cubicBezTo>
                  <a:cubicBezTo>
                    <a:pt x="686816" y="0"/>
                    <a:pt x="884936" y="198120"/>
                    <a:pt x="884936" y="442468"/>
                  </a:cubicBezTo>
                  <a:cubicBezTo>
                    <a:pt x="884936" y="686816"/>
                    <a:pt x="686816" y="884936"/>
                    <a:pt x="442468" y="884936"/>
                  </a:cubicBezTo>
                  <a:cubicBezTo>
                    <a:pt x="198120" y="884936"/>
                    <a:pt x="0" y="686816"/>
                    <a:pt x="0" y="442468"/>
                  </a:cubicBezTo>
                  <a:close/>
                </a:path>
              </a:pathLst>
            </a:custGeom>
            <a:solidFill>
              <a:srgbClr val="356AFF"/>
            </a:solidFill>
          </p:spPr>
        </p:sp>
      </p:grpSp>
      <p:sp>
        <p:nvSpPr>
          <p:cNvPr id="9" name="Freeform 9"/>
          <p:cNvSpPr/>
          <p:nvPr/>
        </p:nvSpPr>
        <p:spPr>
          <a:xfrm>
            <a:off x="1563274" y="9463088"/>
            <a:ext cx="1713174" cy="762255"/>
          </a:xfrm>
          <a:custGeom>
            <a:avLst/>
            <a:gdLst/>
            <a:ahLst/>
            <a:cxnLst/>
            <a:rect l="l" t="t" r="r" b="b"/>
            <a:pathLst>
              <a:path w="1713174" h="762255">
                <a:moveTo>
                  <a:pt x="0" y="0"/>
                </a:moveTo>
                <a:lnTo>
                  <a:pt x="1713174" y="0"/>
                </a:lnTo>
                <a:lnTo>
                  <a:pt x="1713174" y="762254"/>
                </a:lnTo>
                <a:lnTo>
                  <a:pt x="0" y="762254"/>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0" name="TextBox 10"/>
          <p:cNvSpPr txBox="1"/>
          <p:nvPr/>
        </p:nvSpPr>
        <p:spPr>
          <a:xfrm>
            <a:off x="1605915" y="3362960"/>
            <a:ext cx="14561820" cy="3693160"/>
          </a:xfrm>
          <a:prstGeom prst="rect">
            <a:avLst/>
          </a:prstGeom>
        </p:spPr>
        <p:txBody>
          <a:bodyPr wrap="square" lIns="0" tIns="0" rIns="0" bIns="0" rtlCol="0" anchor="t">
            <a:spAutoFit/>
          </a:bodyPr>
          <a:lstStyle/>
          <a:p>
            <a:pPr algn="ctr">
              <a:lnSpc>
                <a:spcPts val="14400"/>
              </a:lnSpc>
            </a:pPr>
            <a:r>
              <a:rPr lang="en-US" sz="12000">
                <a:solidFill>
                  <a:srgbClr val="356AFF"/>
                </a:solidFill>
                <a:latin typeface="微软雅黑" panose="020B0503020204020204" charset="-122"/>
                <a:ea typeface="微软雅黑" panose="020B0503020204020204" charset="-122"/>
              </a:rPr>
              <a:t>Part1: </a:t>
            </a:r>
            <a:endParaRPr lang="en-US" sz="12000">
              <a:solidFill>
                <a:srgbClr val="356AFF"/>
              </a:solidFill>
              <a:latin typeface="微软雅黑" panose="020B0503020204020204" charset="-122"/>
              <a:ea typeface="微软雅黑" panose="020B0503020204020204" charset="-122"/>
            </a:endParaRPr>
          </a:p>
          <a:p>
            <a:pPr algn="ctr">
              <a:lnSpc>
                <a:spcPts val="14400"/>
              </a:lnSpc>
            </a:pPr>
            <a:r>
              <a:rPr lang="en-US" sz="12000">
                <a:solidFill>
                  <a:srgbClr val="356AFF"/>
                </a:solidFill>
                <a:latin typeface="微软雅黑" panose="020B0503020204020204" charset="-122"/>
                <a:ea typeface="微软雅黑" panose="020B0503020204020204" charset="-122"/>
              </a:rPr>
              <a:t>Efficient Training</a:t>
            </a:r>
            <a:endParaRPr lang="en-US" sz="12000">
              <a:solidFill>
                <a:srgbClr val="356AFF"/>
              </a:solidFill>
              <a:latin typeface="微软雅黑" panose="020B0503020204020204" charset="-122"/>
              <a:ea typeface="微软雅黑" panose="020B0503020204020204" charset="-122"/>
            </a:endParaRPr>
          </a:p>
        </p:txBody>
      </p:sp>
      <p:grpSp>
        <p:nvGrpSpPr>
          <p:cNvPr id="13" name="Group 13"/>
          <p:cNvGrpSpPr/>
          <p:nvPr/>
        </p:nvGrpSpPr>
        <p:grpSpPr>
          <a:xfrm>
            <a:off x="17352170" y="2226470"/>
            <a:ext cx="439840" cy="439840"/>
            <a:chOff x="0" y="0"/>
            <a:chExt cx="586454" cy="586454"/>
          </a:xfrm>
        </p:grpSpPr>
        <p:sp>
          <p:nvSpPr>
            <p:cNvPr id="14" name="Freeform 14"/>
            <p:cNvSpPr/>
            <p:nvPr/>
          </p:nvSpPr>
          <p:spPr>
            <a:xfrm>
              <a:off x="0" y="0"/>
              <a:ext cx="586486" cy="586486"/>
            </a:xfrm>
            <a:custGeom>
              <a:avLst/>
              <a:gdLst/>
              <a:ahLst/>
              <a:cxnLst/>
              <a:rect l="l" t="t" r="r" b="b"/>
              <a:pathLst>
                <a:path w="586486" h="586486">
                  <a:moveTo>
                    <a:pt x="0" y="293243"/>
                  </a:moveTo>
                  <a:cubicBezTo>
                    <a:pt x="0" y="131318"/>
                    <a:pt x="131318" y="0"/>
                    <a:pt x="293243" y="0"/>
                  </a:cubicBezTo>
                  <a:cubicBezTo>
                    <a:pt x="455168" y="0"/>
                    <a:pt x="586486" y="131318"/>
                    <a:pt x="586486" y="293243"/>
                  </a:cubicBezTo>
                  <a:cubicBezTo>
                    <a:pt x="586486" y="455168"/>
                    <a:pt x="455168" y="586486"/>
                    <a:pt x="293243" y="586486"/>
                  </a:cubicBezTo>
                  <a:cubicBezTo>
                    <a:pt x="131318" y="586486"/>
                    <a:pt x="0" y="455168"/>
                    <a:pt x="0" y="293243"/>
                  </a:cubicBezTo>
                  <a:close/>
                </a:path>
              </a:pathLst>
            </a:custGeom>
            <a:solidFill>
              <a:srgbClr val="356AFF"/>
            </a:solidFill>
          </p:spPr>
        </p:sp>
      </p:grpSp>
      <p:grpSp>
        <p:nvGrpSpPr>
          <p:cNvPr id="16" name="Group 16"/>
          <p:cNvGrpSpPr/>
          <p:nvPr/>
        </p:nvGrpSpPr>
        <p:grpSpPr>
          <a:xfrm>
            <a:off x="15597742" y="8893346"/>
            <a:ext cx="569742" cy="569742"/>
            <a:chOff x="0" y="0"/>
            <a:chExt cx="759656" cy="759656"/>
          </a:xfrm>
        </p:grpSpPr>
        <p:sp>
          <p:nvSpPr>
            <p:cNvPr id="17" name="Freeform 17"/>
            <p:cNvSpPr/>
            <p:nvPr/>
          </p:nvSpPr>
          <p:spPr>
            <a:xfrm>
              <a:off x="0" y="0"/>
              <a:ext cx="759714" cy="759714"/>
            </a:xfrm>
            <a:custGeom>
              <a:avLst/>
              <a:gdLst/>
              <a:ahLst/>
              <a:cxnLst/>
              <a:rect l="l" t="t" r="r" b="b"/>
              <a:pathLst>
                <a:path w="759714" h="759714">
                  <a:moveTo>
                    <a:pt x="0" y="379857"/>
                  </a:moveTo>
                  <a:cubicBezTo>
                    <a:pt x="0" y="170053"/>
                    <a:pt x="170053" y="0"/>
                    <a:pt x="379857" y="0"/>
                  </a:cubicBezTo>
                  <a:cubicBezTo>
                    <a:pt x="589661" y="0"/>
                    <a:pt x="759714" y="170053"/>
                    <a:pt x="759714" y="379857"/>
                  </a:cubicBezTo>
                  <a:cubicBezTo>
                    <a:pt x="759714" y="589661"/>
                    <a:pt x="589661" y="759714"/>
                    <a:pt x="379857" y="759714"/>
                  </a:cubicBezTo>
                  <a:cubicBezTo>
                    <a:pt x="170053" y="759714"/>
                    <a:pt x="0" y="589661"/>
                    <a:pt x="0" y="379857"/>
                  </a:cubicBezTo>
                  <a:close/>
                  <a:moveTo>
                    <a:pt x="189865" y="379857"/>
                  </a:moveTo>
                  <a:cubicBezTo>
                    <a:pt x="189865" y="484759"/>
                    <a:pt x="274955" y="569722"/>
                    <a:pt x="379730" y="569722"/>
                  </a:cubicBezTo>
                  <a:cubicBezTo>
                    <a:pt x="484505" y="569722"/>
                    <a:pt x="569595" y="484632"/>
                    <a:pt x="569595" y="379857"/>
                  </a:cubicBezTo>
                  <a:cubicBezTo>
                    <a:pt x="569595" y="275082"/>
                    <a:pt x="484505" y="189992"/>
                    <a:pt x="379730" y="189992"/>
                  </a:cubicBezTo>
                  <a:cubicBezTo>
                    <a:pt x="274955" y="189992"/>
                    <a:pt x="189865" y="275082"/>
                    <a:pt x="189865" y="379857"/>
                  </a:cubicBezTo>
                  <a:close/>
                </a:path>
              </a:pathLst>
            </a:custGeom>
            <a:solidFill>
              <a:srgbClr val="356AFF"/>
            </a:solidFill>
          </p:spPr>
        </p:sp>
      </p:grpSp>
      <p:grpSp>
        <p:nvGrpSpPr>
          <p:cNvPr id="20" name="Group 20"/>
          <p:cNvGrpSpPr/>
          <p:nvPr/>
        </p:nvGrpSpPr>
        <p:grpSpPr>
          <a:xfrm>
            <a:off x="492919" y="7834312"/>
            <a:ext cx="885825" cy="885825"/>
            <a:chOff x="0" y="0"/>
            <a:chExt cx="1181100" cy="1181100"/>
          </a:xfrm>
        </p:grpSpPr>
        <p:sp>
          <p:nvSpPr>
            <p:cNvPr id="21" name="Freeform 21"/>
            <p:cNvSpPr/>
            <p:nvPr/>
          </p:nvSpPr>
          <p:spPr>
            <a:xfrm>
              <a:off x="0" y="0"/>
              <a:ext cx="1181100" cy="1181100"/>
            </a:xfrm>
            <a:custGeom>
              <a:avLst/>
              <a:gdLst/>
              <a:ahLst/>
              <a:cxnLst/>
              <a:rect l="l" t="t" r="r" b="b"/>
              <a:pathLst>
                <a:path w="1181100" h="1181100">
                  <a:moveTo>
                    <a:pt x="1181100" y="590550"/>
                  </a:moveTo>
                  <a:cubicBezTo>
                    <a:pt x="1181100" y="264414"/>
                    <a:pt x="916686" y="0"/>
                    <a:pt x="590550" y="0"/>
                  </a:cubicBezTo>
                  <a:cubicBezTo>
                    <a:pt x="264414" y="0"/>
                    <a:pt x="0" y="264414"/>
                    <a:pt x="0" y="590550"/>
                  </a:cubicBezTo>
                  <a:cubicBezTo>
                    <a:pt x="0" y="916686"/>
                    <a:pt x="264414" y="1181100"/>
                    <a:pt x="590550" y="1181100"/>
                  </a:cubicBezTo>
                  <a:cubicBezTo>
                    <a:pt x="916686" y="1181100"/>
                    <a:pt x="1181100" y="916686"/>
                    <a:pt x="1181100" y="590550"/>
                  </a:cubicBezTo>
                  <a:close/>
                </a:path>
              </a:pathLst>
            </a:custGeom>
            <a:solidFill>
              <a:srgbClr val="2C57D4"/>
            </a:solidFill>
          </p:spPr>
        </p:sp>
      </p:grpSp>
      <p:sp>
        <p:nvSpPr>
          <p:cNvPr id="190" name="Freeform 30"/>
          <p:cNvSpPr/>
          <p:nvPr>
            <p:custDataLst>
              <p:tags r:id="rId12"/>
            </p:custDataLst>
          </p:nvPr>
        </p:nvSpPr>
        <p:spPr>
          <a:xfrm>
            <a:off x="304888" y="249061"/>
            <a:ext cx="2187262" cy="656549"/>
          </a:xfrm>
          <a:custGeom>
            <a:avLst/>
            <a:gdLst/>
            <a:ahLst/>
            <a:cxnLst/>
            <a:rect l="l" t="t" r="r" b="b"/>
            <a:pathLst>
              <a:path w="2187262" h="656549">
                <a:moveTo>
                  <a:pt x="0" y="0"/>
                </a:moveTo>
                <a:lnTo>
                  <a:pt x="2187262" y="0"/>
                </a:lnTo>
                <a:lnTo>
                  <a:pt x="2187262" y="656549"/>
                </a:lnTo>
                <a:lnTo>
                  <a:pt x="0" y="656549"/>
                </a:lnTo>
                <a:lnTo>
                  <a:pt x="0" y="0"/>
                </a:lnTo>
                <a:close/>
              </a:path>
            </a:pathLst>
          </a:custGeom>
          <a:blipFill>
            <a:blip r:embed="rId13"/>
            <a:stretch>
              <a:fillRect/>
            </a:stretch>
          </a:blipFill>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518160" y="468630"/>
            <a:ext cx="5971223" cy="645160"/>
          </a:xfrm>
          <a:prstGeom prst="rect">
            <a:avLst/>
          </a:prstGeom>
          <a:noFill/>
        </p:spPr>
        <p:txBody>
          <a:bodyPr wrap="square" rtlCol="0">
            <a:spAutoFit/>
          </a:bodyPr>
          <a:p>
            <a:r>
              <a:rPr lang="en-US" altLang="zh-CN" sz="3600" b="1"/>
              <a:t>Summary</a:t>
            </a:r>
            <a:endParaRPr lang="en-US" altLang="zh-CN" sz="3600" b="1"/>
          </a:p>
        </p:txBody>
      </p:sp>
      <p:sp>
        <p:nvSpPr>
          <p:cNvPr id="190" name="Freeform 30"/>
          <p:cNvSpPr/>
          <p:nvPr>
            <p:custDataLst>
              <p:tags r:id="rId1"/>
            </p:custDataLst>
          </p:nvPr>
        </p:nvSpPr>
        <p:spPr>
          <a:xfrm>
            <a:off x="15468688" y="343041"/>
            <a:ext cx="2187262" cy="656549"/>
          </a:xfrm>
          <a:custGeom>
            <a:avLst/>
            <a:gdLst/>
            <a:ahLst/>
            <a:cxnLst/>
            <a:rect l="l" t="t" r="r" b="b"/>
            <a:pathLst>
              <a:path w="2187262" h="656549">
                <a:moveTo>
                  <a:pt x="0" y="0"/>
                </a:moveTo>
                <a:lnTo>
                  <a:pt x="2187262" y="0"/>
                </a:lnTo>
                <a:lnTo>
                  <a:pt x="2187262" y="656549"/>
                </a:lnTo>
                <a:lnTo>
                  <a:pt x="0" y="656549"/>
                </a:lnTo>
                <a:lnTo>
                  <a:pt x="0" y="0"/>
                </a:lnTo>
                <a:close/>
              </a:path>
            </a:pathLst>
          </a:custGeom>
          <a:blipFill>
            <a:blip r:embed="rId2"/>
            <a:stretch>
              <a:fillRect/>
            </a:stretch>
          </a:blipFill>
        </p:spPr>
      </p:sp>
      <p:sp>
        <p:nvSpPr>
          <p:cNvPr id="3" name="TextBox 30"/>
          <p:cNvSpPr txBox="1"/>
          <p:nvPr>
            <p:custDataLst>
              <p:tags r:id="rId3"/>
            </p:custDataLst>
          </p:nvPr>
        </p:nvSpPr>
        <p:spPr>
          <a:xfrm>
            <a:off x="609600" y="1852295"/>
            <a:ext cx="15503525" cy="2215515"/>
          </a:xfrm>
          <a:prstGeom prst="rect">
            <a:avLst/>
          </a:prstGeom>
        </p:spPr>
        <p:txBody>
          <a:bodyPr wrap="square" lIns="0" tIns="0" rIns="0" bIns="0" rtlCol="0" anchor="t">
            <a:spAutoFit/>
          </a:bodyPr>
          <a:lstStyle/>
          <a:p>
            <a:pPr algn="l">
              <a:lnSpc>
                <a:spcPts val="4320"/>
              </a:lnSpc>
              <a:buClrTx/>
              <a:buSzTx/>
              <a:buFontTx/>
            </a:pPr>
            <a:r>
              <a:rPr lang="zh-CN" altLang="en-US" sz="2400">
                <a:solidFill>
                  <a:schemeClr val="tx1"/>
                </a:solidFill>
                <a:latin typeface="微软雅黑" panose="020B0503020204020204" charset="-122"/>
                <a:ea typeface="微软雅黑" panose="020B0503020204020204" charset="-122"/>
              </a:rPr>
              <a:t>工作</a:t>
            </a:r>
            <a:r>
              <a:rPr lang="zh-CN" altLang="en-US" sz="2400">
                <a:solidFill>
                  <a:schemeClr val="tx1"/>
                </a:solidFill>
                <a:latin typeface="微软雅黑" panose="020B0503020204020204" charset="-122"/>
                <a:ea typeface="微软雅黑" panose="020B0503020204020204" charset="-122"/>
              </a:rPr>
              <a:t>背景：</a:t>
            </a:r>
            <a:endParaRPr lang="zh-CN" altLang="en-US" sz="2400">
              <a:solidFill>
                <a:schemeClr val="tx1"/>
              </a:solidFill>
              <a:latin typeface="微软雅黑" panose="020B0503020204020204" charset="-122"/>
              <a:ea typeface="微软雅黑" panose="020B0503020204020204" charset="-122"/>
            </a:endParaRPr>
          </a:p>
          <a:p>
            <a:pPr indent="457200" algn="l">
              <a:lnSpc>
                <a:spcPts val="4320"/>
              </a:lnSpc>
              <a:buClrTx/>
              <a:buSzTx/>
              <a:buFontTx/>
            </a:pPr>
            <a:r>
              <a:rPr lang="zh-CN" altLang="en-US" sz="2400">
                <a:solidFill>
                  <a:schemeClr val="tx1"/>
                </a:solidFill>
                <a:latin typeface="微软雅黑" panose="020B0503020204020204" charset="-122"/>
                <a:ea typeface="微软雅黑" panose="020B0503020204020204" charset="-122"/>
              </a:rPr>
              <a:t>之前在跟进沈老师这边的</a:t>
            </a:r>
            <a:r>
              <a:rPr lang="en-US" altLang="zh-CN" sz="2400">
                <a:solidFill>
                  <a:schemeClr val="tx1"/>
                </a:solidFill>
                <a:latin typeface="微软雅黑" panose="020B0503020204020204" charset="-122"/>
                <a:ea typeface="微软雅黑" panose="020B0503020204020204" charset="-122"/>
              </a:rPr>
              <a:t>Continual Learning</a:t>
            </a:r>
            <a:r>
              <a:rPr lang="zh-CN" altLang="en-US" sz="2400">
                <a:solidFill>
                  <a:schemeClr val="tx1"/>
                </a:solidFill>
                <a:latin typeface="微软雅黑" panose="020B0503020204020204" charset="-122"/>
                <a:ea typeface="微软雅黑" panose="020B0503020204020204" charset="-122"/>
              </a:rPr>
              <a:t>相关工作，主要方向是在于模型自进化与</a:t>
            </a:r>
            <a:r>
              <a:rPr lang="en-US" altLang="zh-CN" sz="2400">
                <a:solidFill>
                  <a:schemeClr val="tx1"/>
                </a:solidFill>
                <a:latin typeface="微软雅黑" panose="020B0503020204020204" charset="-122"/>
                <a:ea typeface="微软雅黑" panose="020B0503020204020204" charset="-122"/>
              </a:rPr>
              <a:t>Efficient Training</a:t>
            </a:r>
            <a:r>
              <a:rPr lang="zh-CN" altLang="en-US" sz="2400">
                <a:solidFill>
                  <a:schemeClr val="tx1"/>
                </a:solidFill>
                <a:latin typeface="微软雅黑" panose="020B0503020204020204" charset="-122"/>
                <a:ea typeface="微软雅黑" panose="020B0503020204020204" charset="-122"/>
              </a:rPr>
              <a:t>两个方面，由于</a:t>
            </a:r>
            <a:r>
              <a:rPr lang="en-US" altLang="zh-CN" sz="2400">
                <a:solidFill>
                  <a:schemeClr val="tx1"/>
                </a:solidFill>
                <a:latin typeface="微软雅黑" panose="020B0503020204020204" charset="-122"/>
                <a:ea typeface="微软雅黑" panose="020B0503020204020204" charset="-122"/>
              </a:rPr>
              <a:t>LoRA</a:t>
            </a:r>
            <a:r>
              <a:rPr lang="zh-CN" altLang="en-US" sz="2400">
                <a:solidFill>
                  <a:schemeClr val="tx1"/>
                </a:solidFill>
                <a:latin typeface="微软雅黑" panose="020B0503020204020204" charset="-122"/>
                <a:ea typeface="微软雅黑" panose="020B0503020204020204" charset="-122"/>
              </a:rPr>
              <a:t>系列的工作性能目前在工业界实际应用不广，因此想要寻找一些性能更优一些的</a:t>
            </a:r>
            <a:r>
              <a:rPr lang="en-US" altLang="zh-CN" sz="2400">
                <a:solidFill>
                  <a:schemeClr val="tx1"/>
                </a:solidFill>
                <a:latin typeface="微软雅黑" panose="020B0503020204020204" charset="-122"/>
                <a:ea typeface="微软雅黑" panose="020B0503020204020204" charset="-122"/>
              </a:rPr>
              <a:t>Efficient Training</a:t>
            </a:r>
            <a:r>
              <a:rPr lang="zh-CN" altLang="en-US" sz="2400">
                <a:solidFill>
                  <a:schemeClr val="tx1"/>
                </a:solidFill>
                <a:latin typeface="微软雅黑" panose="020B0503020204020204" charset="-122"/>
                <a:ea typeface="微软雅黑" panose="020B0503020204020204" charset="-122"/>
              </a:rPr>
              <a:t>范式，所以我这边做了一些调研和探索复现的</a:t>
            </a:r>
            <a:r>
              <a:rPr lang="zh-CN" altLang="en-US" sz="2400">
                <a:solidFill>
                  <a:schemeClr val="tx1"/>
                </a:solidFill>
                <a:latin typeface="微软雅黑" panose="020B0503020204020204" charset="-122"/>
                <a:ea typeface="微软雅黑" panose="020B0503020204020204" charset="-122"/>
              </a:rPr>
              <a:t>工作。</a:t>
            </a:r>
            <a:endParaRPr lang="zh-CN" altLang="en-US" sz="2400">
              <a:solidFill>
                <a:schemeClr val="tx1"/>
              </a:solidFill>
              <a:latin typeface="微软雅黑" panose="020B0503020204020204" charset="-122"/>
              <a:ea typeface="微软雅黑" panose="020B0503020204020204" charset="-122"/>
            </a:endParaRPr>
          </a:p>
        </p:txBody>
      </p:sp>
      <p:pic>
        <p:nvPicPr>
          <p:cNvPr id="4" name="图片 3"/>
          <p:cNvPicPr>
            <a:picLocks noChangeAspect="1"/>
          </p:cNvPicPr>
          <p:nvPr/>
        </p:nvPicPr>
        <p:blipFill>
          <a:blip r:embed="rId4"/>
          <a:stretch>
            <a:fillRect/>
          </a:stretch>
        </p:blipFill>
        <p:spPr>
          <a:xfrm>
            <a:off x="3810000" y="5295900"/>
            <a:ext cx="10287000" cy="4014470"/>
          </a:xfrm>
          <a:prstGeom prst="rect">
            <a:avLst/>
          </a:prstGeom>
        </p:spPr>
      </p:pic>
    </p:spTree>
    <p:custDataLst>
      <p:tags r:id="rId5"/>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518160" y="468630"/>
            <a:ext cx="5971223" cy="645160"/>
          </a:xfrm>
          <a:prstGeom prst="rect">
            <a:avLst/>
          </a:prstGeom>
          <a:noFill/>
        </p:spPr>
        <p:txBody>
          <a:bodyPr wrap="square" rtlCol="0">
            <a:spAutoFit/>
          </a:bodyPr>
          <a:p>
            <a:r>
              <a:rPr lang="en-US" altLang="zh-CN" sz="3600" b="1"/>
              <a:t>LISA</a:t>
            </a:r>
            <a:endParaRPr lang="en-US" altLang="zh-CN" sz="3600" b="1"/>
          </a:p>
        </p:txBody>
      </p:sp>
      <p:sp>
        <p:nvSpPr>
          <p:cNvPr id="2" name="文本框 1"/>
          <p:cNvSpPr txBox="1"/>
          <p:nvPr/>
        </p:nvSpPr>
        <p:spPr>
          <a:xfrm>
            <a:off x="518160" y="1381125"/>
            <a:ext cx="13435013" cy="1476375"/>
          </a:xfrm>
          <a:prstGeom prst="rect">
            <a:avLst/>
          </a:prstGeom>
          <a:noFill/>
        </p:spPr>
        <p:txBody>
          <a:bodyPr wrap="square" rtlCol="0">
            <a:spAutoFit/>
          </a:bodyPr>
          <a:p>
            <a:pPr indent="0" fontAlgn="auto">
              <a:lnSpc>
                <a:spcPct val="150000"/>
              </a:lnSpc>
            </a:pPr>
            <a:r>
              <a:rPr lang="en-US" sz="3000"/>
              <a:t>Motivation</a:t>
            </a:r>
            <a:r>
              <a:rPr lang="zh-CN" altLang="en-US" sz="3000"/>
              <a:t>：全参数微调内存开销巨大，而</a:t>
            </a:r>
            <a:r>
              <a:rPr lang="en-US" altLang="zh-CN" sz="3000"/>
              <a:t> LoRA </a:t>
            </a:r>
            <a:r>
              <a:rPr lang="zh-CN" altLang="en-US" sz="3000"/>
              <a:t>虽然高效，但由于将更新限制在低秩子空间内，其性能往往达不到全参数微调的水平</a:t>
            </a:r>
            <a:r>
              <a:rPr lang="en-US" altLang="zh-CN" sz="3000"/>
              <a:t> </a:t>
            </a:r>
            <a:r>
              <a:rPr lang="zh-CN" altLang="en-US" sz="3000"/>
              <a:t>。</a:t>
            </a:r>
            <a:endParaRPr lang="zh-CN" altLang="en-US" sz="3000"/>
          </a:p>
        </p:txBody>
      </p:sp>
      <p:pic>
        <p:nvPicPr>
          <p:cNvPr id="3" name="图片 2"/>
          <p:cNvPicPr>
            <a:picLocks noChangeAspect="1"/>
          </p:cNvPicPr>
          <p:nvPr/>
        </p:nvPicPr>
        <p:blipFill>
          <a:blip r:embed="rId1"/>
          <a:stretch>
            <a:fillRect/>
          </a:stretch>
        </p:blipFill>
        <p:spPr>
          <a:xfrm>
            <a:off x="518160" y="2953703"/>
            <a:ext cx="13235940" cy="704850"/>
          </a:xfrm>
          <a:prstGeom prst="rect">
            <a:avLst/>
          </a:prstGeom>
        </p:spPr>
      </p:pic>
      <p:pic>
        <p:nvPicPr>
          <p:cNvPr id="5" name="图片 4"/>
          <p:cNvPicPr>
            <a:picLocks noChangeAspect="1"/>
          </p:cNvPicPr>
          <p:nvPr/>
        </p:nvPicPr>
        <p:blipFill>
          <a:blip r:embed="rId2"/>
          <a:stretch>
            <a:fillRect/>
          </a:stretch>
        </p:blipFill>
        <p:spPr>
          <a:xfrm>
            <a:off x="522923" y="3877628"/>
            <a:ext cx="13430250" cy="4972050"/>
          </a:xfrm>
          <a:prstGeom prst="rect">
            <a:avLst/>
          </a:prstGeom>
        </p:spPr>
      </p:pic>
      <p:sp>
        <p:nvSpPr>
          <p:cNvPr id="10" name="文本框 9"/>
          <p:cNvSpPr txBox="1"/>
          <p:nvPr/>
        </p:nvSpPr>
        <p:spPr>
          <a:xfrm>
            <a:off x="740093" y="9359265"/>
            <a:ext cx="15755303" cy="645160"/>
          </a:xfrm>
          <a:prstGeom prst="rect">
            <a:avLst/>
          </a:prstGeom>
          <a:noFill/>
        </p:spPr>
        <p:txBody>
          <a:bodyPr wrap="square" rtlCol="0">
            <a:spAutoFit/>
          </a:bodyPr>
          <a:p>
            <a:pPr algn="just"/>
            <a:r>
              <a:rPr lang="en-US" altLang="zh-CN">
                <a:latin typeface="Times New Roman" panose="02020603050405020304" charset="0"/>
                <a:cs typeface="Times New Roman" panose="02020603050405020304" charset="0"/>
              </a:rPr>
              <a:t>R. Pan, X. Liu, S. Diao, R. Pi, J. Zhang, C. Han, and T. Zhang. Lisa: layerwise importance sampling for memory efficient large language model fine-tuning. Advances in Neural Information Processing Systems, 37:57018–57049, 2024.</a:t>
            </a:r>
            <a:endParaRPr lang="en-US" altLang="zh-CN">
              <a:latin typeface="Times New Roman" panose="02020603050405020304" charset="0"/>
              <a:cs typeface="Times New Roman" panose="02020603050405020304" charset="0"/>
            </a:endParaRPr>
          </a:p>
        </p:txBody>
      </p:sp>
      <p:sp>
        <p:nvSpPr>
          <p:cNvPr id="190" name="Freeform 30"/>
          <p:cNvSpPr/>
          <p:nvPr>
            <p:custDataLst>
              <p:tags r:id="rId3"/>
            </p:custDataLst>
          </p:nvPr>
        </p:nvSpPr>
        <p:spPr>
          <a:xfrm>
            <a:off x="15468688" y="343041"/>
            <a:ext cx="2187262" cy="656549"/>
          </a:xfrm>
          <a:custGeom>
            <a:avLst/>
            <a:gdLst/>
            <a:ahLst/>
            <a:cxnLst/>
            <a:rect l="l" t="t" r="r" b="b"/>
            <a:pathLst>
              <a:path w="2187262" h="656549">
                <a:moveTo>
                  <a:pt x="0" y="0"/>
                </a:moveTo>
                <a:lnTo>
                  <a:pt x="2187262" y="0"/>
                </a:lnTo>
                <a:lnTo>
                  <a:pt x="2187262" y="656549"/>
                </a:lnTo>
                <a:lnTo>
                  <a:pt x="0" y="656549"/>
                </a:lnTo>
                <a:lnTo>
                  <a:pt x="0" y="0"/>
                </a:lnTo>
                <a:close/>
              </a:path>
            </a:pathLst>
          </a:custGeom>
          <a:blipFill>
            <a:blip r:embed="rId4"/>
            <a:stretch>
              <a:fillRect/>
            </a:stretch>
          </a:blipFill>
        </p:spPr>
      </p:sp>
    </p:spTree>
    <p:custDataLst>
      <p:tags r:id="rId5"/>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518160" y="468630"/>
            <a:ext cx="5971223" cy="645160"/>
          </a:xfrm>
          <a:prstGeom prst="rect">
            <a:avLst/>
          </a:prstGeom>
          <a:noFill/>
        </p:spPr>
        <p:txBody>
          <a:bodyPr wrap="square" rtlCol="0">
            <a:spAutoFit/>
          </a:bodyPr>
          <a:p>
            <a:r>
              <a:rPr lang="en-US" altLang="zh-CN" sz="3600" b="1"/>
              <a:t>LISA</a:t>
            </a:r>
            <a:endParaRPr lang="en-US" altLang="zh-CN" sz="3600" b="1"/>
          </a:p>
        </p:txBody>
      </p:sp>
      <p:pic>
        <p:nvPicPr>
          <p:cNvPr id="7" name="图片 6"/>
          <p:cNvPicPr>
            <a:picLocks noChangeAspect="1"/>
          </p:cNvPicPr>
          <p:nvPr/>
        </p:nvPicPr>
        <p:blipFill>
          <a:blip r:embed="rId1"/>
          <a:stretch>
            <a:fillRect/>
          </a:stretch>
        </p:blipFill>
        <p:spPr>
          <a:xfrm>
            <a:off x="639128" y="1974533"/>
            <a:ext cx="14847570" cy="3371850"/>
          </a:xfrm>
          <a:prstGeom prst="rect">
            <a:avLst/>
          </a:prstGeom>
        </p:spPr>
      </p:pic>
      <p:pic>
        <p:nvPicPr>
          <p:cNvPr id="8" name="图片 7"/>
          <p:cNvPicPr>
            <a:picLocks noChangeAspect="1"/>
          </p:cNvPicPr>
          <p:nvPr/>
        </p:nvPicPr>
        <p:blipFill>
          <a:blip r:embed="rId2"/>
          <a:stretch>
            <a:fillRect/>
          </a:stretch>
        </p:blipFill>
        <p:spPr>
          <a:xfrm>
            <a:off x="12976860" y="5736908"/>
            <a:ext cx="5026343" cy="4285298"/>
          </a:xfrm>
          <a:prstGeom prst="rect">
            <a:avLst/>
          </a:prstGeom>
        </p:spPr>
      </p:pic>
      <p:pic>
        <p:nvPicPr>
          <p:cNvPr id="9" name="图片 8"/>
          <p:cNvPicPr>
            <a:picLocks noChangeAspect="1"/>
          </p:cNvPicPr>
          <p:nvPr/>
        </p:nvPicPr>
        <p:blipFill>
          <a:blip r:embed="rId3"/>
          <a:stretch>
            <a:fillRect/>
          </a:stretch>
        </p:blipFill>
        <p:spPr>
          <a:xfrm>
            <a:off x="639128" y="6356985"/>
            <a:ext cx="12006263" cy="3290888"/>
          </a:xfrm>
          <a:prstGeom prst="rect">
            <a:avLst/>
          </a:prstGeom>
        </p:spPr>
      </p:pic>
      <p:sp>
        <p:nvSpPr>
          <p:cNvPr id="190" name="Freeform 30"/>
          <p:cNvSpPr/>
          <p:nvPr>
            <p:custDataLst>
              <p:tags r:id="rId4"/>
            </p:custDataLst>
          </p:nvPr>
        </p:nvSpPr>
        <p:spPr>
          <a:xfrm>
            <a:off x="15468688" y="343041"/>
            <a:ext cx="2187262" cy="656549"/>
          </a:xfrm>
          <a:custGeom>
            <a:avLst/>
            <a:gdLst/>
            <a:ahLst/>
            <a:cxnLst/>
            <a:rect l="l" t="t" r="r" b="b"/>
            <a:pathLst>
              <a:path w="2187262" h="656549">
                <a:moveTo>
                  <a:pt x="0" y="0"/>
                </a:moveTo>
                <a:lnTo>
                  <a:pt x="2187262" y="0"/>
                </a:lnTo>
                <a:lnTo>
                  <a:pt x="2187262" y="656549"/>
                </a:lnTo>
                <a:lnTo>
                  <a:pt x="0" y="656549"/>
                </a:lnTo>
                <a:lnTo>
                  <a:pt x="0" y="0"/>
                </a:lnTo>
                <a:close/>
              </a:path>
            </a:pathLst>
          </a:custGeom>
          <a:blipFill>
            <a:blip r:embed="rId5"/>
            <a:stretch>
              <a:fillRect/>
            </a:stretch>
          </a:blipFill>
        </p:spPr>
      </p:sp>
    </p:spTree>
    <p:custDataLst>
      <p:tags r:id="rId6"/>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518160" y="468630"/>
            <a:ext cx="5971223" cy="645160"/>
          </a:xfrm>
          <a:prstGeom prst="rect">
            <a:avLst/>
          </a:prstGeom>
          <a:noFill/>
        </p:spPr>
        <p:txBody>
          <a:bodyPr wrap="square" rtlCol="0">
            <a:spAutoFit/>
          </a:bodyPr>
          <a:p>
            <a:r>
              <a:rPr lang="en-US" altLang="zh-CN" sz="3600" b="1"/>
              <a:t>GaLore</a:t>
            </a:r>
            <a:endParaRPr lang="en-US" altLang="zh-CN" sz="3600" b="1"/>
          </a:p>
        </p:txBody>
      </p:sp>
      <p:sp>
        <p:nvSpPr>
          <p:cNvPr id="3" name="文本框 2"/>
          <p:cNvSpPr txBox="1"/>
          <p:nvPr/>
        </p:nvSpPr>
        <p:spPr>
          <a:xfrm>
            <a:off x="518160" y="1381125"/>
            <a:ext cx="14563725" cy="2168525"/>
          </a:xfrm>
          <a:prstGeom prst="rect">
            <a:avLst/>
          </a:prstGeom>
          <a:noFill/>
        </p:spPr>
        <p:txBody>
          <a:bodyPr wrap="square" rtlCol="0">
            <a:spAutoFit/>
          </a:bodyPr>
          <a:p>
            <a:pPr indent="0" fontAlgn="auto">
              <a:lnSpc>
                <a:spcPct val="150000"/>
              </a:lnSpc>
            </a:pPr>
            <a:r>
              <a:rPr lang="en-US" sz="3000"/>
              <a:t>Motivation</a:t>
            </a:r>
            <a:r>
              <a:rPr lang="zh-CN" altLang="en-US" sz="3000"/>
              <a:t>：不再选择性更新参数，而是通过低秩投影压缩梯度，从而压缩优化器内存。训练</a:t>
            </a:r>
            <a:r>
              <a:rPr lang="en-US" altLang="zh-CN" sz="3000"/>
              <a:t> LLM </a:t>
            </a:r>
            <a:r>
              <a:rPr lang="zh-CN" altLang="en-US" sz="3000"/>
              <a:t>的内存瓶颈主要在优化器状态（如</a:t>
            </a:r>
            <a:r>
              <a:rPr lang="en-US" altLang="zh-CN" sz="3000"/>
              <a:t> Adam </a:t>
            </a:r>
            <a:r>
              <a:rPr lang="zh-CN" altLang="en-US" sz="3000"/>
              <a:t>的动量和方差）。</a:t>
            </a:r>
            <a:r>
              <a:rPr lang="en-US" altLang="zh-CN" sz="3000"/>
              <a:t>LoRA</a:t>
            </a:r>
            <a:r>
              <a:rPr lang="zh-CN" altLang="en-US" sz="3000"/>
              <a:t>效果差可能由于参数矩阵本身不低秩，而梯度矩阵则具有近似低秩的性质（更新差异大）。</a:t>
            </a:r>
            <a:endParaRPr lang="zh-CN" altLang="en-US" sz="3000"/>
          </a:p>
        </p:txBody>
      </p:sp>
      <p:pic>
        <p:nvPicPr>
          <p:cNvPr id="2" name="图片 1"/>
          <p:cNvPicPr>
            <a:picLocks noChangeAspect="1"/>
          </p:cNvPicPr>
          <p:nvPr/>
        </p:nvPicPr>
        <p:blipFill>
          <a:blip r:embed="rId1"/>
          <a:stretch>
            <a:fillRect/>
          </a:stretch>
        </p:blipFill>
        <p:spPr>
          <a:xfrm>
            <a:off x="2358390" y="3709035"/>
            <a:ext cx="6034088" cy="5390198"/>
          </a:xfrm>
          <a:prstGeom prst="rect">
            <a:avLst/>
          </a:prstGeom>
        </p:spPr>
      </p:pic>
      <p:sp>
        <p:nvSpPr>
          <p:cNvPr id="10" name="文本框 9"/>
          <p:cNvSpPr txBox="1"/>
          <p:nvPr/>
        </p:nvSpPr>
        <p:spPr>
          <a:xfrm>
            <a:off x="740093" y="9359265"/>
            <a:ext cx="15755303" cy="645160"/>
          </a:xfrm>
          <a:prstGeom prst="rect">
            <a:avLst/>
          </a:prstGeom>
          <a:noFill/>
        </p:spPr>
        <p:txBody>
          <a:bodyPr wrap="square" rtlCol="0">
            <a:spAutoFit/>
          </a:bodyPr>
          <a:p>
            <a:pPr algn="just"/>
            <a:r>
              <a:rPr lang="en-US" altLang="zh-CN">
                <a:latin typeface="Times New Roman" panose="02020603050405020304" charset="0"/>
                <a:cs typeface="Times New Roman" panose="02020603050405020304" charset="0"/>
              </a:rPr>
              <a:t>Jiawei Zhao, Zhenyu Zhang, Beidi Chen, Zhangyang Wang, Anima Anandkumar, and Yuandong Tian. Galore: Memory-efficient llm training by gradient low-rank projection. arXiv preprint arXiv:2403.03507, 2024.</a:t>
            </a:r>
            <a:endParaRPr lang="en-US" altLang="zh-CN">
              <a:latin typeface="Times New Roman" panose="02020603050405020304" charset="0"/>
              <a:cs typeface="Times New Roman" panose="02020603050405020304" charset="0"/>
            </a:endParaRPr>
          </a:p>
        </p:txBody>
      </p:sp>
      <p:pic>
        <p:nvPicPr>
          <p:cNvPr id="5" name="图片 4"/>
          <p:cNvPicPr>
            <a:picLocks noChangeAspect="1"/>
          </p:cNvPicPr>
          <p:nvPr/>
        </p:nvPicPr>
        <p:blipFill>
          <a:blip r:embed="rId2"/>
          <a:stretch>
            <a:fillRect/>
          </a:stretch>
        </p:blipFill>
        <p:spPr>
          <a:xfrm>
            <a:off x="8955405" y="5291138"/>
            <a:ext cx="6126480" cy="971550"/>
          </a:xfrm>
          <a:prstGeom prst="rect">
            <a:avLst/>
          </a:prstGeom>
        </p:spPr>
      </p:pic>
      <p:sp>
        <p:nvSpPr>
          <p:cNvPr id="190" name="Freeform 30"/>
          <p:cNvSpPr/>
          <p:nvPr>
            <p:custDataLst>
              <p:tags r:id="rId3"/>
            </p:custDataLst>
          </p:nvPr>
        </p:nvSpPr>
        <p:spPr>
          <a:xfrm>
            <a:off x="15468688" y="343041"/>
            <a:ext cx="2187262" cy="656549"/>
          </a:xfrm>
          <a:custGeom>
            <a:avLst/>
            <a:gdLst/>
            <a:ahLst/>
            <a:cxnLst/>
            <a:rect l="l" t="t" r="r" b="b"/>
            <a:pathLst>
              <a:path w="2187262" h="656549">
                <a:moveTo>
                  <a:pt x="0" y="0"/>
                </a:moveTo>
                <a:lnTo>
                  <a:pt x="2187262" y="0"/>
                </a:lnTo>
                <a:lnTo>
                  <a:pt x="2187262" y="656549"/>
                </a:lnTo>
                <a:lnTo>
                  <a:pt x="0" y="656549"/>
                </a:lnTo>
                <a:lnTo>
                  <a:pt x="0" y="0"/>
                </a:lnTo>
                <a:close/>
              </a:path>
            </a:pathLst>
          </a:custGeom>
          <a:blipFill>
            <a:blip r:embed="rId4"/>
            <a:stretch>
              <a:fillRect/>
            </a:stretch>
          </a:blipFill>
        </p:spPr>
      </p:sp>
    </p:spTree>
    <p:custDataLst>
      <p:tags r:id="rId5"/>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518160" y="468630"/>
            <a:ext cx="5971223" cy="645160"/>
          </a:xfrm>
          <a:prstGeom prst="rect">
            <a:avLst/>
          </a:prstGeom>
          <a:noFill/>
        </p:spPr>
        <p:txBody>
          <a:bodyPr wrap="square" rtlCol="0">
            <a:spAutoFit/>
          </a:bodyPr>
          <a:p>
            <a:r>
              <a:rPr lang="en-US" altLang="zh-CN" sz="3600" b="1"/>
              <a:t>GaLore</a:t>
            </a:r>
            <a:endParaRPr lang="en-US" altLang="zh-CN" sz="3600" b="1"/>
          </a:p>
        </p:txBody>
      </p:sp>
      <p:pic>
        <p:nvPicPr>
          <p:cNvPr id="5" name="图片 4"/>
          <p:cNvPicPr>
            <a:picLocks noChangeAspect="1"/>
          </p:cNvPicPr>
          <p:nvPr/>
        </p:nvPicPr>
        <p:blipFill>
          <a:blip r:embed="rId1"/>
          <a:stretch>
            <a:fillRect/>
          </a:stretch>
        </p:blipFill>
        <p:spPr>
          <a:xfrm>
            <a:off x="3962400" y="1159193"/>
            <a:ext cx="7783830" cy="9061133"/>
          </a:xfrm>
          <a:prstGeom prst="rect">
            <a:avLst/>
          </a:prstGeom>
        </p:spPr>
      </p:pic>
      <p:sp>
        <p:nvSpPr>
          <p:cNvPr id="7" name="矩形 6"/>
          <p:cNvSpPr/>
          <p:nvPr/>
        </p:nvSpPr>
        <p:spPr>
          <a:xfrm>
            <a:off x="4477703" y="4076700"/>
            <a:ext cx="2811780" cy="293370"/>
          </a:xfrm>
          <a:prstGeom prst="rect">
            <a:avLst/>
          </a:prstGeom>
          <a:no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2700"/>
          </a:p>
        </p:txBody>
      </p:sp>
      <p:sp>
        <p:nvSpPr>
          <p:cNvPr id="190" name="Freeform 30"/>
          <p:cNvSpPr/>
          <p:nvPr>
            <p:custDataLst>
              <p:tags r:id="rId2"/>
            </p:custDataLst>
          </p:nvPr>
        </p:nvSpPr>
        <p:spPr>
          <a:xfrm>
            <a:off x="15468688" y="343041"/>
            <a:ext cx="2187262" cy="656549"/>
          </a:xfrm>
          <a:custGeom>
            <a:avLst/>
            <a:gdLst/>
            <a:ahLst/>
            <a:cxnLst/>
            <a:rect l="l" t="t" r="r" b="b"/>
            <a:pathLst>
              <a:path w="2187262" h="656549">
                <a:moveTo>
                  <a:pt x="0" y="0"/>
                </a:moveTo>
                <a:lnTo>
                  <a:pt x="2187262" y="0"/>
                </a:lnTo>
                <a:lnTo>
                  <a:pt x="2187262" y="656549"/>
                </a:lnTo>
                <a:lnTo>
                  <a:pt x="0" y="656549"/>
                </a:lnTo>
                <a:lnTo>
                  <a:pt x="0" y="0"/>
                </a:lnTo>
                <a:close/>
              </a:path>
            </a:pathLst>
          </a:custGeom>
          <a:blipFill>
            <a:blip r:embed="rId3"/>
            <a:stretch>
              <a:fillRect/>
            </a:stretch>
          </a:blipFill>
        </p:spPr>
      </p:sp>
    </p:spTree>
    <p:custDataLst>
      <p:tags r:id="rId4"/>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518160" y="468630"/>
            <a:ext cx="5971223" cy="645160"/>
          </a:xfrm>
          <a:prstGeom prst="rect">
            <a:avLst/>
          </a:prstGeom>
          <a:noFill/>
        </p:spPr>
        <p:txBody>
          <a:bodyPr wrap="square" rtlCol="0">
            <a:spAutoFit/>
          </a:bodyPr>
          <a:p>
            <a:r>
              <a:rPr lang="en-US" altLang="zh-CN" sz="3600" b="1"/>
              <a:t>Online Subspace Descent</a:t>
            </a:r>
            <a:endParaRPr lang="en-US" altLang="zh-CN" sz="3600" b="1"/>
          </a:p>
        </p:txBody>
      </p:sp>
      <p:sp>
        <p:nvSpPr>
          <p:cNvPr id="2" name="文本框 1"/>
          <p:cNvSpPr txBox="1"/>
          <p:nvPr/>
        </p:nvSpPr>
        <p:spPr>
          <a:xfrm>
            <a:off x="518160" y="1381125"/>
            <a:ext cx="13435013" cy="1476375"/>
          </a:xfrm>
          <a:prstGeom prst="rect">
            <a:avLst/>
          </a:prstGeom>
          <a:noFill/>
        </p:spPr>
        <p:txBody>
          <a:bodyPr wrap="square" rtlCol="0">
            <a:spAutoFit/>
          </a:bodyPr>
          <a:p>
            <a:pPr indent="0" fontAlgn="auto">
              <a:lnSpc>
                <a:spcPct val="150000"/>
              </a:lnSpc>
            </a:pPr>
            <a:r>
              <a:rPr lang="en-US" sz="3000"/>
              <a:t>Motivation</a:t>
            </a:r>
            <a:r>
              <a:rPr lang="zh-CN" altLang="en-US" sz="3000"/>
              <a:t>：</a:t>
            </a:r>
            <a:r>
              <a:rPr lang="en-US" altLang="zh-CN" sz="3000"/>
              <a:t>GaLore</a:t>
            </a:r>
            <a:r>
              <a:rPr lang="zh-CN" altLang="en-US" sz="3000"/>
              <a:t>系列方法</a:t>
            </a:r>
            <a:r>
              <a:rPr lang="en-US" altLang="zh-CN" sz="3000"/>
              <a:t>SVD</a:t>
            </a:r>
            <a:r>
              <a:rPr lang="zh-CN" altLang="en-US" sz="3000"/>
              <a:t>的计算是周期性的，不是连续的，迭代更新会存在滞后性和不一致性；再者计算一次全权重的</a:t>
            </a:r>
            <a:r>
              <a:rPr lang="en-US" altLang="zh-CN" sz="3000"/>
              <a:t>SVD</a:t>
            </a:r>
            <a:r>
              <a:rPr lang="zh-CN" altLang="en-US" sz="3000"/>
              <a:t>太慢。</a:t>
            </a:r>
            <a:endParaRPr lang="zh-CN" altLang="en-US" sz="3000"/>
          </a:p>
        </p:txBody>
      </p:sp>
      <p:sp>
        <p:nvSpPr>
          <p:cNvPr id="10" name="文本框 9"/>
          <p:cNvSpPr txBox="1"/>
          <p:nvPr/>
        </p:nvSpPr>
        <p:spPr>
          <a:xfrm>
            <a:off x="740093" y="9359265"/>
            <a:ext cx="15755303" cy="368300"/>
          </a:xfrm>
          <a:prstGeom prst="rect">
            <a:avLst/>
          </a:prstGeom>
          <a:noFill/>
        </p:spPr>
        <p:txBody>
          <a:bodyPr wrap="square" rtlCol="0">
            <a:spAutoFit/>
          </a:bodyPr>
          <a:p>
            <a:pPr algn="just"/>
            <a:r>
              <a:rPr lang="en-US" altLang="zh-CN">
                <a:latin typeface="Times New Roman" panose="02020603050405020304" charset="0"/>
                <a:cs typeface="Times New Roman" panose="02020603050405020304" charset="0"/>
              </a:rPr>
              <a:t>Memory-Efficient LLM Training with Online Subspace Descent. Advances in Neural Information Processing Systems, 2025.</a:t>
            </a:r>
            <a:endParaRPr lang="en-US" altLang="zh-CN">
              <a:latin typeface="Times New Roman" panose="02020603050405020304" charset="0"/>
              <a:cs typeface="Times New Roman" panose="02020603050405020304" charset="0"/>
            </a:endParaRPr>
          </a:p>
        </p:txBody>
      </p:sp>
      <p:pic>
        <p:nvPicPr>
          <p:cNvPr id="11" name="图片 10"/>
          <p:cNvPicPr>
            <a:picLocks noChangeAspect="1"/>
          </p:cNvPicPr>
          <p:nvPr/>
        </p:nvPicPr>
        <p:blipFill>
          <a:blip r:embed="rId1"/>
          <a:stretch>
            <a:fillRect/>
          </a:stretch>
        </p:blipFill>
        <p:spPr>
          <a:xfrm>
            <a:off x="2660333" y="3521393"/>
            <a:ext cx="11292840" cy="4789170"/>
          </a:xfrm>
          <a:prstGeom prst="rect">
            <a:avLst/>
          </a:prstGeom>
        </p:spPr>
      </p:pic>
      <p:sp>
        <p:nvSpPr>
          <p:cNvPr id="190" name="Freeform 30"/>
          <p:cNvSpPr/>
          <p:nvPr>
            <p:custDataLst>
              <p:tags r:id="rId2"/>
            </p:custDataLst>
          </p:nvPr>
        </p:nvSpPr>
        <p:spPr>
          <a:xfrm>
            <a:off x="15468688" y="343041"/>
            <a:ext cx="2187262" cy="656549"/>
          </a:xfrm>
          <a:custGeom>
            <a:avLst/>
            <a:gdLst/>
            <a:ahLst/>
            <a:cxnLst/>
            <a:rect l="l" t="t" r="r" b="b"/>
            <a:pathLst>
              <a:path w="2187262" h="656549">
                <a:moveTo>
                  <a:pt x="0" y="0"/>
                </a:moveTo>
                <a:lnTo>
                  <a:pt x="2187262" y="0"/>
                </a:lnTo>
                <a:lnTo>
                  <a:pt x="2187262" y="656549"/>
                </a:lnTo>
                <a:lnTo>
                  <a:pt x="0" y="656549"/>
                </a:lnTo>
                <a:lnTo>
                  <a:pt x="0" y="0"/>
                </a:lnTo>
                <a:close/>
              </a:path>
            </a:pathLst>
          </a:custGeom>
          <a:blipFill>
            <a:blip r:embed="rId3"/>
            <a:stretch>
              <a:fillRect/>
            </a:stretch>
          </a:blipFill>
        </p:spPr>
      </p:sp>
    </p:spTree>
    <p:custDataLst>
      <p:tags r:id="rId4"/>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518160" y="468630"/>
            <a:ext cx="5971223" cy="645160"/>
          </a:xfrm>
          <a:prstGeom prst="rect">
            <a:avLst/>
          </a:prstGeom>
          <a:noFill/>
        </p:spPr>
        <p:txBody>
          <a:bodyPr wrap="square" rtlCol="0">
            <a:spAutoFit/>
          </a:bodyPr>
          <a:p>
            <a:r>
              <a:rPr lang="en-US" altLang="zh-CN" sz="3600" b="1"/>
              <a:t>Online Subspace Descent</a:t>
            </a:r>
            <a:endParaRPr lang="en-US" altLang="zh-CN" sz="3600" b="1"/>
          </a:p>
        </p:txBody>
      </p:sp>
      <p:pic>
        <p:nvPicPr>
          <p:cNvPr id="7" name="图片 6"/>
          <p:cNvPicPr>
            <a:picLocks noChangeAspect="1"/>
          </p:cNvPicPr>
          <p:nvPr/>
        </p:nvPicPr>
        <p:blipFill>
          <a:blip r:embed="rId1"/>
          <a:stretch>
            <a:fillRect/>
          </a:stretch>
        </p:blipFill>
        <p:spPr>
          <a:xfrm>
            <a:off x="2663190" y="1513523"/>
            <a:ext cx="11487150" cy="4972050"/>
          </a:xfrm>
          <a:prstGeom prst="rect">
            <a:avLst/>
          </a:prstGeom>
        </p:spPr>
      </p:pic>
      <p:pic>
        <p:nvPicPr>
          <p:cNvPr id="3" name="图片 2"/>
          <p:cNvPicPr>
            <a:picLocks noChangeAspect="1"/>
          </p:cNvPicPr>
          <p:nvPr/>
        </p:nvPicPr>
        <p:blipFill>
          <a:blip r:embed="rId2"/>
          <a:stretch>
            <a:fillRect/>
          </a:stretch>
        </p:blipFill>
        <p:spPr>
          <a:xfrm>
            <a:off x="3388043" y="7019925"/>
            <a:ext cx="10458450" cy="400050"/>
          </a:xfrm>
          <a:prstGeom prst="rect">
            <a:avLst/>
          </a:prstGeom>
        </p:spPr>
      </p:pic>
      <p:pic>
        <p:nvPicPr>
          <p:cNvPr id="5" name="图片 4"/>
          <p:cNvPicPr>
            <a:picLocks noChangeAspect="1"/>
          </p:cNvPicPr>
          <p:nvPr/>
        </p:nvPicPr>
        <p:blipFill>
          <a:blip r:embed="rId3"/>
          <a:stretch>
            <a:fillRect/>
          </a:stretch>
        </p:blipFill>
        <p:spPr>
          <a:xfrm>
            <a:off x="4031933" y="7594283"/>
            <a:ext cx="8503920" cy="857250"/>
          </a:xfrm>
          <a:prstGeom prst="rect">
            <a:avLst/>
          </a:prstGeom>
        </p:spPr>
      </p:pic>
      <p:sp>
        <p:nvSpPr>
          <p:cNvPr id="8" name="矩形 7"/>
          <p:cNvSpPr/>
          <p:nvPr/>
        </p:nvSpPr>
        <p:spPr>
          <a:xfrm>
            <a:off x="2998470" y="6739890"/>
            <a:ext cx="11149013" cy="1760220"/>
          </a:xfrm>
          <a:prstGeom prst="rect">
            <a:avLst/>
          </a:prstGeom>
          <a:no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2700"/>
          </a:p>
        </p:txBody>
      </p:sp>
      <p:pic>
        <p:nvPicPr>
          <p:cNvPr id="9" name="图片 8"/>
          <p:cNvPicPr>
            <a:picLocks noChangeAspect="1"/>
          </p:cNvPicPr>
          <p:nvPr/>
        </p:nvPicPr>
        <p:blipFill>
          <a:blip r:embed="rId4"/>
          <a:stretch>
            <a:fillRect/>
          </a:stretch>
        </p:blipFill>
        <p:spPr>
          <a:xfrm>
            <a:off x="2663190" y="8754428"/>
            <a:ext cx="11258550" cy="1268730"/>
          </a:xfrm>
          <a:prstGeom prst="rect">
            <a:avLst/>
          </a:prstGeom>
        </p:spPr>
      </p:pic>
      <p:sp>
        <p:nvSpPr>
          <p:cNvPr id="190" name="Freeform 30"/>
          <p:cNvSpPr/>
          <p:nvPr>
            <p:custDataLst>
              <p:tags r:id="rId5"/>
            </p:custDataLst>
          </p:nvPr>
        </p:nvSpPr>
        <p:spPr>
          <a:xfrm>
            <a:off x="15468688" y="343041"/>
            <a:ext cx="2187262" cy="656549"/>
          </a:xfrm>
          <a:custGeom>
            <a:avLst/>
            <a:gdLst/>
            <a:ahLst/>
            <a:cxnLst/>
            <a:rect l="l" t="t" r="r" b="b"/>
            <a:pathLst>
              <a:path w="2187262" h="656549">
                <a:moveTo>
                  <a:pt x="0" y="0"/>
                </a:moveTo>
                <a:lnTo>
                  <a:pt x="2187262" y="0"/>
                </a:lnTo>
                <a:lnTo>
                  <a:pt x="2187262" y="656549"/>
                </a:lnTo>
                <a:lnTo>
                  <a:pt x="0" y="656549"/>
                </a:lnTo>
                <a:lnTo>
                  <a:pt x="0" y="0"/>
                </a:lnTo>
                <a:close/>
              </a:path>
            </a:pathLst>
          </a:custGeom>
          <a:blipFill>
            <a:blip r:embed="rId6"/>
            <a:stretch>
              <a:fillRect/>
            </a:stretch>
          </a:blipFill>
        </p:spPr>
      </p:sp>
    </p:spTree>
    <p:custDataLst>
      <p:tags r:id="rId7"/>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518160" y="468630"/>
            <a:ext cx="5971223" cy="645160"/>
          </a:xfrm>
          <a:prstGeom prst="rect">
            <a:avLst/>
          </a:prstGeom>
          <a:noFill/>
        </p:spPr>
        <p:txBody>
          <a:bodyPr wrap="square" rtlCol="0">
            <a:spAutoFit/>
          </a:bodyPr>
          <a:p>
            <a:r>
              <a:rPr lang="en-US" altLang="zh-CN" sz="3600" b="1"/>
              <a:t>Fira</a:t>
            </a:r>
            <a:endParaRPr lang="en-US" altLang="zh-CN" sz="3600" b="1"/>
          </a:p>
        </p:txBody>
      </p:sp>
      <p:sp>
        <p:nvSpPr>
          <p:cNvPr id="2" name="文本框 1"/>
          <p:cNvSpPr txBox="1"/>
          <p:nvPr/>
        </p:nvSpPr>
        <p:spPr>
          <a:xfrm>
            <a:off x="518160" y="1381125"/>
            <a:ext cx="13435013" cy="2168525"/>
          </a:xfrm>
          <a:prstGeom prst="rect">
            <a:avLst/>
          </a:prstGeom>
          <a:noFill/>
        </p:spPr>
        <p:txBody>
          <a:bodyPr wrap="square" rtlCol="0">
            <a:spAutoFit/>
          </a:bodyPr>
          <a:p>
            <a:pPr indent="0" fontAlgn="auto">
              <a:lnSpc>
                <a:spcPct val="150000"/>
              </a:lnSpc>
            </a:pPr>
            <a:r>
              <a:rPr lang="en-US" sz="3000"/>
              <a:t>Motivation</a:t>
            </a:r>
            <a:r>
              <a:rPr lang="zh-CN" altLang="en-US" sz="3000"/>
              <a:t>：</a:t>
            </a:r>
            <a:r>
              <a:rPr lang="zh-CN" altLang="en-US" sz="3000">
                <a:sym typeface="+mn-ea"/>
              </a:rPr>
              <a:t>由于投影操作</a:t>
            </a:r>
            <a:r>
              <a:rPr lang="en-US" altLang="zh-CN" sz="3000">
                <a:sym typeface="+mn-ea"/>
              </a:rPr>
              <a:t>PP</a:t>
            </a:r>
            <a:r>
              <a:rPr lang="en-US" altLang="zh-CN" sz="3000" baseline="30000">
                <a:sym typeface="+mn-ea"/>
              </a:rPr>
              <a:t>T</a:t>
            </a:r>
            <a:r>
              <a:rPr lang="en-US" altLang="zh-CN" sz="3000">
                <a:sym typeface="+mn-ea"/>
              </a:rPr>
              <a:t>G</a:t>
            </a:r>
            <a:r>
              <a:rPr lang="zh-CN" altLang="en-US" sz="3000">
                <a:sym typeface="+mn-ea"/>
              </a:rPr>
              <a:t>丢弃了正交补空间的信息，导致梯度估计是有偏的。这种偏差在训练初期或处理复杂任务时，会导致模型收敛到局部最优，或者无法达到全参数微调的精度。</a:t>
            </a:r>
            <a:endParaRPr lang="zh-CN" altLang="en-US" sz="3000"/>
          </a:p>
        </p:txBody>
      </p:sp>
      <p:sp>
        <p:nvSpPr>
          <p:cNvPr id="10" name="文本框 9"/>
          <p:cNvSpPr txBox="1"/>
          <p:nvPr/>
        </p:nvSpPr>
        <p:spPr>
          <a:xfrm>
            <a:off x="740093" y="9359265"/>
            <a:ext cx="15755303" cy="368300"/>
          </a:xfrm>
          <a:prstGeom prst="rect">
            <a:avLst/>
          </a:prstGeom>
          <a:noFill/>
        </p:spPr>
        <p:txBody>
          <a:bodyPr wrap="square" rtlCol="0">
            <a:spAutoFit/>
          </a:bodyPr>
          <a:p>
            <a:pPr algn="just"/>
            <a:r>
              <a:rPr lang="en-US" altLang="zh-CN">
                <a:latin typeface="Times New Roman" panose="02020603050405020304" charset="0"/>
                <a:cs typeface="Times New Roman" panose="02020603050405020304" charset="0"/>
              </a:rPr>
              <a:t>Fira: Can We Achieve Full-rank Training of LLMs Under Low-rank Constraint? Advances in Neural Information Processing Systems, 2025.</a:t>
            </a:r>
            <a:endParaRPr lang="en-US" altLang="zh-CN">
              <a:latin typeface="Times New Roman" panose="02020603050405020304" charset="0"/>
              <a:cs typeface="Times New Roman" panose="02020603050405020304" charset="0"/>
            </a:endParaRPr>
          </a:p>
        </p:txBody>
      </p:sp>
      <p:pic>
        <p:nvPicPr>
          <p:cNvPr id="5" name="图片 4"/>
          <p:cNvPicPr>
            <a:picLocks noChangeAspect="1"/>
          </p:cNvPicPr>
          <p:nvPr/>
        </p:nvPicPr>
        <p:blipFill>
          <a:blip r:embed="rId1"/>
          <a:stretch>
            <a:fillRect/>
          </a:stretch>
        </p:blipFill>
        <p:spPr>
          <a:xfrm>
            <a:off x="1849755" y="3951923"/>
            <a:ext cx="12801600" cy="3714750"/>
          </a:xfrm>
          <a:prstGeom prst="rect">
            <a:avLst/>
          </a:prstGeom>
        </p:spPr>
      </p:pic>
      <p:sp>
        <p:nvSpPr>
          <p:cNvPr id="8" name="矩形 7"/>
          <p:cNvSpPr/>
          <p:nvPr/>
        </p:nvSpPr>
        <p:spPr>
          <a:xfrm>
            <a:off x="2899410" y="6173153"/>
            <a:ext cx="1628775" cy="414338"/>
          </a:xfrm>
          <a:prstGeom prst="rect">
            <a:avLst/>
          </a:prstGeom>
          <a:no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2700"/>
          </a:p>
        </p:txBody>
      </p:sp>
      <p:sp>
        <p:nvSpPr>
          <p:cNvPr id="7" name="矩形 6"/>
          <p:cNvSpPr/>
          <p:nvPr/>
        </p:nvSpPr>
        <p:spPr>
          <a:xfrm>
            <a:off x="4718685" y="6916103"/>
            <a:ext cx="779145" cy="386715"/>
          </a:xfrm>
          <a:prstGeom prst="rect">
            <a:avLst/>
          </a:prstGeom>
          <a:no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2700"/>
          </a:p>
        </p:txBody>
      </p:sp>
      <p:sp>
        <p:nvSpPr>
          <p:cNvPr id="190" name="Freeform 30"/>
          <p:cNvSpPr/>
          <p:nvPr>
            <p:custDataLst>
              <p:tags r:id="rId2"/>
            </p:custDataLst>
          </p:nvPr>
        </p:nvSpPr>
        <p:spPr>
          <a:xfrm>
            <a:off x="15468688" y="343041"/>
            <a:ext cx="2187262" cy="656549"/>
          </a:xfrm>
          <a:custGeom>
            <a:avLst/>
            <a:gdLst/>
            <a:ahLst/>
            <a:cxnLst/>
            <a:rect l="l" t="t" r="r" b="b"/>
            <a:pathLst>
              <a:path w="2187262" h="656549">
                <a:moveTo>
                  <a:pt x="0" y="0"/>
                </a:moveTo>
                <a:lnTo>
                  <a:pt x="2187262" y="0"/>
                </a:lnTo>
                <a:lnTo>
                  <a:pt x="2187262" y="656549"/>
                </a:lnTo>
                <a:lnTo>
                  <a:pt x="0" y="656549"/>
                </a:lnTo>
                <a:lnTo>
                  <a:pt x="0" y="0"/>
                </a:lnTo>
                <a:close/>
              </a:path>
            </a:pathLst>
          </a:custGeom>
          <a:blipFill>
            <a:blip r:embed="rId3"/>
            <a:stretch>
              <a:fillRect/>
            </a:stretch>
          </a:blipFill>
        </p:spPr>
      </p:sp>
    </p:spTree>
    <p:custDataLst>
      <p:tags r:id="rId4"/>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518160" y="468630"/>
            <a:ext cx="5971223" cy="645160"/>
          </a:xfrm>
          <a:prstGeom prst="rect">
            <a:avLst/>
          </a:prstGeom>
          <a:noFill/>
        </p:spPr>
        <p:txBody>
          <a:bodyPr wrap="square" rtlCol="0">
            <a:spAutoFit/>
          </a:bodyPr>
          <a:p>
            <a:r>
              <a:rPr lang="en-US" altLang="zh-CN" sz="3600" b="1"/>
              <a:t>Fira</a:t>
            </a:r>
            <a:endParaRPr lang="en-US" altLang="zh-CN" sz="3600" b="1"/>
          </a:p>
        </p:txBody>
      </p:sp>
      <p:pic>
        <p:nvPicPr>
          <p:cNvPr id="23" name="图片 22"/>
          <p:cNvPicPr>
            <a:picLocks noChangeAspect="1"/>
          </p:cNvPicPr>
          <p:nvPr/>
        </p:nvPicPr>
        <p:blipFill>
          <a:blip r:embed="rId1"/>
          <a:stretch>
            <a:fillRect/>
          </a:stretch>
        </p:blipFill>
        <p:spPr>
          <a:xfrm>
            <a:off x="4999673" y="4372928"/>
            <a:ext cx="7143750" cy="4469130"/>
          </a:xfrm>
          <a:prstGeom prst="rect">
            <a:avLst/>
          </a:prstGeom>
        </p:spPr>
      </p:pic>
      <p:pic>
        <p:nvPicPr>
          <p:cNvPr id="24" name="图片 23"/>
          <p:cNvPicPr>
            <a:picLocks noChangeAspect="1"/>
          </p:cNvPicPr>
          <p:nvPr/>
        </p:nvPicPr>
        <p:blipFill>
          <a:blip r:embed="rId2"/>
          <a:stretch>
            <a:fillRect/>
          </a:stretch>
        </p:blipFill>
        <p:spPr>
          <a:xfrm>
            <a:off x="1580198" y="1994535"/>
            <a:ext cx="13430250" cy="1543050"/>
          </a:xfrm>
          <a:prstGeom prst="rect">
            <a:avLst/>
          </a:prstGeom>
        </p:spPr>
      </p:pic>
      <p:sp>
        <p:nvSpPr>
          <p:cNvPr id="25" name="矩形 24"/>
          <p:cNvSpPr/>
          <p:nvPr/>
        </p:nvSpPr>
        <p:spPr>
          <a:xfrm>
            <a:off x="14243685" y="2827020"/>
            <a:ext cx="880110" cy="57150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2700"/>
          </a:p>
        </p:txBody>
      </p:sp>
      <p:sp>
        <p:nvSpPr>
          <p:cNvPr id="190" name="Freeform 30"/>
          <p:cNvSpPr/>
          <p:nvPr>
            <p:custDataLst>
              <p:tags r:id="rId3"/>
            </p:custDataLst>
          </p:nvPr>
        </p:nvSpPr>
        <p:spPr>
          <a:xfrm>
            <a:off x="15468688" y="343041"/>
            <a:ext cx="2187262" cy="656549"/>
          </a:xfrm>
          <a:custGeom>
            <a:avLst/>
            <a:gdLst/>
            <a:ahLst/>
            <a:cxnLst/>
            <a:rect l="l" t="t" r="r" b="b"/>
            <a:pathLst>
              <a:path w="2187262" h="656549">
                <a:moveTo>
                  <a:pt x="0" y="0"/>
                </a:moveTo>
                <a:lnTo>
                  <a:pt x="2187262" y="0"/>
                </a:lnTo>
                <a:lnTo>
                  <a:pt x="2187262" y="656549"/>
                </a:lnTo>
                <a:lnTo>
                  <a:pt x="0" y="656549"/>
                </a:lnTo>
                <a:lnTo>
                  <a:pt x="0" y="0"/>
                </a:lnTo>
                <a:close/>
              </a:path>
            </a:pathLst>
          </a:custGeom>
          <a:blipFill>
            <a:blip r:embed="rId4"/>
            <a:stretch>
              <a:fillRect/>
            </a:stretch>
          </a:blipFill>
        </p:spPr>
      </p:sp>
    </p:spTree>
    <p:custDataLst>
      <p:tags r:id="rId5"/>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518160" y="468630"/>
            <a:ext cx="5971223" cy="645160"/>
          </a:xfrm>
          <a:prstGeom prst="rect">
            <a:avLst/>
          </a:prstGeom>
          <a:noFill/>
        </p:spPr>
        <p:txBody>
          <a:bodyPr wrap="square" rtlCol="0">
            <a:spAutoFit/>
          </a:bodyPr>
          <a:p>
            <a:r>
              <a:rPr lang="en-US" altLang="zh-CN" sz="3600" b="1"/>
              <a:t>Fira</a:t>
            </a:r>
            <a:endParaRPr lang="en-US" altLang="zh-CN" sz="3600" b="1"/>
          </a:p>
        </p:txBody>
      </p:sp>
      <p:sp>
        <p:nvSpPr>
          <p:cNvPr id="2" name="文本框 1"/>
          <p:cNvSpPr txBox="1"/>
          <p:nvPr/>
        </p:nvSpPr>
        <p:spPr>
          <a:xfrm>
            <a:off x="3480435" y="1455420"/>
            <a:ext cx="1366838" cy="755333"/>
          </a:xfrm>
          <a:prstGeom prst="rect">
            <a:avLst/>
          </a:prstGeom>
          <a:noFill/>
        </p:spPr>
        <p:txBody>
          <a:bodyPr wrap="square" rtlCol="0">
            <a:noAutofit/>
          </a:bodyPr>
          <a:p>
            <a:pPr indent="0" fontAlgn="auto">
              <a:lnSpc>
                <a:spcPct val="150000"/>
              </a:lnSpc>
            </a:pPr>
            <a:r>
              <a:rPr lang="en-US" sz="3000"/>
              <a:t>Adam</a:t>
            </a:r>
            <a:endParaRPr lang="en-US" sz="3000"/>
          </a:p>
        </p:txBody>
      </p:sp>
      <p:grpSp>
        <p:nvGrpSpPr>
          <p:cNvPr id="11" name="组合 10"/>
          <p:cNvGrpSpPr/>
          <p:nvPr/>
        </p:nvGrpSpPr>
        <p:grpSpPr>
          <a:xfrm>
            <a:off x="6467475" y="1639253"/>
            <a:ext cx="4857750" cy="2674620"/>
            <a:chOff x="5640" y="3049"/>
            <a:chExt cx="5100" cy="2808"/>
          </a:xfrm>
        </p:grpSpPr>
        <p:pic>
          <p:nvPicPr>
            <p:cNvPr id="3" name="图片 2"/>
            <p:cNvPicPr>
              <a:picLocks noChangeAspect="1"/>
            </p:cNvPicPr>
            <p:nvPr/>
          </p:nvPicPr>
          <p:blipFill>
            <a:blip r:embed="rId1"/>
            <a:stretch>
              <a:fillRect/>
            </a:stretch>
          </p:blipFill>
          <p:spPr>
            <a:xfrm>
              <a:off x="5640" y="3649"/>
              <a:ext cx="5100" cy="2208"/>
            </a:xfrm>
            <a:prstGeom prst="rect">
              <a:avLst/>
            </a:prstGeom>
          </p:spPr>
        </p:pic>
        <p:pic>
          <p:nvPicPr>
            <p:cNvPr id="9" name="图片 8"/>
            <p:cNvPicPr>
              <a:picLocks noChangeAspect="1"/>
            </p:cNvPicPr>
            <p:nvPr/>
          </p:nvPicPr>
          <p:blipFill>
            <a:blip r:embed="rId2"/>
            <a:stretch>
              <a:fillRect/>
            </a:stretch>
          </p:blipFill>
          <p:spPr>
            <a:xfrm>
              <a:off x="6063" y="3049"/>
              <a:ext cx="3672" cy="600"/>
            </a:xfrm>
            <a:prstGeom prst="rect">
              <a:avLst/>
            </a:prstGeom>
          </p:spPr>
        </p:pic>
      </p:grpSp>
      <p:sp>
        <p:nvSpPr>
          <p:cNvPr id="12" name="矩形 11"/>
          <p:cNvSpPr/>
          <p:nvPr/>
        </p:nvSpPr>
        <p:spPr>
          <a:xfrm>
            <a:off x="10074593" y="2782253"/>
            <a:ext cx="580073" cy="536258"/>
          </a:xfrm>
          <a:prstGeom prst="rect">
            <a:avLst/>
          </a:prstGeom>
          <a:no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2700"/>
          </a:p>
        </p:txBody>
      </p:sp>
      <p:pic>
        <p:nvPicPr>
          <p:cNvPr id="13" name="图片 12"/>
          <p:cNvPicPr>
            <a:picLocks noChangeAspect="1"/>
          </p:cNvPicPr>
          <p:nvPr/>
        </p:nvPicPr>
        <p:blipFill>
          <a:blip r:embed="rId3"/>
          <a:stretch>
            <a:fillRect/>
          </a:stretch>
        </p:blipFill>
        <p:spPr>
          <a:xfrm>
            <a:off x="6742748" y="4572000"/>
            <a:ext cx="3691890" cy="571500"/>
          </a:xfrm>
          <a:prstGeom prst="rect">
            <a:avLst/>
          </a:prstGeom>
        </p:spPr>
      </p:pic>
      <p:pic>
        <p:nvPicPr>
          <p:cNvPr id="14" name="图片 13"/>
          <p:cNvPicPr>
            <a:picLocks noChangeAspect="1"/>
          </p:cNvPicPr>
          <p:nvPr/>
        </p:nvPicPr>
        <p:blipFill>
          <a:blip r:embed="rId4"/>
          <a:stretch>
            <a:fillRect/>
          </a:stretch>
        </p:blipFill>
        <p:spPr>
          <a:xfrm>
            <a:off x="7723823" y="5365433"/>
            <a:ext cx="1817370" cy="411480"/>
          </a:xfrm>
          <a:prstGeom prst="rect">
            <a:avLst/>
          </a:prstGeom>
        </p:spPr>
      </p:pic>
      <p:sp>
        <p:nvSpPr>
          <p:cNvPr id="16" name="文本框 15"/>
          <p:cNvSpPr txBox="1"/>
          <p:nvPr/>
        </p:nvSpPr>
        <p:spPr>
          <a:xfrm>
            <a:off x="3480435" y="4403408"/>
            <a:ext cx="1752600" cy="755333"/>
          </a:xfrm>
          <a:prstGeom prst="rect">
            <a:avLst/>
          </a:prstGeom>
          <a:noFill/>
        </p:spPr>
        <p:txBody>
          <a:bodyPr wrap="square" rtlCol="0">
            <a:noAutofit/>
          </a:bodyPr>
          <a:p>
            <a:pPr indent="0" fontAlgn="auto">
              <a:lnSpc>
                <a:spcPct val="150000"/>
              </a:lnSpc>
            </a:pPr>
            <a:r>
              <a:rPr lang="en-US" sz="3000"/>
              <a:t>GaLore</a:t>
            </a:r>
            <a:endParaRPr lang="en-US" sz="3000"/>
          </a:p>
        </p:txBody>
      </p:sp>
      <p:sp>
        <p:nvSpPr>
          <p:cNvPr id="17" name="文本框 16"/>
          <p:cNvSpPr txBox="1"/>
          <p:nvPr/>
        </p:nvSpPr>
        <p:spPr>
          <a:xfrm>
            <a:off x="3480435" y="6362700"/>
            <a:ext cx="2323148" cy="755333"/>
          </a:xfrm>
          <a:prstGeom prst="rect">
            <a:avLst/>
          </a:prstGeom>
          <a:noFill/>
        </p:spPr>
        <p:txBody>
          <a:bodyPr wrap="square" rtlCol="0">
            <a:noAutofit/>
          </a:bodyPr>
          <a:p>
            <a:pPr indent="0" fontAlgn="auto">
              <a:lnSpc>
                <a:spcPct val="150000"/>
              </a:lnSpc>
            </a:pPr>
            <a:r>
              <a:rPr lang="en-US" sz="3000"/>
              <a:t>GaLore-add</a:t>
            </a:r>
            <a:endParaRPr lang="en-US" sz="3000"/>
          </a:p>
        </p:txBody>
      </p:sp>
      <p:pic>
        <p:nvPicPr>
          <p:cNvPr id="18" name="图片 17"/>
          <p:cNvPicPr>
            <a:picLocks noChangeAspect="1"/>
          </p:cNvPicPr>
          <p:nvPr/>
        </p:nvPicPr>
        <p:blipFill>
          <a:blip r:embed="rId5"/>
          <a:stretch>
            <a:fillRect/>
          </a:stretch>
        </p:blipFill>
        <p:spPr>
          <a:xfrm>
            <a:off x="6467475" y="6592253"/>
            <a:ext cx="6103620" cy="525780"/>
          </a:xfrm>
          <a:prstGeom prst="rect">
            <a:avLst/>
          </a:prstGeom>
        </p:spPr>
      </p:pic>
      <p:pic>
        <p:nvPicPr>
          <p:cNvPr id="19" name="图片 18"/>
          <p:cNvPicPr>
            <a:picLocks noChangeAspect="1"/>
          </p:cNvPicPr>
          <p:nvPr/>
        </p:nvPicPr>
        <p:blipFill>
          <a:blip r:embed="rId6"/>
          <a:stretch>
            <a:fillRect/>
          </a:stretch>
        </p:blipFill>
        <p:spPr>
          <a:xfrm>
            <a:off x="6467475" y="7626668"/>
            <a:ext cx="7006590" cy="514350"/>
          </a:xfrm>
          <a:prstGeom prst="rect">
            <a:avLst/>
          </a:prstGeom>
        </p:spPr>
      </p:pic>
      <p:sp>
        <p:nvSpPr>
          <p:cNvPr id="21" name="文本框 20"/>
          <p:cNvSpPr txBox="1"/>
          <p:nvPr/>
        </p:nvSpPr>
        <p:spPr>
          <a:xfrm>
            <a:off x="3480435" y="7385685"/>
            <a:ext cx="2323148" cy="755333"/>
          </a:xfrm>
          <a:prstGeom prst="rect">
            <a:avLst/>
          </a:prstGeom>
          <a:noFill/>
        </p:spPr>
        <p:txBody>
          <a:bodyPr wrap="square" rtlCol="0">
            <a:noAutofit/>
          </a:bodyPr>
          <a:p>
            <a:pPr indent="0" fontAlgn="auto">
              <a:lnSpc>
                <a:spcPct val="150000"/>
              </a:lnSpc>
            </a:pPr>
            <a:r>
              <a:rPr lang="en-US" sz="3000"/>
              <a:t>Fira</a:t>
            </a:r>
            <a:endParaRPr lang="en-US" sz="3000"/>
          </a:p>
        </p:txBody>
      </p:sp>
      <p:sp>
        <p:nvSpPr>
          <p:cNvPr id="5" name="矩形 4"/>
          <p:cNvSpPr/>
          <p:nvPr/>
        </p:nvSpPr>
        <p:spPr>
          <a:xfrm>
            <a:off x="9494520" y="3919538"/>
            <a:ext cx="1274445" cy="536258"/>
          </a:xfrm>
          <a:prstGeom prst="rect">
            <a:avLst/>
          </a:prstGeom>
          <a:no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2700"/>
          </a:p>
        </p:txBody>
      </p:sp>
      <p:sp>
        <p:nvSpPr>
          <p:cNvPr id="7" name="文本框 6"/>
          <p:cNvSpPr txBox="1"/>
          <p:nvPr/>
        </p:nvSpPr>
        <p:spPr>
          <a:xfrm>
            <a:off x="2242185" y="2283143"/>
            <a:ext cx="3843338" cy="996315"/>
          </a:xfrm>
          <a:prstGeom prst="rect">
            <a:avLst/>
          </a:prstGeom>
          <a:noFill/>
        </p:spPr>
        <p:txBody>
          <a:bodyPr wrap="square" rtlCol="0">
            <a:noAutofit/>
          </a:bodyPr>
          <a:p>
            <a:pPr indent="0" algn="ctr" fontAlgn="auto">
              <a:lnSpc>
                <a:spcPct val="150000"/>
              </a:lnSpc>
            </a:pPr>
            <a:r>
              <a:rPr lang="zh-CN" altLang="en-US" sz="2100"/>
              <a:t>动量</a:t>
            </a:r>
            <a:r>
              <a:rPr lang="en-US" altLang="zh-CN" sz="2100"/>
              <a:t> + </a:t>
            </a:r>
            <a:r>
              <a:rPr lang="zh-CN" altLang="en-US" sz="2100"/>
              <a:t>自适应学习率</a:t>
            </a:r>
            <a:endParaRPr lang="zh-CN" altLang="en-US" sz="2100"/>
          </a:p>
        </p:txBody>
      </p:sp>
      <p:sp>
        <p:nvSpPr>
          <p:cNvPr id="8" name="矩形 7"/>
          <p:cNvSpPr/>
          <p:nvPr/>
        </p:nvSpPr>
        <p:spPr>
          <a:xfrm>
            <a:off x="10434638" y="6591300"/>
            <a:ext cx="1968818" cy="582930"/>
          </a:xfrm>
          <a:prstGeom prst="rect">
            <a:avLst/>
          </a:prstGeom>
          <a:no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2700"/>
          </a:p>
        </p:txBody>
      </p:sp>
      <p:sp>
        <p:nvSpPr>
          <p:cNvPr id="20" name="文本框 19"/>
          <p:cNvSpPr txBox="1"/>
          <p:nvPr/>
        </p:nvSpPr>
        <p:spPr>
          <a:xfrm>
            <a:off x="9810750" y="5903595"/>
            <a:ext cx="3462338" cy="688658"/>
          </a:xfrm>
          <a:prstGeom prst="rect">
            <a:avLst/>
          </a:prstGeom>
          <a:noFill/>
        </p:spPr>
        <p:txBody>
          <a:bodyPr wrap="square" rtlCol="0">
            <a:noAutofit/>
          </a:bodyPr>
          <a:p>
            <a:pPr indent="0" algn="ctr" fontAlgn="auto">
              <a:lnSpc>
                <a:spcPct val="150000"/>
              </a:lnSpc>
            </a:pPr>
            <a:r>
              <a:rPr lang="zh-CN" altLang="en-US" sz="2100"/>
              <a:t>丢失项使用</a:t>
            </a:r>
            <a:r>
              <a:rPr lang="en-US" altLang="zh-CN" sz="2100"/>
              <a:t>SGD</a:t>
            </a:r>
            <a:r>
              <a:rPr lang="zh-CN" altLang="en-US" sz="2100"/>
              <a:t>进行补偿</a:t>
            </a:r>
            <a:endParaRPr lang="zh-CN" altLang="en-US" sz="2100"/>
          </a:p>
        </p:txBody>
      </p:sp>
      <p:sp>
        <p:nvSpPr>
          <p:cNvPr id="22" name="矩形 21"/>
          <p:cNvSpPr/>
          <p:nvPr/>
        </p:nvSpPr>
        <p:spPr>
          <a:xfrm>
            <a:off x="10654665" y="7626668"/>
            <a:ext cx="904875" cy="582930"/>
          </a:xfrm>
          <a:prstGeom prst="rect">
            <a:avLst/>
          </a:prstGeom>
          <a:no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2700"/>
          </a:p>
        </p:txBody>
      </p:sp>
      <p:sp>
        <p:nvSpPr>
          <p:cNvPr id="23" name="文本框 22"/>
          <p:cNvSpPr txBox="1"/>
          <p:nvPr/>
        </p:nvSpPr>
        <p:spPr>
          <a:xfrm>
            <a:off x="9465945" y="8312468"/>
            <a:ext cx="3462338" cy="688658"/>
          </a:xfrm>
          <a:prstGeom prst="rect">
            <a:avLst/>
          </a:prstGeom>
          <a:noFill/>
        </p:spPr>
        <p:txBody>
          <a:bodyPr wrap="square" rtlCol="0">
            <a:noAutofit/>
          </a:bodyPr>
          <a:p>
            <a:pPr indent="0" algn="ctr" fontAlgn="auto">
              <a:lnSpc>
                <a:spcPct val="150000"/>
              </a:lnSpc>
            </a:pPr>
            <a:r>
              <a:rPr lang="zh-CN" altLang="en-US" sz="2100"/>
              <a:t>学习率自适应因子</a:t>
            </a:r>
            <a:endParaRPr lang="zh-CN" altLang="en-US" sz="2100"/>
          </a:p>
        </p:txBody>
      </p:sp>
      <p:sp>
        <p:nvSpPr>
          <p:cNvPr id="190" name="Freeform 30"/>
          <p:cNvSpPr/>
          <p:nvPr>
            <p:custDataLst>
              <p:tags r:id="rId7"/>
            </p:custDataLst>
          </p:nvPr>
        </p:nvSpPr>
        <p:spPr>
          <a:xfrm>
            <a:off x="15468688" y="343041"/>
            <a:ext cx="2187262" cy="656549"/>
          </a:xfrm>
          <a:custGeom>
            <a:avLst/>
            <a:gdLst/>
            <a:ahLst/>
            <a:cxnLst/>
            <a:rect l="l" t="t" r="r" b="b"/>
            <a:pathLst>
              <a:path w="2187262" h="656549">
                <a:moveTo>
                  <a:pt x="0" y="0"/>
                </a:moveTo>
                <a:lnTo>
                  <a:pt x="2187262" y="0"/>
                </a:lnTo>
                <a:lnTo>
                  <a:pt x="2187262" y="656549"/>
                </a:lnTo>
                <a:lnTo>
                  <a:pt x="0" y="656549"/>
                </a:lnTo>
                <a:lnTo>
                  <a:pt x="0" y="0"/>
                </a:lnTo>
                <a:close/>
              </a:path>
            </a:pathLst>
          </a:custGeom>
          <a:blipFill>
            <a:blip r:embed="rId8"/>
            <a:stretch>
              <a:fillRect/>
            </a:stretch>
          </a:blipFill>
        </p:spPr>
      </p:sp>
    </p:spTree>
    <p:custDataLst>
      <p:tags r:id="rId9"/>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518160" y="468630"/>
            <a:ext cx="5971223" cy="645160"/>
          </a:xfrm>
          <a:prstGeom prst="rect">
            <a:avLst/>
          </a:prstGeom>
          <a:noFill/>
        </p:spPr>
        <p:txBody>
          <a:bodyPr wrap="square" rtlCol="0">
            <a:spAutoFit/>
          </a:bodyPr>
          <a:p>
            <a:r>
              <a:rPr lang="en-US" altLang="zh-CN" sz="3600" b="1"/>
              <a:t>Fira</a:t>
            </a:r>
            <a:endParaRPr lang="en-US" altLang="zh-CN" sz="3600" b="1"/>
          </a:p>
        </p:txBody>
      </p:sp>
      <p:pic>
        <p:nvPicPr>
          <p:cNvPr id="10" name="图片 9"/>
          <p:cNvPicPr>
            <a:picLocks noChangeAspect="1"/>
          </p:cNvPicPr>
          <p:nvPr/>
        </p:nvPicPr>
        <p:blipFill>
          <a:blip r:embed="rId1"/>
          <a:stretch>
            <a:fillRect/>
          </a:stretch>
        </p:blipFill>
        <p:spPr>
          <a:xfrm>
            <a:off x="2264093" y="1528763"/>
            <a:ext cx="11475720" cy="8572500"/>
          </a:xfrm>
          <a:prstGeom prst="rect">
            <a:avLst/>
          </a:prstGeom>
        </p:spPr>
      </p:pic>
      <p:sp>
        <p:nvSpPr>
          <p:cNvPr id="190" name="Freeform 30"/>
          <p:cNvSpPr/>
          <p:nvPr>
            <p:custDataLst>
              <p:tags r:id="rId2"/>
            </p:custDataLst>
          </p:nvPr>
        </p:nvSpPr>
        <p:spPr>
          <a:xfrm>
            <a:off x="15468688" y="343041"/>
            <a:ext cx="2187262" cy="656549"/>
          </a:xfrm>
          <a:custGeom>
            <a:avLst/>
            <a:gdLst/>
            <a:ahLst/>
            <a:cxnLst/>
            <a:rect l="l" t="t" r="r" b="b"/>
            <a:pathLst>
              <a:path w="2187262" h="656549">
                <a:moveTo>
                  <a:pt x="0" y="0"/>
                </a:moveTo>
                <a:lnTo>
                  <a:pt x="2187262" y="0"/>
                </a:lnTo>
                <a:lnTo>
                  <a:pt x="2187262" y="656549"/>
                </a:lnTo>
                <a:lnTo>
                  <a:pt x="0" y="656549"/>
                </a:lnTo>
                <a:lnTo>
                  <a:pt x="0" y="0"/>
                </a:lnTo>
                <a:close/>
              </a:path>
            </a:pathLst>
          </a:custGeom>
          <a:blipFill>
            <a:blip r:embed="rId3"/>
            <a:stretch>
              <a:fillRect/>
            </a:stretch>
          </a:blipFill>
        </p:spPr>
      </p:sp>
    </p:spTree>
    <p:custDataLst>
      <p:tags r:id="rId4"/>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518160" y="468630"/>
            <a:ext cx="5971223" cy="645160"/>
          </a:xfrm>
          <a:prstGeom prst="rect">
            <a:avLst/>
          </a:prstGeom>
          <a:noFill/>
        </p:spPr>
        <p:txBody>
          <a:bodyPr wrap="square" rtlCol="0">
            <a:spAutoFit/>
          </a:bodyPr>
          <a:p>
            <a:r>
              <a:rPr lang="en-US" altLang="zh-CN" sz="3600" b="1"/>
              <a:t>GUM</a:t>
            </a:r>
            <a:endParaRPr lang="en-US" altLang="zh-CN" sz="3600" b="1"/>
          </a:p>
        </p:txBody>
      </p:sp>
      <p:sp>
        <p:nvSpPr>
          <p:cNvPr id="3" name="文本框 2"/>
          <p:cNvSpPr txBox="1"/>
          <p:nvPr/>
        </p:nvSpPr>
        <p:spPr>
          <a:xfrm>
            <a:off x="518160" y="1381125"/>
            <a:ext cx="12524423" cy="783590"/>
          </a:xfrm>
          <a:prstGeom prst="rect">
            <a:avLst/>
          </a:prstGeom>
          <a:noFill/>
        </p:spPr>
        <p:txBody>
          <a:bodyPr wrap="square" rtlCol="0">
            <a:spAutoFit/>
          </a:bodyPr>
          <a:p>
            <a:pPr indent="0" fontAlgn="auto">
              <a:lnSpc>
                <a:spcPct val="150000"/>
              </a:lnSpc>
            </a:pPr>
            <a:r>
              <a:rPr lang="en-US" sz="3000"/>
              <a:t>Motivation</a:t>
            </a:r>
            <a:r>
              <a:rPr lang="zh-CN" altLang="en-US" sz="3000"/>
              <a:t>：与</a:t>
            </a:r>
            <a:r>
              <a:rPr lang="en-US" altLang="zh-CN" sz="3000"/>
              <a:t>Fira</a:t>
            </a:r>
            <a:r>
              <a:rPr lang="zh-CN" altLang="en-US" sz="3000"/>
              <a:t>一致</a:t>
            </a:r>
            <a:endParaRPr lang="zh-CN" altLang="en-US" sz="3000"/>
          </a:p>
        </p:txBody>
      </p:sp>
      <p:sp>
        <p:nvSpPr>
          <p:cNvPr id="12" name="文本框 11"/>
          <p:cNvSpPr txBox="1"/>
          <p:nvPr/>
        </p:nvSpPr>
        <p:spPr>
          <a:xfrm>
            <a:off x="740093" y="9359265"/>
            <a:ext cx="15755303" cy="368300"/>
          </a:xfrm>
          <a:prstGeom prst="rect">
            <a:avLst/>
          </a:prstGeom>
          <a:noFill/>
        </p:spPr>
        <p:txBody>
          <a:bodyPr wrap="square" rtlCol="0">
            <a:spAutoFit/>
          </a:bodyPr>
          <a:p>
            <a:pPr algn="just"/>
            <a:r>
              <a:rPr lang="en-US" altLang="zh-CN">
                <a:latin typeface="Times New Roman" panose="02020603050405020304" charset="0"/>
                <a:cs typeface="Times New Roman" panose="02020603050405020304" charset="0"/>
              </a:rPr>
              <a:t>Unbiased Gradient Low-Rank Projection. Rejected by ICLR 2026.</a:t>
            </a:r>
            <a:endParaRPr lang="en-US" altLang="zh-CN">
              <a:latin typeface="Times New Roman" panose="02020603050405020304" charset="0"/>
              <a:cs typeface="Times New Roman" panose="02020603050405020304" charset="0"/>
            </a:endParaRPr>
          </a:p>
        </p:txBody>
      </p:sp>
      <p:pic>
        <p:nvPicPr>
          <p:cNvPr id="5" name="图片 4"/>
          <p:cNvPicPr>
            <a:picLocks noChangeAspect="1"/>
          </p:cNvPicPr>
          <p:nvPr/>
        </p:nvPicPr>
        <p:blipFill>
          <a:blip r:embed="rId1"/>
          <a:stretch>
            <a:fillRect/>
          </a:stretch>
        </p:blipFill>
        <p:spPr>
          <a:xfrm>
            <a:off x="1849755" y="3951923"/>
            <a:ext cx="12801600" cy="3714750"/>
          </a:xfrm>
          <a:prstGeom prst="rect">
            <a:avLst/>
          </a:prstGeom>
        </p:spPr>
      </p:pic>
      <p:sp>
        <p:nvSpPr>
          <p:cNvPr id="8" name="矩形 7"/>
          <p:cNvSpPr/>
          <p:nvPr/>
        </p:nvSpPr>
        <p:spPr>
          <a:xfrm>
            <a:off x="2899410" y="6173153"/>
            <a:ext cx="1628775" cy="414338"/>
          </a:xfrm>
          <a:prstGeom prst="rect">
            <a:avLst/>
          </a:prstGeom>
          <a:no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2700"/>
          </a:p>
        </p:txBody>
      </p:sp>
      <p:sp>
        <p:nvSpPr>
          <p:cNvPr id="7" name="矩形 6"/>
          <p:cNvSpPr/>
          <p:nvPr/>
        </p:nvSpPr>
        <p:spPr>
          <a:xfrm>
            <a:off x="4718685" y="6916103"/>
            <a:ext cx="779145" cy="386715"/>
          </a:xfrm>
          <a:prstGeom prst="rect">
            <a:avLst/>
          </a:prstGeom>
          <a:no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2700"/>
          </a:p>
        </p:txBody>
      </p:sp>
      <p:sp>
        <p:nvSpPr>
          <p:cNvPr id="190" name="Freeform 30"/>
          <p:cNvSpPr/>
          <p:nvPr>
            <p:custDataLst>
              <p:tags r:id="rId2"/>
            </p:custDataLst>
          </p:nvPr>
        </p:nvSpPr>
        <p:spPr>
          <a:xfrm>
            <a:off x="15468688" y="343041"/>
            <a:ext cx="2187262" cy="656549"/>
          </a:xfrm>
          <a:custGeom>
            <a:avLst/>
            <a:gdLst/>
            <a:ahLst/>
            <a:cxnLst/>
            <a:rect l="l" t="t" r="r" b="b"/>
            <a:pathLst>
              <a:path w="2187262" h="656549">
                <a:moveTo>
                  <a:pt x="0" y="0"/>
                </a:moveTo>
                <a:lnTo>
                  <a:pt x="2187262" y="0"/>
                </a:lnTo>
                <a:lnTo>
                  <a:pt x="2187262" y="656549"/>
                </a:lnTo>
                <a:lnTo>
                  <a:pt x="0" y="656549"/>
                </a:lnTo>
                <a:lnTo>
                  <a:pt x="0" y="0"/>
                </a:lnTo>
                <a:close/>
              </a:path>
            </a:pathLst>
          </a:custGeom>
          <a:blipFill>
            <a:blip r:embed="rId3"/>
            <a:stretch>
              <a:fillRect/>
            </a:stretch>
          </a:blipFill>
        </p:spPr>
      </p:sp>
    </p:spTree>
    <p:custDataLst>
      <p:tags r:id="rId4"/>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518160" y="468630"/>
            <a:ext cx="5971223" cy="645160"/>
          </a:xfrm>
          <a:prstGeom prst="rect">
            <a:avLst/>
          </a:prstGeom>
          <a:noFill/>
        </p:spPr>
        <p:txBody>
          <a:bodyPr wrap="square" rtlCol="0">
            <a:spAutoFit/>
          </a:bodyPr>
          <a:p>
            <a:r>
              <a:rPr lang="en-US" altLang="zh-CN" sz="3600" b="1"/>
              <a:t>GUM</a:t>
            </a:r>
            <a:endParaRPr lang="en-US" altLang="zh-CN" sz="3600" b="1"/>
          </a:p>
        </p:txBody>
      </p:sp>
      <p:pic>
        <p:nvPicPr>
          <p:cNvPr id="2" name="图片 1"/>
          <p:cNvPicPr>
            <a:picLocks noChangeAspect="1"/>
          </p:cNvPicPr>
          <p:nvPr/>
        </p:nvPicPr>
        <p:blipFill>
          <a:blip r:embed="rId1"/>
          <a:stretch>
            <a:fillRect/>
          </a:stretch>
        </p:blipFill>
        <p:spPr>
          <a:xfrm>
            <a:off x="1493520" y="1895475"/>
            <a:ext cx="12744450" cy="5143500"/>
          </a:xfrm>
          <a:prstGeom prst="rect">
            <a:avLst/>
          </a:prstGeom>
        </p:spPr>
      </p:pic>
      <p:pic>
        <p:nvPicPr>
          <p:cNvPr id="8" name="图片 7"/>
          <p:cNvPicPr>
            <a:picLocks noChangeAspect="1"/>
          </p:cNvPicPr>
          <p:nvPr/>
        </p:nvPicPr>
        <p:blipFill>
          <a:blip r:embed="rId2"/>
          <a:stretch>
            <a:fillRect/>
          </a:stretch>
        </p:blipFill>
        <p:spPr>
          <a:xfrm>
            <a:off x="8368665" y="7205663"/>
            <a:ext cx="5561648" cy="1986915"/>
          </a:xfrm>
          <a:prstGeom prst="rect">
            <a:avLst/>
          </a:prstGeom>
        </p:spPr>
      </p:pic>
      <p:pic>
        <p:nvPicPr>
          <p:cNvPr id="9" name="图片 8"/>
          <p:cNvPicPr>
            <a:picLocks noChangeAspect="1"/>
          </p:cNvPicPr>
          <p:nvPr/>
        </p:nvPicPr>
        <p:blipFill>
          <a:blip r:embed="rId3"/>
          <a:stretch>
            <a:fillRect/>
          </a:stretch>
        </p:blipFill>
        <p:spPr>
          <a:xfrm>
            <a:off x="2527935" y="7970520"/>
            <a:ext cx="3200400" cy="457200"/>
          </a:xfrm>
          <a:prstGeom prst="rect">
            <a:avLst/>
          </a:prstGeom>
        </p:spPr>
      </p:pic>
      <p:sp>
        <p:nvSpPr>
          <p:cNvPr id="10" name="右箭头 9"/>
          <p:cNvSpPr/>
          <p:nvPr/>
        </p:nvSpPr>
        <p:spPr>
          <a:xfrm>
            <a:off x="6765608" y="7834313"/>
            <a:ext cx="1261110" cy="623888"/>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2700"/>
          </a:p>
        </p:txBody>
      </p:sp>
      <p:sp>
        <p:nvSpPr>
          <p:cNvPr id="190" name="Freeform 30"/>
          <p:cNvSpPr/>
          <p:nvPr>
            <p:custDataLst>
              <p:tags r:id="rId4"/>
            </p:custDataLst>
          </p:nvPr>
        </p:nvSpPr>
        <p:spPr>
          <a:xfrm>
            <a:off x="15468688" y="343041"/>
            <a:ext cx="2187262" cy="656549"/>
          </a:xfrm>
          <a:custGeom>
            <a:avLst/>
            <a:gdLst/>
            <a:ahLst/>
            <a:cxnLst/>
            <a:rect l="l" t="t" r="r" b="b"/>
            <a:pathLst>
              <a:path w="2187262" h="656549">
                <a:moveTo>
                  <a:pt x="0" y="0"/>
                </a:moveTo>
                <a:lnTo>
                  <a:pt x="2187262" y="0"/>
                </a:lnTo>
                <a:lnTo>
                  <a:pt x="2187262" y="656549"/>
                </a:lnTo>
                <a:lnTo>
                  <a:pt x="0" y="656549"/>
                </a:lnTo>
                <a:lnTo>
                  <a:pt x="0" y="0"/>
                </a:lnTo>
                <a:close/>
              </a:path>
            </a:pathLst>
          </a:custGeom>
          <a:blipFill>
            <a:blip r:embed="rId5"/>
            <a:stretch>
              <a:fillRect/>
            </a:stretch>
          </a:blipFill>
        </p:spPr>
      </p:sp>
    </p:spTree>
    <p:custDataLst>
      <p:tags r:id="rId6"/>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518160" y="468630"/>
            <a:ext cx="5971223" cy="645160"/>
          </a:xfrm>
          <a:prstGeom prst="rect">
            <a:avLst/>
          </a:prstGeom>
          <a:noFill/>
        </p:spPr>
        <p:txBody>
          <a:bodyPr wrap="square" rtlCol="0">
            <a:spAutoFit/>
          </a:bodyPr>
          <a:p>
            <a:r>
              <a:rPr lang="en-US" altLang="zh-CN" sz="3600" b="1"/>
              <a:t>GUM</a:t>
            </a:r>
            <a:endParaRPr lang="en-US" altLang="zh-CN" sz="3600" b="1"/>
          </a:p>
        </p:txBody>
      </p:sp>
      <p:pic>
        <p:nvPicPr>
          <p:cNvPr id="11" name="图片 10"/>
          <p:cNvPicPr>
            <a:picLocks noChangeAspect="1"/>
          </p:cNvPicPr>
          <p:nvPr/>
        </p:nvPicPr>
        <p:blipFill>
          <a:blip r:embed="rId1"/>
          <a:stretch>
            <a:fillRect/>
          </a:stretch>
        </p:blipFill>
        <p:spPr>
          <a:xfrm>
            <a:off x="1807845" y="1804035"/>
            <a:ext cx="12801600" cy="5772150"/>
          </a:xfrm>
          <a:prstGeom prst="rect">
            <a:avLst/>
          </a:prstGeom>
        </p:spPr>
      </p:pic>
      <p:sp>
        <p:nvSpPr>
          <p:cNvPr id="190" name="Freeform 30"/>
          <p:cNvSpPr/>
          <p:nvPr>
            <p:custDataLst>
              <p:tags r:id="rId2"/>
            </p:custDataLst>
          </p:nvPr>
        </p:nvSpPr>
        <p:spPr>
          <a:xfrm>
            <a:off x="15468688" y="343041"/>
            <a:ext cx="2187262" cy="656549"/>
          </a:xfrm>
          <a:custGeom>
            <a:avLst/>
            <a:gdLst/>
            <a:ahLst/>
            <a:cxnLst/>
            <a:rect l="l" t="t" r="r" b="b"/>
            <a:pathLst>
              <a:path w="2187262" h="656549">
                <a:moveTo>
                  <a:pt x="0" y="0"/>
                </a:moveTo>
                <a:lnTo>
                  <a:pt x="2187262" y="0"/>
                </a:lnTo>
                <a:lnTo>
                  <a:pt x="2187262" y="656549"/>
                </a:lnTo>
                <a:lnTo>
                  <a:pt x="0" y="656549"/>
                </a:lnTo>
                <a:lnTo>
                  <a:pt x="0" y="0"/>
                </a:lnTo>
                <a:close/>
              </a:path>
            </a:pathLst>
          </a:custGeom>
          <a:blipFill>
            <a:blip r:embed="rId3"/>
            <a:stretch>
              <a:fillRect/>
            </a:stretch>
          </a:blipFill>
        </p:spPr>
      </p:sp>
    </p:spTree>
    <p:custDataLst>
      <p:tags r:id="rId4"/>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 name="Freeform 35"/>
          <p:cNvSpPr/>
          <p:nvPr>
            <p:custDataLst>
              <p:tags r:id="rId1"/>
            </p:custDataLst>
          </p:nvPr>
        </p:nvSpPr>
        <p:spPr>
          <a:xfrm>
            <a:off x="0" y="1"/>
            <a:ext cx="3624132" cy="2858674"/>
          </a:xfrm>
          <a:custGeom>
            <a:avLst/>
            <a:gdLst/>
            <a:ahLst/>
            <a:cxnLst/>
            <a:rect l="l" t="t" r="r" b="b"/>
            <a:pathLst>
              <a:path w="3624132" h="2858674">
                <a:moveTo>
                  <a:pt x="0" y="0"/>
                </a:moveTo>
                <a:lnTo>
                  <a:pt x="3624132" y="0"/>
                </a:lnTo>
                <a:lnTo>
                  <a:pt x="3624132" y="2858675"/>
                </a:lnTo>
                <a:lnTo>
                  <a:pt x="0" y="285867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2" name="Group 2"/>
          <p:cNvGrpSpPr/>
          <p:nvPr/>
        </p:nvGrpSpPr>
        <p:grpSpPr>
          <a:xfrm>
            <a:off x="13120137" y="4702694"/>
            <a:ext cx="881613" cy="881613"/>
            <a:chOff x="0" y="0"/>
            <a:chExt cx="1175484" cy="1175484"/>
          </a:xfrm>
        </p:grpSpPr>
        <p:sp>
          <p:nvSpPr>
            <p:cNvPr id="3" name="Freeform 3"/>
            <p:cNvSpPr/>
            <p:nvPr/>
          </p:nvSpPr>
          <p:spPr>
            <a:xfrm>
              <a:off x="0" y="0"/>
              <a:ext cx="1175512" cy="1175512"/>
            </a:xfrm>
            <a:custGeom>
              <a:avLst/>
              <a:gdLst/>
              <a:ahLst/>
              <a:cxnLst/>
              <a:rect l="l" t="t" r="r" b="b"/>
              <a:pathLst>
                <a:path w="1175512" h="1175512">
                  <a:moveTo>
                    <a:pt x="0" y="587756"/>
                  </a:moveTo>
                  <a:cubicBezTo>
                    <a:pt x="0" y="263144"/>
                    <a:pt x="263144" y="0"/>
                    <a:pt x="587756" y="0"/>
                  </a:cubicBezTo>
                  <a:cubicBezTo>
                    <a:pt x="912368" y="0"/>
                    <a:pt x="1175512" y="263144"/>
                    <a:pt x="1175512" y="587756"/>
                  </a:cubicBezTo>
                  <a:cubicBezTo>
                    <a:pt x="1175512" y="912368"/>
                    <a:pt x="912368" y="1175512"/>
                    <a:pt x="587756" y="1175512"/>
                  </a:cubicBezTo>
                  <a:cubicBezTo>
                    <a:pt x="263144" y="1175512"/>
                    <a:pt x="0" y="912368"/>
                    <a:pt x="0" y="587756"/>
                  </a:cubicBezTo>
                  <a:close/>
                </a:path>
              </a:pathLst>
            </a:custGeom>
            <a:solidFill>
              <a:srgbClr val="FFFFFF"/>
            </a:solidFill>
          </p:spPr>
        </p:sp>
      </p:grpSp>
      <p:sp>
        <p:nvSpPr>
          <p:cNvPr id="4" name="Freeform 4"/>
          <p:cNvSpPr/>
          <p:nvPr/>
        </p:nvSpPr>
        <p:spPr>
          <a:xfrm>
            <a:off x="0" y="7739793"/>
            <a:ext cx="4166946" cy="2547208"/>
          </a:xfrm>
          <a:custGeom>
            <a:avLst/>
            <a:gdLst/>
            <a:ahLst/>
            <a:cxnLst/>
            <a:rect l="l" t="t" r="r" b="b"/>
            <a:pathLst>
              <a:path w="4166946" h="2547208">
                <a:moveTo>
                  <a:pt x="0" y="0"/>
                </a:moveTo>
                <a:lnTo>
                  <a:pt x="4166946" y="0"/>
                </a:lnTo>
                <a:lnTo>
                  <a:pt x="4166946" y="2547208"/>
                </a:lnTo>
                <a:lnTo>
                  <a:pt x="0" y="254720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a:off x="15351812" y="7673386"/>
            <a:ext cx="2936188" cy="2613614"/>
          </a:xfrm>
          <a:custGeom>
            <a:avLst/>
            <a:gdLst/>
            <a:ahLst/>
            <a:cxnLst/>
            <a:rect l="l" t="t" r="r" b="b"/>
            <a:pathLst>
              <a:path w="2936188" h="2613614">
                <a:moveTo>
                  <a:pt x="0" y="0"/>
                </a:moveTo>
                <a:lnTo>
                  <a:pt x="2936188" y="0"/>
                </a:lnTo>
                <a:lnTo>
                  <a:pt x="2936188" y="2613614"/>
                </a:lnTo>
                <a:lnTo>
                  <a:pt x="0" y="261361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6" name="Freeform 6"/>
          <p:cNvSpPr/>
          <p:nvPr/>
        </p:nvSpPr>
        <p:spPr>
          <a:xfrm>
            <a:off x="14806348" y="-9525"/>
            <a:ext cx="3491176" cy="2688062"/>
          </a:xfrm>
          <a:custGeom>
            <a:avLst/>
            <a:gdLst/>
            <a:ahLst/>
            <a:cxnLst/>
            <a:rect l="l" t="t" r="r" b="b"/>
            <a:pathLst>
              <a:path w="3491176" h="2688062">
                <a:moveTo>
                  <a:pt x="0" y="0"/>
                </a:moveTo>
                <a:lnTo>
                  <a:pt x="3491177" y="0"/>
                </a:lnTo>
                <a:lnTo>
                  <a:pt x="3491177" y="2688062"/>
                </a:lnTo>
                <a:lnTo>
                  <a:pt x="0" y="268806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grpSp>
        <p:nvGrpSpPr>
          <p:cNvPr id="7" name="Group 7"/>
          <p:cNvGrpSpPr/>
          <p:nvPr/>
        </p:nvGrpSpPr>
        <p:grpSpPr>
          <a:xfrm>
            <a:off x="14881124" y="492074"/>
            <a:ext cx="663678" cy="663678"/>
            <a:chOff x="0" y="0"/>
            <a:chExt cx="884904" cy="884904"/>
          </a:xfrm>
        </p:grpSpPr>
        <p:sp>
          <p:nvSpPr>
            <p:cNvPr id="8" name="Freeform 8"/>
            <p:cNvSpPr/>
            <p:nvPr/>
          </p:nvSpPr>
          <p:spPr>
            <a:xfrm>
              <a:off x="0" y="0"/>
              <a:ext cx="884936" cy="884936"/>
            </a:xfrm>
            <a:custGeom>
              <a:avLst/>
              <a:gdLst/>
              <a:ahLst/>
              <a:cxnLst/>
              <a:rect l="l" t="t" r="r" b="b"/>
              <a:pathLst>
                <a:path w="884936" h="884936">
                  <a:moveTo>
                    <a:pt x="0" y="442468"/>
                  </a:moveTo>
                  <a:cubicBezTo>
                    <a:pt x="0" y="198120"/>
                    <a:pt x="198120" y="0"/>
                    <a:pt x="442468" y="0"/>
                  </a:cubicBezTo>
                  <a:cubicBezTo>
                    <a:pt x="686816" y="0"/>
                    <a:pt x="884936" y="198120"/>
                    <a:pt x="884936" y="442468"/>
                  </a:cubicBezTo>
                  <a:cubicBezTo>
                    <a:pt x="884936" y="686816"/>
                    <a:pt x="686816" y="884936"/>
                    <a:pt x="442468" y="884936"/>
                  </a:cubicBezTo>
                  <a:cubicBezTo>
                    <a:pt x="198120" y="884936"/>
                    <a:pt x="0" y="686816"/>
                    <a:pt x="0" y="442468"/>
                  </a:cubicBezTo>
                  <a:close/>
                </a:path>
              </a:pathLst>
            </a:custGeom>
            <a:solidFill>
              <a:srgbClr val="356AFF"/>
            </a:solidFill>
          </p:spPr>
        </p:sp>
      </p:grpSp>
      <p:sp>
        <p:nvSpPr>
          <p:cNvPr id="9" name="Freeform 9"/>
          <p:cNvSpPr/>
          <p:nvPr/>
        </p:nvSpPr>
        <p:spPr>
          <a:xfrm>
            <a:off x="1563274" y="9463088"/>
            <a:ext cx="1713174" cy="762255"/>
          </a:xfrm>
          <a:custGeom>
            <a:avLst/>
            <a:gdLst/>
            <a:ahLst/>
            <a:cxnLst/>
            <a:rect l="l" t="t" r="r" b="b"/>
            <a:pathLst>
              <a:path w="1713174" h="762255">
                <a:moveTo>
                  <a:pt x="0" y="0"/>
                </a:moveTo>
                <a:lnTo>
                  <a:pt x="1713174" y="0"/>
                </a:lnTo>
                <a:lnTo>
                  <a:pt x="1713174" y="762254"/>
                </a:lnTo>
                <a:lnTo>
                  <a:pt x="0" y="762254"/>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0" name="TextBox 10"/>
          <p:cNvSpPr txBox="1"/>
          <p:nvPr/>
        </p:nvSpPr>
        <p:spPr>
          <a:xfrm>
            <a:off x="1605915" y="3362960"/>
            <a:ext cx="14561820" cy="3693160"/>
          </a:xfrm>
          <a:prstGeom prst="rect">
            <a:avLst/>
          </a:prstGeom>
        </p:spPr>
        <p:txBody>
          <a:bodyPr wrap="square" lIns="0" tIns="0" rIns="0" bIns="0" rtlCol="0" anchor="t">
            <a:spAutoFit/>
          </a:bodyPr>
          <a:lstStyle/>
          <a:p>
            <a:pPr algn="ctr">
              <a:lnSpc>
                <a:spcPts val="14400"/>
              </a:lnSpc>
            </a:pPr>
            <a:r>
              <a:rPr lang="en-US" sz="12000">
                <a:solidFill>
                  <a:srgbClr val="356AFF"/>
                </a:solidFill>
                <a:latin typeface="微软雅黑" panose="020B0503020204020204" charset="-122"/>
                <a:ea typeface="微软雅黑" panose="020B0503020204020204" charset="-122"/>
              </a:rPr>
              <a:t>Part2: </a:t>
            </a:r>
            <a:endParaRPr lang="en-US" sz="12000">
              <a:solidFill>
                <a:srgbClr val="356AFF"/>
              </a:solidFill>
              <a:latin typeface="微软雅黑" panose="020B0503020204020204" charset="-122"/>
              <a:ea typeface="微软雅黑" panose="020B0503020204020204" charset="-122"/>
            </a:endParaRPr>
          </a:p>
          <a:p>
            <a:pPr algn="ctr">
              <a:lnSpc>
                <a:spcPts val="14400"/>
              </a:lnSpc>
            </a:pPr>
            <a:r>
              <a:rPr lang="en-US" altLang="zh-CN" sz="12000">
                <a:solidFill>
                  <a:srgbClr val="356AFF"/>
                </a:solidFill>
                <a:latin typeface="微软雅黑" panose="020B0503020204020204" charset="-122"/>
                <a:ea typeface="微软雅黑" panose="020B0503020204020204" charset="-122"/>
              </a:rPr>
              <a:t>Self-Adapting</a:t>
            </a:r>
            <a:endParaRPr lang="en-US" altLang="zh-CN" sz="12000">
              <a:solidFill>
                <a:srgbClr val="356AFF"/>
              </a:solidFill>
              <a:latin typeface="微软雅黑" panose="020B0503020204020204" charset="-122"/>
              <a:ea typeface="微软雅黑" panose="020B0503020204020204" charset="-122"/>
            </a:endParaRPr>
          </a:p>
        </p:txBody>
      </p:sp>
      <p:grpSp>
        <p:nvGrpSpPr>
          <p:cNvPr id="13" name="Group 13"/>
          <p:cNvGrpSpPr/>
          <p:nvPr/>
        </p:nvGrpSpPr>
        <p:grpSpPr>
          <a:xfrm>
            <a:off x="17352170" y="2226470"/>
            <a:ext cx="439840" cy="439840"/>
            <a:chOff x="0" y="0"/>
            <a:chExt cx="586454" cy="586454"/>
          </a:xfrm>
        </p:grpSpPr>
        <p:sp>
          <p:nvSpPr>
            <p:cNvPr id="14" name="Freeform 14"/>
            <p:cNvSpPr/>
            <p:nvPr/>
          </p:nvSpPr>
          <p:spPr>
            <a:xfrm>
              <a:off x="0" y="0"/>
              <a:ext cx="586486" cy="586486"/>
            </a:xfrm>
            <a:custGeom>
              <a:avLst/>
              <a:gdLst/>
              <a:ahLst/>
              <a:cxnLst/>
              <a:rect l="l" t="t" r="r" b="b"/>
              <a:pathLst>
                <a:path w="586486" h="586486">
                  <a:moveTo>
                    <a:pt x="0" y="293243"/>
                  </a:moveTo>
                  <a:cubicBezTo>
                    <a:pt x="0" y="131318"/>
                    <a:pt x="131318" y="0"/>
                    <a:pt x="293243" y="0"/>
                  </a:cubicBezTo>
                  <a:cubicBezTo>
                    <a:pt x="455168" y="0"/>
                    <a:pt x="586486" y="131318"/>
                    <a:pt x="586486" y="293243"/>
                  </a:cubicBezTo>
                  <a:cubicBezTo>
                    <a:pt x="586486" y="455168"/>
                    <a:pt x="455168" y="586486"/>
                    <a:pt x="293243" y="586486"/>
                  </a:cubicBezTo>
                  <a:cubicBezTo>
                    <a:pt x="131318" y="586486"/>
                    <a:pt x="0" y="455168"/>
                    <a:pt x="0" y="293243"/>
                  </a:cubicBezTo>
                  <a:close/>
                </a:path>
              </a:pathLst>
            </a:custGeom>
            <a:solidFill>
              <a:srgbClr val="356AFF"/>
            </a:solidFill>
          </p:spPr>
        </p:sp>
      </p:grpSp>
      <p:grpSp>
        <p:nvGrpSpPr>
          <p:cNvPr id="16" name="Group 16"/>
          <p:cNvGrpSpPr/>
          <p:nvPr/>
        </p:nvGrpSpPr>
        <p:grpSpPr>
          <a:xfrm>
            <a:off x="15597742" y="8893346"/>
            <a:ext cx="569742" cy="569742"/>
            <a:chOff x="0" y="0"/>
            <a:chExt cx="759656" cy="759656"/>
          </a:xfrm>
        </p:grpSpPr>
        <p:sp>
          <p:nvSpPr>
            <p:cNvPr id="17" name="Freeform 17"/>
            <p:cNvSpPr/>
            <p:nvPr/>
          </p:nvSpPr>
          <p:spPr>
            <a:xfrm>
              <a:off x="0" y="0"/>
              <a:ext cx="759714" cy="759714"/>
            </a:xfrm>
            <a:custGeom>
              <a:avLst/>
              <a:gdLst/>
              <a:ahLst/>
              <a:cxnLst/>
              <a:rect l="l" t="t" r="r" b="b"/>
              <a:pathLst>
                <a:path w="759714" h="759714">
                  <a:moveTo>
                    <a:pt x="0" y="379857"/>
                  </a:moveTo>
                  <a:cubicBezTo>
                    <a:pt x="0" y="170053"/>
                    <a:pt x="170053" y="0"/>
                    <a:pt x="379857" y="0"/>
                  </a:cubicBezTo>
                  <a:cubicBezTo>
                    <a:pt x="589661" y="0"/>
                    <a:pt x="759714" y="170053"/>
                    <a:pt x="759714" y="379857"/>
                  </a:cubicBezTo>
                  <a:cubicBezTo>
                    <a:pt x="759714" y="589661"/>
                    <a:pt x="589661" y="759714"/>
                    <a:pt x="379857" y="759714"/>
                  </a:cubicBezTo>
                  <a:cubicBezTo>
                    <a:pt x="170053" y="759714"/>
                    <a:pt x="0" y="589661"/>
                    <a:pt x="0" y="379857"/>
                  </a:cubicBezTo>
                  <a:close/>
                  <a:moveTo>
                    <a:pt x="189865" y="379857"/>
                  </a:moveTo>
                  <a:cubicBezTo>
                    <a:pt x="189865" y="484759"/>
                    <a:pt x="274955" y="569722"/>
                    <a:pt x="379730" y="569722"/>
                  </a:cubicBezTo>
                  <a:cubicBezTo>
                    <a:pt x="484505" y="569722"/>
                    <a:pt x="569595" y="484632"/>
                    <a:pt x="569595" y="379857"/>
                  </a:cubicBezTo>
                  <a:cubicBezTo>
                    <a:pt x="569595" y="275082"/>
                    <a:pt x="484505" y="189992"/>
                    <a:pt x="379730" y="189992"/>
                  </a:cubicBezTo>
                  <a:cubicBezTo>
                    <a:pt x="274955" y="189992"/>
                    <a:pt x="189865" y="275082"/>
                    <a:pt x="189865" y="379857"/>
                  </a:cubicBezTo>
                  <a:close/>
                </a:path>
              </a:pathLst>
            </a:custGeom>
            <a:solidFill>
              <a:srgbClr val="356AFF"/>
            </a:solidFill>
          </p:spPr>
        </p:sp>
      </p:grpSp>
      <p:grpSp>
        <p:nvGrpSpPr>
          <p:cNvPr id="20" name="Group 20"/>
          <p:cNvGrpSpPr/>
          <p:nvPr/>
        </p:nvGrpSpPr>
        <p:grpSpPr>
          <a:xfrm>
            <a:off x="492919" y="7834312"/>
            <a:ext cx="885825" cy="885825"/>
            <a:chOff x="0" y="0"/>
            <a:chExt cx="1181100" cy="1181100"/>
          </a:xfrm>
        </p:grpSpPr>
        <p:sp>
          <p:nvSpPr>
            <p:cNvPr id="21" name="Freeform 21"/>
            <p:cNvSpPr/>
            <p:nvPr/>
          </p:nvSpPr>
          <p:spPr>
            <a:xfrm>
              <a:off x="0" y="0"/>
              <a:ext cx="1181100" cy="1181100"/>
            </a:xfrm>
            <a:custGeom>
              <a:avLst/>
              <a:gdLst/>
              <a:ahLst/>
              <a:cxnLst/>
              <a:rect l="l" t="t" r="r" b="b"/>
              <a:pathLst>
                <a:path w="1181100" h="1181100">
                  <a:moveTo>
                    <a:pt x="1181100" y="590550"/>
                  </a:moveTo>
                  <a:cubicBezTo>
                    <a:pt x="1181100" y="264414"/>
                    <a:pt x="916686" y="0"/>
                    <a:pt x="590550" y="0"/>
                  </a:cubicBezTo>
                  <a:cubicBezTo>
                    <a:pt x="264414" y="0"/>
                    <a:pt x="0" y="264414"/>
                    <a:pt x="0" y="590550"/>
                  </a:cubicBezTo>
                  <a:cubicBezTo>
                    <a:pt x="0" y="916686"/>
                    <a:pt x="264414" y="1181100"/>
                    <a:pt x="590550" y="1181100"/>
                  </a:cubicBezTo>
                  <a:cubicBezTo>
                    <a:pt x="916686" y="1181100"/>
                    <a:pt x="1181100" y="916686"/>
                    <a:pt x="1181100" y="590550"/>
                  </a:cubicBezTo>
                  <a:close/>
                </a:path>
              </a:pathLst>
            </a:custGeom>
            <a:solidFill>
              <a:srgbClr val="2C57D4"/>
            </a:solidFill>
          </p:spPr>
        </p:sp>
      </p:grpSp>
      <p:sp>
        <p:nvSpPr>
          <p:cNvPr id="190" name="Freeform 30"/>
          <p:cNvSpPr/>
          <p:nvPr>
            <p:custDataLst>
              <p:tags r:id="rId12"/>
            </p:custDataLst>
          </p:nvPr>
        </p:nvSpPr>
        <p:spPr>
          <a:xfrm>
            <a:off x="304888" y="249061"/>
            <a:ext cx="2187262" cy="656549"/>
          </a:xfrm>
          <a:custGeom>
            <a:avLst/>
            <a:gdLst/>
            <a:ahLst/>
            <a:cxnLst/>
            <a:rect l="l" t="t" r="r" b="b"/>
            <a:pathLst>
              <a:path w="2187262" h="656549">
                <a:moveTo>
                  <a:pt x="0" y="0"/>
                </a:moveTo>
                <a:lnTo>
                  <a:pt x="2187262" y="0"/>
                </a:lnTo>
                <a:lnTo>
                  <a:pt x="2187262" y="656549"/>
                </a:lnTo>
                <a:lnTo>
                  <a:pt x="0" y="656549"/>
                </a:lnTo>
                <a:lnTo>
                  <a:pt x="0" y="0"/>
                </a:lnTo>
                <a:close/>
              </a:path>
            </a:pathLst>
          </a:custGeom>
          <a:blipFill>
            <a:blip r:embed="rId13"/>
            <a:stretch>
              <a:fillRect/>
            </a:stretch>
          </a:blipFill>
        </p:spPr>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518160" y="468630"/>
            <a:ext cx="5971223" cy="645160"/>
          </a:xfrm>
          <a:prstGeom prst="rect">
            <a:avLst/>
          </a:prstGeom>
          <a:noFill/>
        </p:spPr>
        <p:txBody>
          <a:bodyPr wrap="square" rtlCol="0">
            <a:spAutoFit/>
          </a:bodyPr>
          <a:p>
            <a:r>
              <a:rPr lang="en-US" altLang="zh-CN" sz="3600" b="1"/>
              <a:t>Summary</a:t>
            </a:r>
            <a:endParaRPr lang="en-US" altLang="zh-CN" sz="3600" b="1"/>
          </a:p>
        </p:txBody>
      </p:sp>
      <p:sp>
        <p:nvSpPr>
          <p:cNvPr id="190" name="Freeform 30"/>
          <p:cNvSpPr/>
          <p:nvPr>
            <p:custDataLst>
              <p:tags r:id="rId1"/>
            </p:custDataLst>
          </p:nvPr>
        </p:nvSpPr>
        <p:spPr>
          <a:xfrm>
            <a:off x="15468688" y="343041"/>
            <a:ext cx="2187262" cy="656549"/>
          </a:xfrm>
          <a:custGeom>
            <a:avLst/>
            <a:gdLst/>
            <a:ahLst/>
            <a:cxnLst/>
            <a:rect l="l" t="t" r="r" b="b"/>
            <a:pathLst>
              <a:path w="2187262" h="656549">
                <a:moveTo>
                  <a:pt x="0" y="0"/>
                </a:moveTo>
                <a:lnTo>
                  <a:pt x="2187262" y="0"/>
                </a:lnTo>
                <a:lnTo>
                  <a:pt x="2187262" y="656549"/>
                </a:lnTo>
                <a:lnTo>
                  <a:pt x="0" y="656549"/>
                </a:lnTo>
                <a:lnTo>
                  <a:pt x="0" y="0"/>
                </a:lnTo>
                <a:close/>
              </a:path>
            </a:pathLst>
          </a:custGeom>
          <a:blipFill>
            <a:blip r:embed="rId2"/>
            <a:stretch>
              <a:fillRect/>
            </a:stretch>
          </a:blipFill>
        </p:spPr>
      </p:sp>
      <p:sp>
        <p:nvSpPr>
          <p:cNvPr id="3" name="TextBox 30"/>
          <p:cNvSpPr txBox="1"/>
          <p:nvPr>
            <p:custDataLst>
              <p:tags r:id="rId3"/>
            </p:custDataLst>
          </p:nvPr>
        </p:nvSpPr>
        <p:spPr>
          <a:xfrm>
            <a:off x="609600" y="1852295"/>
            <a:ext cx="16427450" cy="3323590"/>
          </a:xfrm>
          <a:prstGeom prst="rect">
            <a:avLst/>
          </a:prstGeom>
        </p:spPr>
        <p:txBody>
          <a:bodyPr wrap="square" lIns="0" tIns="0" rIns="0" bIns="0" rtlCol="0" anchor="t">
            <a:spAutoFit/>
          </a:bodyPr>
          <a:lstStyle/>
          <a:p>
            <a:pPr algn="l">
              <a:lnSpc>
                <a:spcPts val="4320"/>
              </a:lnSpc>
              <a:buClrTx/>
              <a:buSzTx/>
              <a:buFontTx/>
            </a:pPr>
            <a:r>
              <a:rPr lang="zh-CN" altLang="en-US" sz="2400">
                <a:solidFill>
                  <a:schemeClr val="tx1"/>
                </a:solidFill>
                <a:latin typeface="微软雅黑" panose="020B0503020204020204" charset="-122"/>
                <a:ea typeface="微软雅黑" panose="020B0503020204020204" charset="-122"/>
              </a:rPr>
              <a:t>工作</a:t>
            </a:r>
            <a:r>
              <a:rPr lang="zh-CN" altLang="en-US" sz="2400">
                <a:solidFill>
                  <a:schemeClr val="tx1"/>
                </a:solidFill>
                <a:latin typeface="微软雅黑" panose="020B0503020204020204" charset="-122"/>
                <a:ea typeface="微软雅黑" panose="020B0503020204020204" charset="-122"/>
              </a:rPr>
              <a:t>背景：</a:t>
            </a:r>
            <a:endParaRPr lang="zh-CN" altLang="en-US" sz="2400">
              <a:solidFill>
                <a:schemeClr val="tx1"/>
              </a:solidFill>
              <a:latin typeface="微软雅黑" panose="020B0503020204020204" charset="-122"/>
              <a:ea typeface="微软雅黑" panose="020B0503020204020204" charset="-122"/>
            </a:endParaRPr>
          </a:p>
          <a:p>
            <a:pPr indent="457200" algn="l">
              <a:lnSpc>
                <a:spcPts val="4320"/>
              </a:lnSpc>
              <a:buClrTx/>
              <a:buSzTx/>
              <a:buFontTx/>
            </a:pPr>
            <a:r>
              <a:rPr lang="zh-CN" altLang="en-US" sz="2400">
                <a:solidFill>
                  <a:schemeClr val="tx1"/>
                </a:solidFill>
                <a:latin typeface="微软雅黑" panose="020B0503020204020204" charset="-122"/>
                <a:ea typeface="微软雅黑" panose="020B0503020204020204" charset="-122"/>
              </a:rPr>
              <a:t>之前在跟进</a:t>
            </a:r>
            <a:r>
              <a:rPr lang="en-US" altLang="zh-CN" sz="2400">
                <a:solidFill>
                  <a:schemeClr val="tx1"/>
                </a:solidFill>
                <a:latin typeface="微软雅黑" panose="020B0503020204020204" charset="-122"/>
                <a:ea typeface="微软雅黑" panose="020B0503020204020204" charset="-122"/>
              </a:rPr>
              <a:t>Self-Adapting Models</a:t>
            </a:r>
            <a:r>
              <a:rPr lang="zh-CN" altLang="en-US" sz="2400">
                <a:solidFill>
                  <a:schemeClr val="tx1"/>
                </a:solidFill>
                <a:latin typeface="微软雅黑" panose="020B0503020204020204" charset="-122"/>
                <a:ea typeface="微软雅黑" panose="020B0503020204020204" charset="-122"/>
              </a:rPr>
              <a:t>的</a:t>
            </a:r>
            <a:r>
              <a:rPr lang="en-US" altLang="zh-CN" sz="2400">
                <a:solidFill>
                  <a:schemeClr val="tx1"/>
                </a:solidFill>
                <a:latin typeface="微软雅黑" panose="020B0503020204020204" charset="-122"/>
                <a:ea typeface="微软雅黑" panose="020B0503020204020204" charset="-122"/>
              </a:rPr>
              <a:t>topic</a:t>
            </a:r>
            <a:r>
              <a:rPr lang="zh-CN" altLang="en-US" sz="2400">
                <a:solidFill>
                  <a:schemeClr val="tx1"/>
                </a:solidFill>
                <a:latin typeface="微软雅黑" panose="020B0503020204020204" charset="-122"/>
                <a:ea typeface="微软雅黑" panose="020B0503020204020204" charset="-122"/>
              </a:rPr>
              <a:t>，目前已有创新思路和实验进展。原始的</a:t>
            </a:r>
            <a:r>
              <a:rPr lang="en-US" altLang="zh-CN" sz="2400">
                <a:solidFill>
                  <a:schemeClr val="tx1"/>
                </a:solidFill>
                <a:latin typeface="微软雅黑" panose="020B0503020204020204" charset="-122"/>
                <a:ea typeface="微软雅黑" panose="020B0503020204020204" charset="-122"/>
              </a:rPr>
              <a:t>SEAL</a:t>
            </a:r>
            <a:r>
              <a:rPr lang="zh-CN" altLang="en-US" sz="2400">
                <a:solidFill>
                  <a:schemeClr val="tx1"/>
                </a:solidFill>
                <a:latin typeface="微软雅黑" panose="020B0503020204020204" charset="-122"/>
                <a:ea typeface="微软雅黑" panose="020B0503020204020204" charset="-122"/>
              </a:rPr>
              <a:t>存在以下</a:t>
            </a:r>
            <a:r>
              <a:rPr lang="zh-CN" altLang="en-US" sz="2400">
                <a:solidFill>
                  <a:schemeClr val="tx1"/>
                </a:solidFill>
                <a:latin typeface="微软雅黑" panose="020B0503020204020204" charset="-122"/>
                <a:ea typeface="微软雅黑" panose="020B0503020204020204" charset="-122"/>
              </a:rPr>
              <a:t>问题：</a:t>
            </a:r>
            <a:endParaRPr lang="zh-CN" altLang="en-US" sz="2400">
              <a:solidFill>
                <a:schemeClr val="tx1"/>
              </a:solidFill>
              <a:latin typeface="微软雅黑" panose="020B0503020204020204" charset="-122"/>
              <a:ea typeface="微软雅黑" panose="020B0503020204020204" charset="-122"/>
            </a:endParaRPr>
          </a:p>
          <a:p>
            <a:pPr indent="457200" fontAlgn="auto">
              <a:lnSpc>
                <a:spcPct val="150000"/>
              </a:lnSpc>
            </a:pPr>
            <a:r>
              <a:rPr lang="en-US" sz="2400">
                <a:latin typeface="微软雅黑" panose="020B0503020204020204" charset="-122"/>
                <a:ea typeface="微软雅黑" panose="020B0503020204020204" charset="-122"/>
                <a:cs typeface="微软雅黑" panose="020B0503020204020204" charset="-122"/>
                <a:sym typeface="+mn-ea"/>
              </a:rPr>
              <a:t>1. CPT</a:t>
            </a:r>
            <a:r>
              <a:rPr lang="zh-CN" altLang="en-US" sz="2400">
                <a:latin typeface="微软雅黑" panose="020B0503020204020204" charset="-122"/>
                <a:ea typeface="微软雅黑" panose="020B0503020204020204" charset="-122"/>
                <a:cs typeface="微软雅黑" panose="020B0503020204020204" charset="-122"/>
                <a:sym typeface="+mn-ea"/>
              </a:rPr>
              <a:t>过程中使用</a:t>
            </a:r>
            <a:r>
              <a:rPr lang="en-US" altLang="zh-CN" sz="2400">
                <a:latin typeface="微软雅黑" panose="020B0503020204020204" charset="-122"/>
                <a:ea typeface="微软雅黑" panose="020B0503020204020204" charset="-122"/>
                <a:cs typeface="微软雅黑" panose="020B0503020204020204" charset="-122"/>
                <a:sym typeface="+mn-ea"/>
              </a:rPr>
              <a:t>lora</a:t>
            </a:r>
            <a:r>
              <a:rPr lang="zh-CN" altLang="en-US" sz="2400">
                <a:latin typeface="微软雅黑" panose="020B0503020204020204" charset="-122"/>
                <a:ea typeface="微软雅黑" panose="020B0503020204020204" charset="-122"/>
                <a:cs typeface="微软雅黑" panose="020B0503020204020204" charset="-122"/>
                <a:sym typeface="+mn-ea"/>
              </a:rPr>
              <a:t>微调后直接</a:t>
            </a:r>
            <a:r>
              <a:rPr lang="en-US" altLang="zh-CN" sz="2400">
                <a:latin typeface="微软雅黑" panose="020B0503020204020204" charset="-122"/>
                <a:ea typeface="微软雅黑" panose="020B0503020204020204" charset="-122"/>
                <a:cs typeface="微软雅黑" panose="020B0503020204020204" charset="-122"/>
                <a:sym typeface="+mn-ea"/>
              </a:rPr>
              <a:t>merge</a:t>
            </a:r>
            <a:r>
              <a:rPr lang="zh-CN" altLang="en-US" sz="2400">
                <a:latin typeface="微软雅黑" panose="020B0503020204020204" charset="-122"/>
                <a:ea typeface="微软雅黑" panose="020B0503020204020204" charset="-122"/>
                <a:cs typeface="微软雅黑" panose="020B0503020204020204" charset="-122"/>
                <a:sym typeface="+mn-ea"/>
              </a:rPr>
              <a:t>的方式，模型对于历史任务存在遗忘问题</a:t>
            </a:r>
            <a:endParaRPr lang="en-US" sz="2400">
              <a:latin typeface="微软雅黑" panose="020B0503020204020204" charset="-122"/>
              <a:ea typeface="微软雅黑" panose="020B0503020204020204" charset="-122"/>
              <a:cs typeface="微软雅黑" panose="020B0503020204020204" charset="-122"/>
            </a:endParaRPr>
          </a:p>
          <a:p>
            <a:pPr indent="457200" fontAlgn="auto">
              <a:lnSpc>
                <a:spcPct val="150000"/>
              </a:lnSpc>
            </a:pPr>
            <a:r>
              <a:rPr lang="en-US" sz="2400">
                <a:latin typeface="微软雅黑" panose="020B0503020204020204" charset="-122"/>
                <a:ea typeface="微软雅黑" panose="020B0503020204020204" charset="-122"/>
                <a:cs typeface="微软雅黑" panose="020B0503020204020204" charset="-122"/>
                <a:sym typeface="+mn-ea"/>
              </a:rPr>
              <a:t>2. </a:t>
            </a:r>
            <a:r>
              <a:rPr lang="zh-CN" altLang="en-US" sz="2400">
                <a:latin typeface="微软雅黑" panose="020B0503020204020204" charset="-122"/>
                <a:ea typeface="微软雅黑" panose="020B0503020204020204" charset="-122"/>
                <a:cs typeface="微软雅黑" panose="020B0503020204020204" charset="-122"/>
                <a:sym typeface="+mn-ea"/>
              </a:rPr>
              <a:t>没有在</a:t>
            </a:r>
            <a:r>
              <a:rPr lang="en-US" altLang="zh-CN" sz="2400">
                <a:latin typeface="微软雅黑" panose="020B0503020204020204" charset="-122"/>
                <a:ea typeface="微软雅黑" panose="020B0503020204020204" charset="-122"/>
                <a:cs typeface="微软雅黑" panose="020B0503020204020204" charset="-122"/>
                <a:sym typeface="+mn-ea"/>
              </a:rPr>
              <a:t>CPT</a:t>
            </a:r>
            <a:r>
              <a:rPr lang="zh-CN" altLang="en-US" sz="2400">
                <a:latin typeface="微软雅黑" panose="020B0503020204020204" charset="-122"/>
                <a:ea typeface="微软雅黑" panose="020B0503020204020204" charset="-122"/>
                <a:cs typeface="微软雅黑" panose="020B0503020204020204" charset="-122"/>
                <a:sym typeface="+mn-ea"/>
              </a:rPr>
              <a:t>链路中关于</a:t>
            </a:r>
            <a:r>
              <a:rPr lang="en-US" altLang="zh-CN" sz="2400">
                <a:latin typeface="微软雅黑" panose="020B0503020204020204" charset="-122"/>
                <a:ea typeface="微软雅黑" panose="020B0503020204020204" charset="-122"/>
                <a:cs typeface="微软雅黑" panose="020B0503020204020204" charset="-122"/>
                <a:sym typeface="+mn-ea"/>
              </a:rPr>
              <a:t>self-edit</a:t>
            </a:r>
            <a:r>
              <a:rPr lang="zh-CN" altLang="en-US" sz="2400">
                <a:latin typeface="微软雅黑" panose="020B0503020204020204" charset="-122"/>
                <a:ea typeface="微软雅黑" panose="020B0503020204020204" charset="-122"/>
                <a:cs typeface="微软雅黑" panose="020B0503020204020204" charset="-122"/>
                <a:sym typeface="+mn-ea"/>
              </a:rPr>
              <a:t>生成能力的遗忘分析（要做两个</a:t>
            </a:r>
            <a:r>
              <a:rPr lang="en-US" altLang="zh-CN" sz="2400">
                <a:latin typeface="微软雅黑" panose="020B0503020204020204" charset="-122"/>
                <a:ea typeface="微软雅黑" panose="020B0503020204020204" charset="-122"/>
                <a:cs typeface="微软雅黑" panose="020B0503020204020204" charset="-122"/>
                <a:sym typeface="+mn-ea"/>
              </a:rPr>
              <a:t>baseline</a:t>
            </a:r>
            <a:r>
              <a:rPr lang="zh-CN" altLang="en-US" sz="2400">
                <a:latin typeface="微软雅黑" panose="020B0503020204020204" charset="-122"/>
                <a:ea typeface="微软雅黑" panose="020B0503020204020204" charset="-122"/>
                <a:cs typeface="微软雅黑" panose="020B0503020204020204" charset="-122"/>
                <a:sym typeface="+mn-ea"/>
              </a:rPr>
              <a:t>，</a:t>
            </a:r>
            <a:r>
              <a:rPr lang="en-US" altLang="zh-CN" sz="2400">
                <a:latin typeface="微软雅黑" panose="020B0503020204020204" charset="-122"/>
                <a:ea typeface="微软雅黑" panose="020B0503020204020204" charset="-122"/>
                <a:cs typeface="微软雅黑" panose="020B0503020204020204" charset="-122"/>
                <a:sym typeface="+mn-ea"/>
              </a:rPr>
              <a:t>single passage</a:t>
            </a:r>
            <a:r>
              <a:rPr lang="zh-CN" altLang="en-US" sz="2400">
                <a:latin typeface="微软雅黑" panose="020B0503020204020204" charset="-122"/>
                <a:ea typeface="微软雅黑" panose="020B0503020204020204" charset="-122"/>
                <a:cs typeface="微软雅黑" panose="020B0503020204020204" charset="-122"/>
                <a:sym typeface="+mn-ea"/>
              </a:rPr>
              <a:t>与</a:t>
            </a:r>
            <a:r>
              <a:rPr lang="en-US" altLang="zh-CN" sz="2400">
                <a:latin typeface="微软雅黑" panose="020B0503020204020204" charset="-122"/>
                <a:ea typeface="微软雅黑" panose="020B0503020204020204" charset="-122"/>
                <a:cs typeface="微软雅黑" panose="020B0503020204020204" charset="-122"/>
                <a:sym typeface="+mn-ea"/>
              </a:rPr>
              <a:t>200 passages</a:t>
            </a:r>
            <a:r>
              <a:rPr lang="zh-CN" altLang="en-US" sz="2400">
                <a:latin typeface="微软雅黑" panose="020B0503020204020204" charset="-122"/>
                <a:ea typeface="微软雅黑" panose="020B0503020204020204" charset="-122"/>
                <a:cs typeface="微软雅黑" panose="020B0503020204020204" charset="-122"/>
                <a:sym typeface="+mn-ea"/>
              </a:rPr>
              <a:t>）</a:t>
            </a:r>
            <a:endParaRPr lang="zh-CN" altLang="en-US" sz="2400">
              <a:latin typeface="微软雅黑" panose="020B0503020204020204" charset="-122"/>
              <a:ea typeface="微软雅黑" panose="020B0503020204020204" charset="-122"/>
              <a:cs typeface="微软雅黑" panose="020B0503020204020204" charset="-122"/>
            </a:endParaRPr>
          </a:p>
          <a:p>
            <a:pPr indent="457200" fontAlgn="auto">
              <a:lnSpc>
                <a:spcPct val="150000"/>
              </a:lnSpc>
            </a:pPr>
            <a:r>
              <a:rPr lang="en-US" altLang="zh-CN" sz="2400">
                <a:latin typeface="微软雅黑" panose="020B0503020204020204" charset="-122"/>
                <a:ea typeface="微软雅黑" panose="020B0503020204020204" charset="-122"/>
                <a:cs typeface="微软雅黑" panose="020B0503020204020204" charset="-122"/>
                <a:sym typeface="+mn-ea"/>
              </a:rPr>
              <a:t>3. SEAL Loop</a:t>
            </a:r>
            <a:r>
              <a:rPr lang="zh-CN" altLang="en-US" sz="2400">
                <a:latin typeface="微软雅黑" panose="020B0503020204020204" charset="-122"/>
                <a:ea typeface="微软雅黑" panose="020B0503020204020204" charset="-122"/>
                <a:cs typeface="微软雅黑" panose="020B0503020204020204" charset="-122"/>
                <a:sym typeface="+mn-ea"/>
              </a:rPr>
              <a:t>只在</a:t>
            </a:r>
            <a:r>
              <a:rPr lang="en-US" altLang="zh-CN" sz="2400">
                <a:latin typeface="微软雅黑" panose="020B0503020204020204" charset="-122"/>
                <a:ea typeface="微软雅黑" panose="020B0503020204020204" charset="-122"/>
                <a:cs typeface="微软雅黑" panose="020B0503020204020204" charset="-122"/>
                <a:sym typeface="+mn-ea"/>
              </a:rPr>
              <a:t>LLM</a:t>
            </a:r>
            <a:r>
              <a:rPr lang="zh-CN" altLang="en-US" sz="2400">
                <a:latin typeface="微软雅黑" panose="020B0503020204020204" charset="-122"/>
                <a:ea typeface="微软雅黑" panose="020B0503020204020204" charset="-122"/>
                <a:cs typeface="微软雅黑" panose="020B0503020204020204" charset="-122"/>
                <a:sym typeface="+mn-ea"/>
              </a:rPr>
              <a:t>初始化阶段是完整的，在后续模型进行</a:t>
            </a:r>
            <a:r>
              <a:rPr lang="en-US" altLang="zh-CN" sz="2400">
                <a:latin typeface="微软雅黑" panose="020B0503020204020204" charset="-122"/>
                <a:ea typeface="微软雅黑" panose="020B0503020204020204" charset="-122"/>
                <a:cs typeface="微软雅黑" panose="020B0503020204020204" charset="-122"/>
                <a:sym typeface="+mn-ea"/>
              </a:rPr>
              <a:t>CPT</a:t>
            </a:r>
            <a:r>
              <a:rPr lang="zh-CN" altLang="en-US" sz="2400">
                <a:latin typeface="微软雅黑" panose="020B0503020204020204" charset="-122"/>
                <a:ea typeface="微软雅黑" panose="020B0503020204020204" charset="-122"/>
                <a:cs typeface="微软雅黑" panose="020B0503020204020204" charset="-122"/>
                <a:sym typeface="+mn-ea"/>
              </a:rPr>
              <a:t>进化的过程中没有闭环</a:t>
            </a:r>
            <a:endParaRPr lang="zh-CN" altLang="en-US" sz="2400">
              <a:latin typeface="微软雅黑" panose="020B0503020204020204" charset="-122"/>
              <a:ea typeface="微软雅黑" panose="020B0503020204020204" charset="-122"/>
              <a:cs typeface="微软雅黑" panose="020B0503020204020204" charset="-122"/>
            </a:endParaRPr>
          </a:p>
          <a:p>
            <a:pPr indent="457200" algn="l">
              <a:lnSpc>
                <a:spcPts val="4320"/>
              </a:lnSpc>
              <a:buClrTx/>
              <a:buSzTx/>
              <a:buFontTx/>
            </a:pPr>
            <a:endParaRPr lang="zh-CN" altLang="en-US" sz="2400">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5" name="圆柱形 4"/>
          <p:cNvSpPr/>
          <p:nvPr/>
        </p:nvSpPr>
        <p:spPr>
          <a:xfrm>
            <a:off x="4488815" y="6423660"/>
            <a:ext cx="1143000" cy="1215390"/>
          </a:xfrm>
          <a:prstGeom prst="can">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t>Initial Dataset</a:t>
            </a:r>
            <a:endParaRPr lang="en-US" altLang="zh-CN"/>
          </a:p>
        </p:txBody>
      </p:sp>
      <p:pic>
        <p:nvPicPr>
          <p:cNvPr id="7" name="图片 6" descr="科学"/>
          <p:cNvPicPr>
            <a:picLocks noChangeAspect="1"/>
          </p:cNvPicPr>
          <p:nvPr>
            <p:custDataLst>
              <p:tags r:id="rId4"/>
            </p:custDataLst>
          </p:nvPr>
        </p:nvPicPr>
        <p:blipFill>
          <a:blip r:embed="rId5">
            <a:extLst>
              <a:ext uri="{96DAC541-7B7A-43D3-8B79-37D633B846F1}">
                <asvg:svgBlip xmlns:asvg="http://schemas.microsoft.com/office/drawing/2016/SVG/main" r:embed="rId6"/>
              </a:ext>
            </a:extLst>
          </a:blip>
          <a:stretch>
            <a:fillRect/>
          </a:stretch>
        </p:blipFill>
        <p:spPr>
          <a:xfrm>
            <a:off x="6639560" y="6724650"/>
            <a:ext cx="914400" cy="914400"/>
          </a:xfrm>
          <a:prstGeom prst="rect">
            <a:avLst/>
          </a:prstGeom>
        </p:spPr>
      </p:pic>
      <p:pic>
        <p:nvPicPr>
          <p:cNvPr id="8" name="图片 7" descr="文档"/>
          <p:cNvPicPr>
            <a:picLocks noChangeAspect="1"/>
          </p:cNvPicPr>
          <p:nvPr>
            <p:custDataLst>
              <p:tags r:id="rId7"/>
            </p:custDataLst>
          </p:nvPr>
        </p:nvPicPr>
        <p:blipFill>
          <a:blip r:embed="rId8">
            <a:extLst>
              <a:ext uri="{96DAC541-7B7A-43D3-8B79-37D633B846F1}">
                <asvg:svgBlip xmlns:asvg="http://schemas.microsoft.com/office/drawing/2016/SVG/main" r:embed="rId9"/>
              </a:ext>
            </a:extLst>
          </a:blip>
          <a:stretch>
            <a:fillRect/>
          </a:stretch>
        </p:blipFill>
        <p:spPr>
          <a:xfrm>
            <a:off x="8579485" y="6724650"/>
            <a:ext cx="914400" cy="914400"/>
          </a:xfrm>
          <a:prstGeom prst="rect">
            <a:avLst/>
          </a:prstGeom>
        </p:spPr>
      </p:pic>
      <p:sp>
        <p:nvSpPr>
          <p:cNvPr id="11" name="文本框 10"/>
          <p:cNvSpPr txBox="1"/>
          <p:nvPr/>
        </p:nvSpPr>
        <p:spPr>
          <a:xfrm>
            <a:off x="8457565" y="6356350"/>
            <a:ext cx="1205230" cy="368300"/>
          </a:xfrm>
          <a:prstGeom prst="rect">
            <a:avLst/>
          </a:prstGeom>
          <a:noFill/>
        </p:spPr>
        <p:txBody>
          <a:bodyPr wrap="square" rtlCol="0">
            <a:spAutoFit/>
          </a:bodyPr>
          <a:p>
            <a:pPr algn="ctr"/>
            <a:r>
              <a:rPr lang="en-US" altLang="zh-CN"/>
              <a:t>Self-edit</a:t>
            </a:r>
            <a:endParaRPr lang="en-US" altLang="zh-CN"/>
          </a:p>
        </p:txBody>
      </p:sp>
      <p:sp>
        <p:nvSpPr>
          <p:cNvPr id="12" name="文本框 11"/>
          <p:cNvSpPr txBox="1"/>
          <p:nvPr/>
        </p:nvSpPr>
        <p:spPr>
          <a:xfrm>
            <a:off x="6494145" y="6356350"/>
            <a:ext cx="1205230" cy="368300"/>
          </a:xfrm>
          <a:prstGeom prst="rect">
            <a:avLst/>
          </a:prstGeom>
          <a:noFill/>
        </p:spPr>
        <p:txBody>
          <a:bodyPr wrap="square" rtlCol="0">
            <a:spAutoFit/>
          </a:bodyPr>
          <a:p>
            <a:pPr algn="ctr"/>
            <a:r>
              <a:rPr lang="en-US" altLang="zh-CN"/>
              <a:t>LLM</a:t>
            </a:r>
            <a:endParaRPr lang="en-US" altLang="zh-CN"/>
          </a:p>
        </p:txBody>
      </p:sp>
      <p:pic>
        <p:nvPicPr>
          <p:cNvPr id="13" name="图片 12" descr="科学"/>
          <p:cNvPicPr>
            <a:picLocks noChangeAspect="1"/>
          </p:cNvPicPr>
          <p:nvPr>
            <p:custDataLst>
              <p:tags r:id="rId10"/>
            </p:custDataLst>
          </p:nvPr>
        </p:nvPicPr>
        <p:blipFill>
          <a:blip r:embed="rId11">
            <a:extLst>
              <a:ext uri="{96DAC541-7B7A-43D3-8B79-37D633B846F1}">
                <asvg:svgBlip xmlns:asvg="http://schemas.microsoft.com/office/drawing/2016/SVG/main" r:embed="rId12"/>
              </a:ext>
            </a:extLst>
          </a:blip>
          <a:stretch>
            <a:fillRect/>
          </a:stretch>
        </p:blipFill>
        <p:spPr>
          <a:xfrm>
            <a:off x="10367010" y="6724650"/>
            <a:ext cx="914400" cy="914400"/>
          </a:xfrm>
          <a:prstGeom prst="rect">
            <a:avLst/>
          </a:prstGeom>
        </p:spPr>
      </p:pic>
      <p:sp>
        <p:nvSpPr>
          <p:cNvPr id="14" name="文本框 13"/>
          <p:cNvSpPr txBox="1"/>
          <p:nvPr/>
        </p:nvSpPr>
        <p:spPr>
          <a:xfrm>
            <a:off x="9956165" y="6356350"/>
            <a:ext cx="1735455" cy="368300"/>
          </a:xfrm>
          <a:prstGeom prst="rect">
            <a:avLst/>
          </a:prstGeom>
          <a:noFill/>
        </p:spPr>
        <p:txBody>
          <a:bodyPr wrap="square" rtlCol="0">
            <a:spAutoFit/>
          </a:bodyPr>
          <a:p>
            <a:pPr algn="ctr"/>
            <a:r>
              <a:rPr lang="en-US" altLang="zh-CN"/>
              <a:t>Inner LLM</a:t>
            </a:r>
            <a:endParaRPr lang="en-US" altLang="zh-CN"/>
          </a:p>
        </p:txBody>
      </p:sp>
      <p:pic>
        <p:nvPicPr>
          <p:cNvPr id="15" name="图片 14" descr="评估"/>
          <p:cNvPicPr>
            <a:picLocks noChangeAspect="1"/>
          </p:cNvPicPr>
          <p:nvPr>
            <p:custDataLst>
              <p:tags r:id="rId13"/>
            </p:custDataLst>
          </p:nvPr>
        </p:nvPicPr>
        <p:blipFill>
          <a:blip r:embed="rId14">
            <a:extLst>
              <a:ext uri="{96DAC541-7B7A-43D3-8B79-37D633B846F1}">
                <asvg:svgBlip xmlns:asvg="http://schemas.microsoft.com/office/drawing/2016/SVG/main" r:embed="rId15"/>
              </a:ext>
            </a:extLst>
          </a:blip>
          <a:stretch>
            <a:fillRect/>
          </a:stretch>
        </p:blipFill>
        <p:spPr>
          <a:xfrm>
            <a:off x="12611100" y="6724650"/>
            <a:ext cx="914400" cy="914400"/>
          </a:xfrm>
          <a:prstGeom prst="rect">
            <a:avLst/>
          </a:prstGeom>
        </p:spPr>
      </p:pic>
      <p:sp>
        <p:nvSpPr>
          <p:cNvPr id="16" name="文本框 15"/>
          <p:cNvSpPr txBox="1"/>
          <p:nvPr/>
        </p:nvSpPr>
        <p:spPr>
          <a:xfrm>
            <a:off x="12203430" y="6423660"/>
            <a:ext cx="1735455" cy="368300"/>
          </a:xfrm>
          <a:prstGeom prst="rect">
            <a:avLst/>
          </a:prstGeom>
          <a:noFill/>
        </p:spPr>
        <p:txBody>
          <a:bodyPr wrap="square" rtlCol="0">
            <a:spAutoFit/>
          </a:bodyPr>
          <a:p>
            <a:pPr algn="ctr"/>
            <a:r>
              <a:rPr lang="en-US" altLang="zh-CN"/>
              <a:t>Evaluation</a:t>
            </a:r>
            <a:endParaRPr lang="en-US" altLang="zh-CN"/>
          </a:p>
        </p:txBody>
      </p:sp>
      <p:sp>
        <p:nvSpPr>
          <p:cNvPr id="17" name="右箭头 16"/>
          <p:cNvSpPr/>
          <p:nvPr/>
        </p:nvSpPr>
        <p:spPr>
          <a:xfrm>
            <a:off x="7760335" y="7077710"/>
            <a:ext cx="612775" cy="228600"/>
          </a:xfrm>
          <a:prstGeom prst="rightArrow">
            <a:avLst/>
          </a:prstGeom>
          <a:solidFill>
            <a:schemeClr val="accent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0" name="右箭头 19"/>
          <p:cNvSpPr/>
          <p:nvPr/>
        </p:nvSpPr>
        <p:spPr>
          <a:xfrm>
            <a:off x="5881370" y="7077710"/>
            <a:ext cx="612775" cy="228600"/>
          </a:xfrm>
          <a:prstGeom prst="rightArrow">
            <a:avLst/>
          </a:prstGeom>
          <a:solidFill>
            <a:schemeClr val="accent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1" name="右箭头 20"/>
          <p:cNvSpPr/>
          <p:nvPr/>
        </p:nvSpPr>
        <p:spPr>
          <a:xfrm>
            <a:off x="9652635" y="7077710"/>
            <a:ext cx="612775" cy="228600"/>
          </a:xfrm>
          <a:prstGeom prst="rightArrow">
            <a:avLst/>
          </a:prstGeom>
          <a:solidFill>
            <a:schemeClr val="accent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2" name="右箭头 21"/>
          <p:cNvSpPr/>
          <p:nvPr/>
        </p:nvSpPr>
        <p:spPr>
          <a:xfrm>
            <a:off x="11640185" y="7077710"/>
            <a:ext cx="612775" cy="228600"/>
          </a:xfrm>
          <a:prstGeom prst="rightArrow">
            <a:avLst/>
          </a:prstGeom>
          <a:solidFill>
            <a:schemeClr val="accent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nvGrpSpPr>
          <p:cNvPr id="26" name="组合 25"/>
          <p:cNvGrpSpPr/>
          <p:nvPr/>
        </p:nvGrpSpPr>
        <p:grpSpPr>
          <a:xfrm>
            <a:off x="6932295" y="5732145"/>
            <a:ext cx="6190615" cy="422910"/>
            <a:chOff x="5926" y="4049"/>
            <a:chExt cx="9749" cy="666"/>
          </a:xfrm>
          <a:solidFill>
            <a:schemeClr val="accent1"/>
          </a:solidFill>
        </p:grpSpPr>
        <p:sp>
          <p:nvSpPr>
            <p:cNvPr id="24" name="直角上箭头 23"/>
            <p:cNvSpPr/>
            <p:nvPr/>
          </p:nvSpPr>
          <p:spPr>
            <a:xfrm rot="10800000">
              <a:off x="5926" y="4061"/>
              <a:ext cx="9655" cy="654"/>
            </a:xfrm>
            <a:prstGeom prst="bentUpArrow">
              <a:avLst>
                <a:gd name="adj1" fmla="val 25000"/>
                <a:gd name="adj2" fmla="val 25000"/>
                <a:gd name="adj3" fmla="val 35168"/>
              </a:avLst>
            </a:prstGeom>
            <a:grpFill/>
            <a:ln w="0">
              <a:solidFill>
                <a:schemeClr val="accent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cxnSp>
          <p:nvCxnSpPr>
            <p:cNvPr id="25" name="直接连接符 24"/>
            <p:cNvCxnSpPr/>
            <p:nvPr/>
          </p:nvCxnSpPr>
          <p:spPr>
            <a:xfrm>
              <a:off x="15669" y="4049"/>
              <a:ext cx="7" cy="662"/>
            </a:xfrm>
            <a:prstGeom prst="line">
              <a:avLst/>
            </a:prstGeom>
            <a:grpFill/>
            <a:ln w="101600" cmpd="sng">
              <a:solidFill>
                <a:schemeClr val="accent1"/>
              </a:solidFill>
              <a:prstDash val="solid"/>
            </a:ln>
          </p:spPr>
          <p:style>
            <a:lnRef idx="2">
              <a:schemeClr val="accent1"/>
            </a:lnRef>
            <a:fillRef idx="0">
              <a:srgbClr val="FFFFFF"/>
            </a:fillRef>
            <a:effectRef idx="0">
              <a:srgbClr val="FFFFFF"/>
            </a:effectRef>
            <a:fontRef idx="minor">
              <a:schemeClr val="tx1"/>
            </a:fontRef>
          </p:style>
        </p:cxnSp>
      </p:grpSp>
      <p:pic>
        <p:nvPicPr>
          <p:cNvPr id="27" name="图片 26" descr="任务"/>
          <p:cNvPicPr>
            <a:picLocks noChangeAspect="1"/>
          </p:cNvPicPr>
          <p:nvPr>
            <p:custDataLst>
              <p:tags r:id="rId16"/>
            </p:custDataLst>
          </p:nvPr>
        </p:nvPicPr>
        <p:blipFill>
          <a:blip r:embed="rId17">
            <a:extLst>
              <a:ext uri="{96DAC541-7B7A-43D3-8B79-37D633B846F1}">
                <asvg:svgBlip xmlns:asvg="http://schemas.microsoft.com/office/drawing/2016/SVG/main" r:embed="rId18"/>
              </a:ext>
            </a:extLst>
          </a:blip>
          <a:srcRect/>
          <a:stretch>
            <a:fillRect/>
          </a:stretch>
        </p:blipFill>
        <p:spPr>
          <a:xfrm>
            <a:off x="4603115" y="8208645"/>
            <a:ext cx="914400" cy="914400"/>
          </a:xfrm>
          <a:prstGeom prst="rect">
            <a:avLst/>
          </a:prstGeom>
        </p:spPr>
      </p:pic>
      <p:sp>
        <p:nvSpPr>
          <p:cNvPr id="28" name="右箭头 27"/>
          <p:cNvSpPr/>
          <p:nvPr/>
        </p:nvSpPr>
        <p:spPr>
          <a:xfrm rot="19500000">
            <a:off x="5891530" y="8119745"/>
            <a:ext cx="612775" cy="228600"/>
          </a:xfrm>
          <a:prstGeom prst="rightArrow">
            <a:avLst/>
          </a:prstGeom>
          <a:solidFill>
            <a:srgbClr val="00B05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9" name="文本框 28"/>
          <p:cNvSpPr txBox="1"/>
          <p:nvPr/>
        </p:nvSpPr>
        <p:spPr>
          <a:xfrm>
            <a:off x="4426585" y="9232265"/>
            <a:ext cx="1205230" cy="368300"/>
          </a:xfrm>
          <a:prstGeom prst="rect">
            <a:avLst/>
          </a:prstGeom>
          <a:noFill/>
        </p:spPr>
        <p:txBody>
          <a:bodyPr wrap="square" rtlCol="0">
            <a:spAutoFit/>
          </a:bodyPr>
          <a:p>
            <a:pPr algn="ctr"/>
            <a:r>
              <a:rPr lang="en-US" altLang="zh-CN"/>
              <a:t>New task</a:t>
            </a:r>
            <a:endParaRPr lang="en-US" altLang="zh-CN"/>
          </a:p>
        </p:txBody>
      </p:sp>
      <p:sp>
        <p:nvSpPr>
          <p:cNvPr id="30" name="矩形 29"/>
          <p:cNvSpPr/>
          <p:nvPr/>
        </p:nvSpPr>
        <p:spPr>
          <a:xfrm>
            <a:off x="3733800" y="5047615"/>
            <a:ext cx="10300970" cy="2672080"/>
          </a:xfrm>
          <a:prstGeom prst="rect">
            <a:avLst/>
          </a:prstGeom>
          <a:noFill/>
          <a:ln w="19050">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1" name="右箭头 30"/>
          <p:cNvSpPr/>
          <p:nvPr/>
        </p:nvSpPr>
        <p:spPr>
          <a:xfrm rot="2460000">
            <a:off x="7760335" y="8133715"/>
            <a:ext cx="612775" cy="228600"/>
          </a:xfrm>
          <a:prstGeom prst="rightArrow">
            <a:avLst/>
          </a:prstGeom>
          <a:solidFill>
            <a:srgbClr val="00B05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2" name="文本框 31"/>
          <p:cNvSpPr txBox="1"/>
          <p:nvPr/>
        </p:nvSpPr>
        <p:spPr>
          <a:xfrm>
            <a:off x="8292465" y="5145405"/>
            <a:ext cx="1487805" cy="368300"/>
          </a:xfrm>
          <a:prstGeom prst="rect">
            <a:avLst/>
          </a:prstGeom>
          <a:noFill/>
        </p:spPr>
        <p:txBody>
          <a:bodyPr wrap="square" rtlCol="0">
            <a:spAutoFit/>
          </a:bodyPr>
          <a:p>
            <a:pPr algn="ctr"/>
            <a:r>
              <a:rPr lang="en-US" altLang="zh-CN"/>
              <a:t>SEAL Loop</a:t>
            </a:r>
            <a:endParaRPr lang="en-US" altLang="zh-CN"/>
          </a:p>
        </p:txBody>
      </p:sp>
      <p:pic>
        <p:nvPicPr>
          <p:cNvPr id="33" name="图片 32" descr="文档"/>
          <p:cNvPicPr>
            <a:picLocks noChangeAspect="1"/>
          </p:cNvPicPr>
          <p:nvPr>
            <p:custDataLst>
              <p:tags r:id="rId19"/>
            </p:custDataLst>
          </p:nvPr>
        </p:nvPicPr>
        <p:blipFill>
          <a:blip r:embed="rId20">
            <a:extLst>
              <a:ext uri="{96DAC541-7B7A-43D3-8B79-37D633B846F1}">
                <asvg:svgBlip xmlns:asvg="http://schemas.microsoft.com/office/drawing/2016/SVG/main" r:embed="rId21"/>
              </a:ext>
            </a:extLst>
          </a:blip>
          <a:stretch>
            <a:fillRect/>
          </a:stretch>
        </p:blipFill>
        <p:spPr>
          <a:xfrm>
            <a:off x="8584565" y="8208645"/>
            <a:ext cx="914400" cy="914400"/>
          </a:xfrm>
          <a:prstGeom prst="rect">
            <a:avLst/>
          </a:prstGeom>
        </p:spPr>
      </p:pic>
      <p:sp>
        <p:nvSpPr>
          <p:cNvPr id="34" name="文本框 33"/>
          <p:cNvSpPr txBox="1"/>
          <p:nvPr/>
        </p:nvSpPr>
        <p:spPr>
          <a:xfrm>
            <a:off x="8462645" y="9232265"/>
            <a:ext cx="1205230" cy="368300"/>
          </a:xfrm>
          <a:prstGeom prst="rect">
            <a:avLst/>
          </a:prstGeom>
          <a:noFill/>
        </p:spPr>
        <p:txBody>
          <a:bodyPr wrap="square" rtlCol="0">
            <a:spAutoFit/>
          </a:bodyPr>
          <a:p>
            <a:pPr algn="ctr"/>
            <a:r>
              <a:rPr lang="en-US" altLang="zh-CN"/>
              <a:t>Self-edit</a:t>
            </a:r>
            <a:endParaRPr lang="en-US" altLang="zh-CN"/>
          </a:p>
        </p:txBody>
      </p:sp>
      <p:pic>
        <p:nvPicPr>
          <p:cNvPr id="35" name="图片 34" descr="科学"/>
          <p:cNvPicPr>
            <a:picLocks noChangeAspect="1"/>
          </p:cNvPicPr>
          <p:nvPr>
            <p:custDataLst>
              <p:tags r:id="rId22"/>
            </p:custDataLst>
          </p:nvPr>
        </p:nvPicPr>
        <p:blipFill>
          <a:blip r:embed="rId23">
            <a:extLst>
              <a:ext uri="{96DAC541-7B7A-43D3-8B79-37D633B846F1}">
                <asvg:svgBlip xmlns:asvg="http://schemas.microsoft.com/office/drawing/2016/SVG/main" r:embed="rId24"/>
              </a:ext>
            </a:extLst>
          </a:blip>
          <a:stretch>
            <a:fillRect/>
          </a:stretch>
        </p:blipFill>
        <p:spPr>
          <a:xfrm>
            <a:off x="10367010" y="8208645"/>
            <a:ext cx="914400" cy="914400"/>
          </a:xfrm>
          <a:prstGeom prst="rect">
            <a:avLst/>
          </a:prstGeom>
        </p:spPr>
      </p:pic>
      <p:sp>
        <p:nvSpPr>
          <p:cNvPr id="36" name="文本框 35"/>
          <p:cNvSpPr txBox="1"/>
          <p:nvPr/>
        </p:nvSpPr>
        <p:spPr>
          <a:xfrm>
            <a:off x="9956165" y="9232265"/>
            <a:ext cx="1735455" cy="368300"/>
          </a:xfrm>
          <a:prstGeom prst="rect">
            <a:avLst/>
          </a:prstGeom>
          <a:noFill/>
        </p:spPr>
        <p:txBody>
          <a:bodyPr wrap="square" rtlCol="0">
            <a:spAutoFit/>
          </a:bodyPr>
          <a:p>
            <a:pPr algn="ctr"/>
            <a:r>
              <a:rPr lang="en-US" altLang="zh-CN"/>
              <a:t>CPT LLM</a:t>
            </a:r>
            <a:endParaRPr lang="en-US" altLang="zh-CN"/>
          </a:p>
        </p:txBody>
      </p:sp>
      <p:sp>
        <p:nvSpPr>
          <p:cNvPr id="37" name="右箭头 36"/>
          <p:cNvSpPr/>
          <p:nvPr/>
        </p:nvSpPr>
        <p:spPr>
          <a:xfrm>
            <a:off x="9652635" y="8561705"/>
            <a:ext cx="612775" cy="228600"/>
          </a:xfrm>
          <a:prstGeom prst="rightArrow">
            <a:avLst/>
          </a:prstGeom>
          <a:solidFill>
            <a:srgbClr val="00B05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 name="文本框 1"/>
          <p:cNvSpPr txBox="1"/>
          <p:nvPr/>
        </p:nvSpPr>
        <p:spPr>
          <a:xfrm>
            <a:off x="8292465" y="9611995"/>
            <a:ext cx="1487805" cy="368300"/>
          </a:xfrm>
          <a:prstGeom prst="rect">
            <a:avLst/>
          </a:prstGeom>
          <a:noFill/>
        </p:spPr>
        <p:txBody>
          <a:bodyPr wrap="square" rtlCol="0">
            <a:spAutoFit/>
          </a:bodyPr>
          <a:p>
            <a:pPr algn="ctr"/>
            <a:r>
              <a:rPr lang="en-US" altLang="zh-CN"/>
              <a:t>CPT lane</a:t>
            </a:r>
            <a:endParaRPr lang="en-US" altLang="zh-CN"/>
          </a:p>
        </p:txBody>
      </p:sp>
    </p:spTree>
    <p:custDataLst>
      <p:tags r:id="rId25"/>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518160" y="468630"/>
            <a:ext cx="5971223" cy="645160"/>
          </a:xfrm>
          <a:prstGeom prst="rect">
            <a:avLst/>
          </a:prstGeom>
          <a:noFill/>
        </p:spPr>
        <p:txBody>
          <a:bodyPr wrap="square" rtlCol="0">
            <a:spAutoFit/>
          </a:bodyPr>
          <a:p>
            <a:r>
              <a:rPr lang="en-US" altLang="zh-CN" sz="3600" b="1"/>
              <a:t>Summary</a:t>
            </a:r>
            <a:endParaRPr lang="en-US" altLang="zh-CN" sz="3600" b="1"/>
          </a:p>
        </p:txBody>
      </p:sp>
      <p:sp>
        <p:nvSpPr>
          <p:cNvPr id="190" name="Freeform 30"/>
          <p:cNvSpPr/>
          <p:nvPr>
            <p:custDataLst>
              <p:tags r:id="rId1"/>
            </p:custDataLst>
          </p:nvPr>
        </p:nvSpPr>
        <p:spPr>
          <a:xfrm>
            <a:off x="15468688" y="343041"/>
            <a:ext cx="2187262" cy="656549"/>
          </a:xfrm>
          <a:custGeom>
            <a:avLst/>
            <a:gdLst/>
            <a:ahLst/>
            <a:cxnLst/>
            <a:rect l="l" t="t" r="r" b="b"/>
            <a:pathLst>
              <a:path w="2187262" h="656549">
                <a:moveTo>
                  <a:pt x="0" y="0"/>
                </a:moveTo>
                <a:lnTo>
                  <a:pt x="2187262" y="0"/>
                </a:lnTo>
                <a:lnTo>
                  <a:pt x="2187262" y="656549"/>
                </a:lnTo>
                <a:lnTo>
                  <a:pt x="0" y="656549"/>
                </a:lnTo>
                <a:lnTo>
                  <a:pt x="0" y="0"/>
                </a:lnTo>
                <a:close/>
              </a:path>
            </a:pathLst>
          </a:custGeom>
          <a:blipFill>
            <a:blip r:embed="rId2"/>
            <a:stretch>
              <a:fillRect/>
            </a:stretch>
          </a:blipFill>
        </p:spPr>
      </p:sp>
      <p:sp>
        <p:nvSpPr>
          <p:cNvPr id="3" name="TextBox 30"/>
          <p:cNvSpPr txBox="1"/>
          <p:nvPr>
            <p:custDataLst>
              <p:tags r:id="rId3"/>
            </p:custDataLst>
          </p:nvPr>
        </p:nvSpPr>
        <p:spPr>
          <a:xfrm>
            <a:off x="609600" y="1852295"/>
            <a:ext cx="16427450" cy="553720"/>
          </a:xfrm>
          <a:prstGeom prst="rect">
            <a:avLst/>
          </a:prstGeom>
        </p:spPr>
        <p:txBody>
          <a:bodyPr wrap="square" lIns="0" tIns="0" rIns="0" bIns="0" rtlCol="0" anchor="t">
            <a:spAutoFit/>
          </a:bodyPr>
          <a:lstStyle/>
          <a:p>
            <a:pPr indent="457200" algn="l">
              <a:lnSpc>
                <a:spcPts val="4320"/>
              </a:lnSpc>
              <a:buClrTx/>
              <a:buSzTx/>
              <a:buFontTx/>
            </a:pPr>
            <a:r>
              <a:rPr lang="zh-CN" altLang="en-US" sz="2400">
                <a:solidFill>
                  <a:schemeClr val="tx1"/>
                </a:solidFill>
                <a:latin typeface="微软雅黑" panose="020B0503020204020204" charset="-122"/>
                <a:ea typeface="微软雅黑" panose="020B0503020204020204" charset="-122"/>
                <a:cs typeface="微软雅黑" panose="020B0503020204020204" charset="-122"/>
              </a:rPr>
              <a:t>因此我这里想做成闭环系统，能够让模型在真实部署场景中不断地自进化，同时，解决进化过程中存在的遗忘</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问题。</a:t>
            </a:r>
            <a:endParaRPr lang="zh-CN" altLang="en-US" sz="2400">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9" name="圆柱形 8"/>
          <p:cNvSpPr/>
          <p:nvPr/>
        </p:nvSpPr>
        <p:spPr>
          <a:xfrm>
            <a:off x="4717415" y="4984750"/>
            <a:ext cx="1143000" cy="1215390"/>
          </a:xfrm>
          <a:prstGeom prst="can">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t>Initial Dataset</a:t>
            </a:r>
            <a:endParaRPr lang="en-US" altLang="zh-CN"/>
          </a:p>
        </p:txBody>
      </p:sp>
      <p:pic>
        <p:nvPicPr>
          <p:cNvPr id="10" name="图片 9" descr="科学"/>
          <p:cNvPicPr>
            <a:picLocks noChangeAspect="1"/>
          </p:cNvPicPr>
          <p:nvPr>
            <p:custDataLst>
              <p:tags r:id="rId4"/>
            </p:custDataLst>
          </p:nvPr>
        </p:nvPicPr>
        <p:blipFill>
          <a:blip r:embed="rId5">
            <a:extLst>
              <a:ext uri="{96DAC541-7B7A-43D3-8B79-37D633B846F1}">
                <asvg:svgBlip xmlns:asvg="http://schemas.microsoft.com/office/drawing/2016/SVG/main" r:embed="rId6"/>
              </a:ext>
            </a:extLst>
          </a:blip>
          <a:stretch>
            <a:fillRect/>
          </a:stretch>
        </p:blipFill>
        <p:spPr>
          <a:xfrm>
            <a:off x="6868160" y="5285740"/>
            <a:ext cx="914400" cy="914400"/>
          </a:xfrm>
          <a:prstGeom prst="rect">
            <a:avLst/>
          </a:prstGeom>
        </p:spPr>
      </p:pic>
      <p:pic>
        <p:nvPicPr>
          <p:cNvPr id="18" name="图片 17" descr="文档"/>
          <p:cNvPicPr>
            <a:picLocks noChangeAspect="1"/>
          </p:cNvPicPr>
          <p:nvPr>
            <p:custDataLst>
              <p:tags r:id="rId7"/>
            </p:custDataLst>
          </p:nvPr>
        </p:nvPicPr>
        <p:blipFill>
          <a:blip r:embed="rId8">
            <a:extLst>
              <a:ext uri="{96DAC541-7B7A-43D3-8B79-37D633B846F1}">
                <asvg:svgBlip xmlns:asvg="http://schemas.microsoft.com/office/drawing/2016/SVG/main" r:embed="rId9"/>
              </a:ext>
            </a:extLst>
          </a:blip>
          <a:stretch>
            <a:fillRect/>
          </a:stretch>
        </p:blipFill>
        <p:spPr>
          <a:xfrm>
            <a:off x="8808085" y="5285740"/>
            <a:ext cx="914400" cy="914400"/>
          </a:xfrm>
          <a:prstGeom prst="rect">
            <a:avLst/>
          </a:prstGeom>
        </p:spPr>
      </p:pic>
      <p:sp>
        <p:nvSpPr>
          <p:cNvPr id="19" name="文本框 18"/>
          <p:cNvSpPr txBox="1"/>
          <p:nvPr/>
        </p:nvSpPr>
        <p:spPr>
          <a:xfrm>
            <a:off x="8686165" y="4917440"/>
            <a:ext cx="1205230" cy="368300"/>
          </a:xfrm>
          <a:prstGeom prst="rect">
            <a:avLst/>
          </a:prstGeom>
          <a:noFill/>
        </p:spPr>
        <p:txBody>
          <a:bodyPr wrap="square" rtlCol="0">
            <a:spAutoFit/>
          </a:bodyPr>
          <a:p>
            <a:pPr algn="ctr"/>
            <a:r>
              <a:rPr lang="en-US" altLang="zh-CN"/>
              <a:t>Self-edit</a:t>
            </a:r>
            <a:endParaRPr lang="en-US" altLang="zh-CN"/>
          </a:p>
        </p:txBody>
      </p:sp>
      <p:sp>
        <p:nvSpPr>
          <p:cNvPr id="23" name="文本框 22"/>
          <p:cNvSpPr txBox="1"/>
          <p:nvPr/>
        </p:nvSpPr>
        <p:spPr>
          <a:xfrm>
            <a:off x="6722745" y="4917440"/>
            <a:ext cx="1205230" cy="368300"/>
          </a:xfrm>
          <a:prstGeom prst="rect">
            <a:avLst/>
          </a:prstGeom>
          <a:noFill/>
        </p:spPr>
        <p:txBody>
          <a:bodyPr wrap="square" rtlCol="0">
            <a:spAutoFit/>
          </a:bodyPr>
          <a:p>
            <a:pPr algn="ctr"/>
            <a:r>
              <a:rPr lang="en-US" altLang="zh-CN"/>
              <a:t>LLM</a:t>
            </a:r>
            <a:endParaRPr lang="en-US" altLang="zh-CN"/>
          </a:p>
        </p:txBody>
      </p:sp>
      <p:pic>
        <p:nvPicPr>
          <p:cNvPr id="38" name="图片 37" descr="科学"/>
          <p:cNvPicPr>
            <a:picLocks noChangeAspect="1"/>
          </p:cNvPicPr>
          <p:nvPr>
            <p:custDataLst>
              <p:tags r:id="rId10"/>
            </p:custDataLst>
          </p:nvPr>
        </p:nvPicPr>
        <p:blipFill>
          <a:blip r:embed="rId11">
            <a:extLst>
              <a:ext uri="{96DAC541-7B7A-43D3-8B79-37D633B846F1}">
                <asvg:svgBlip xmlns:asvg="http://schemas.microsoft.com/office/drawing/2016/SVG/main" r:embed="rId12"/>
              </a:ext>
            </a:extLst>
          </a:blip>
          <a:stretch>
            <a:fillRect/>
          </a:stretch>
        </p:blipFill>
        <p:spPr>
          <a:xfrm>
            <a:off x="10595610" y="5285740"/>
            <a:ext cx="914400" cy="914400"/>
          </a:xfrm>
          <a:prstGeom prst="rect">
            <a:avLst/>
          </a:prstGeom>
        </p:spPr>
      </p:pic>
      <p:sp>
        <p:nvSpPr>
          <p:cNvPr id="39" name="文本框 38"/>
          <p:cNvSpPr txBox="1"/>
          <p:nvPr/>
        </p:nvSpPr>
        <p:spPr>
          <a:xfrm>
            <a:off x="10184765" y="4917440"/>
            <a:ext cx="1735455" cy="368300"/>
          </a:xfrm>
          <a:prstGeom prst="rect">
            <a:avLst/>
          </a:prstGeom>
          <a:noFill/>
        </p:spPr>
        <p:txBody>
          <a:bodyPr wrap="square" rtlCol="0">
            <a:spAutoFit/>
          </a:bodyPr>
          <a:p>
            <a:pPr algn="ctr"/>
            <a:r>
              <a:rPr lang="en-US" altLang="zh-CN"/>
              <a:t>Inner LLM</a:t>
            </a:r>
            <a:endParaRPr lang="en-US" altLang="zh-CN"/>
          </a:p>
        </p:txBody>
      </p:sp>
      <p:pic>
        <p:nvPicPr>
          <p:cNvPr id="40" name="图片 39" descr="评估"/>
          <p:cNvPicPr>
            <a:picLocks noChangeAspect="1"/>
          </p:cNvPicPr>
          <p:nvPr>
            <p:custDataLst>
              <p:tags r:id="rId13"/>
            </p:custDataLst>
          </p:nvPr>
        </p:nvPicPr>
        <p:blipFill>
          <a:blip r:embed="rId14">
            <a:extLst>
              <a:ext uri="{96DAC541-7B7A-43D3-8B79-37D633B846F1}">
                <asvg:svgBlip xmlns:asvg="http://schemas.microsoft.com/office/drawing/2016/SVG/main" r:embed="rId15"/>
              </a:ext>
            </a:extLst>
          </a:blip>
          <a:stretch>
            <a:fillRect/>
          </a:stretch>
        </p:blipFill>
        <p:spPr>
          <a:xfrm>
            <a:off x="12839700" y="5285740"/>
            <a:ext cx="914400" cy="914400"/>
          </a:xfrm>
          <a:prstGeom prst="rect">
            <a:avLst/>
          </a:prstGeom>
        </p:spPr>
      </p:pic>
      <p:sp>
        <p:nvSpPr>
          <p:cNvPr id="41" name="文本框 40"/>
          <p:cNvSpPr txBox="1"/>
          <p:nvPr/>
        </p:nvSpPr>
        <p:spPr>
          <a:xfrm>
            <a:off x="12432030" y="4984750"/>
            <a:ext cx="1735455" cy="368300"/>
          </a:xfrm>
          <a:prstGeom prst="rect">
            <a:avLst/>
          </a:prstGeom>
          <a:noFill/>
        </p:spPr>
        <p:txBody>
          <a:bodyPr wrap="square" rtlCol="0">
            <a:spAutoFit/>
          </a:bodyPr>
          <a:p>
            <a:pPr algn="ctr"/>
            <a:r>
              <a:rPr lang="en-US" altLang="zh-CN"/>
              <a:t>Evaluation</a:t>
            </a:r>
            <a:endParaRPr lang="en-US" altLang="zh-CN"/>
          </a:p>
        </p:txBody>
      </p:sp>
      <p:sp>
        <p:nvSpPr>
          <p:cNvPr id="42" name="右箭头 41"/>
          <p:cNvSpPr/>
          <p:nvPr/>
        </p:nvSpPr>
        <p:spPr>
          <a:xfrm>
            <a:off x="7988935" y="5638800"/>
            <a:ext cx="612775" cy="228600"/>
          </a:xfrm>
          <a:prstGeom prst="rightArrow">
            <a:avLst/>
          </a:prstGeom>
          <a:solidFill>
            <a:schemeClr val="accent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3" name="右箭头 42"/>
          <p:cNvSpPr/>
          <p:nvPr/>
        </p:nvSpPr>
        <p:spPr>
          <a:xfrm>
            <a:off x="6109970" y="5638800"/>
            <a:ext cx="612775" cy="228600"/>
          </a:xfrm>
          <a:prstGeom prst="rightArrow">
            <a:avLst/>
          </a:prstGeom>
          <a:solidFill>
            <a:schemeClr val="accent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4" name="右箭头 43"/>
          <p:cNvSpPr/>
          <p:nvPr/>
        </p:nvSpPr>
        <p:spPr>
          <a:xfrm>
            <a:off x="9881235" y="5638800"/>
            <a:ext cx="612775" cy="228600"/>
          </a:xfrm>
          <a:prstGeom prst="rightArrow">
            <a:avLst/>
          </a:prstGeom>
          <a:solidFill>
            <a:schemeClr val="accent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5" name="右箭头 44"/>
          <p:cNvSpPr/>
          <p:nvPr/>
        </p:nvSpPr>
        <p:spPr>
          <a:xfrm>
            <a:off x="11868785" y="5638800"/>
            <a:ext cx="612775" cy="228600"/>
          </a:xfrm>
          <a:prstGeom prst="rightArrow">
            <a:avLst/>
          </a:prstGeom>
          <a:solidFill>
            <a:schemeClr val="accent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nvGrpSpPr>
          <p:cNvPr id="46" name="组合 45"/>
          <p:cNvGrpSpPr/>
          <p:nvPr/>
        </p:nvGrpSpPr>
        <p:grpSpPr>
          <a:xfrm>
            <a:off x="7160895" y="4293235"/>
            <a:ext cx="6190615" cy="422910"/>
            <a:chOff x="5926" y="4049"/>
            <a:chExt cx="9749" cy="666"/>
          </a:xfrm>
          <a:solidFill>
            <a:schemeClr val="accent1"/>
          </a:solidFill>
        </p:grpSpPr>
        <p:sp>
          <p:nvSpPr>
            <p:cNvPr id="47" name="直角上箭头 46"/>
            <p:cNvSpPr/>
            <p:nvPr/>
          </p:nvSpPr>
          <p:spPr>
            <a:xfrm rot="10800000">
              <a:off x="5926" y="4061"/>
              <a:ext cx="9655" cy="654"/>
            </a:xfrm>
            <a:prstGeom prst="bentUpArrow">
              <a:avLst>
                <a:gd name="adj1" fmla="val 25000"/>
                <a:gd name="adj2" fmla="val 25000"/>
                <a:gd name="adj3" fmla="val 35168"/>
              </a:avLst>
            </a:prstGeom>
            <a:grpFill/>
            <a:ln w="0">
              <a:solidFill>
                <a:schemeClr val="accent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cxnSp>
          <p:nvCxnSpPr>
            <p:cNvPr id="48" name="直接连接符 47"/>
            <p:cNvCxnSpPr/>
            <p:nvPr/>
          </p:nvCxnSpPr>
          <p:spPr>
            <a:xfrm>
              <a:off x="15669" y="4049"/>
              <a:ext cx="7" cy="662"/>
            </a:xfrm>
            <a:prstGeom prst="line">
              <a:avLst/>
            </a:prstGeom>
            <a:grpFill/>
            <a:ln w="101600" cmpd="sng">
              <a:solidFill>
                <a:schemeClr val="accent1"/>
              </a:solidFill>
              <a:prstDash val="solid"/>
            </a:ln>
          </p:spPr>
          <p:style>
            <a:lnRef idx="2">
              <a:schemeClr val="accent1"/>
            </a:lnRef>
            <a:fillRef idx="0">
              <a:srgbClr val="FFFFFF"/>
            </a:fillRef>
            <a:effectRef idx="0">
              <a:srgbClr val="FFFFFF"/>
            </a:effectRef>
            <a:fontRef idx="minor">
              <a:schemeClr val="tx1"/>
            </a:fontRef>
          </p:style>
        </p:cxnSp>
      </p:grpSp>
      <p:pic>
        <p:nvPicPr>
          <p:cNvPr id="49" name="图片 48" descr="任务"/>
          <p:cNvPicPr>
            <a:picLocks noChangeAspect="1"/>
          </p:cNvPicPr>
          <p:nvPr>
            <p:custDataLst>
              <p:tags r:id="rId16"/>
            </p:custDataLst>
          </p:nvPr>
        </p:nvPicPr>
        <p:blipFill>
          <a:blip r:embed="rId17">
            <a:extLst>
              <a:ext uri="{96DAC541-7B7A-43D3-8B79-37D633B846F1}">
                <asvg:svgBlip xmlns:asvg="http://schemas.microsoft.com/office/drawing/2016/SVG/main" r:embed="rId18"/>
              </a:ext>
            </a:extLst>
          </a:blip>
          <a:srcRect/>
          <a:stretch>
            <a:fillRect/>
          </a:stretch>
        </p:blipFill>
        <p:spPr>
          <a:xfrm>
            <a:off x="4831715" y="6769735"/>
            <a:ext cx="914400" cy="914400"/>
          </a:xfrm>
          <a:prstGeom prst="rect">
            <a:avLst/>
          </a:prstGeom>
        </p:spPr>
      </p:pic>
      <p:sp>
        <p:nvSpPr>
          <p:cNvPr id="50" name="右箭头 49"/>
          <p:cNvSpPr/>
          <p:nvPr/>
        </p:nvSpPr>
        <p:spPr>
          <a:xfrm rot="19500000">
            <a:off x="6120130" y="6680835"/>
            <a:ext cx="612775" cy="228600"/>
          </a:xfrm>
          <a:prstGeom prst="rightArrow">
            <a:avLst/>
          </a:prstGeom>
          <a:solidFill>
            <a:srgbClr val="00B05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1" name="文本框 50"/>
          <p:cNvSpPr txBox="1"/>
          <p:nvPr/>
        </p:nvSpPr>
        <p:spPr>
          <a:xfrm>
            <a:off x="4655185" y="7793355"/>
            <a:ext cx="1205230" cy="368300"/>
          </a:xfrm>
          <a:prstGeom prst="rect">
            <a:avLst/>
          </a:prstGeom>
          <a:noFill/>
        </p:spPr>
        <p:txBody>
          <a:bodyPr wrap="square" rtlCol="0">
            <a:spAutoFit/>
          </a:bodyPr>
          <a:p>
            <a:pPr algn="ctr"/>
            <a:r>
              <a:rPr lang="en-US" altLang="zh-CN"/>
              <a:t>New task</a:t>
            </a:r>
            <a:endParaRPr lang="en-US" altLang="zh-CN"/>
          </a:p>
        </p:txBody>
      </p:sp>
      <p:sp>
        <p:nvSpPr>
          <p:cNvPr id="52" name="矩形 51"/>
          <p:cNvSpPr/>
          <p:nvPr/>
        </p:nvSpPr>
        <p:spPr>
          <a:xfrm>
            <a:off x="3962400" y="3608705"/>
            <a:ext cx="10300970" cy="2672080"/>
          </a:xfrm>
          <a:prstGeom prst="rect">
            <a:avLst/>
          </a:prstGeom>
          <a:noFill/>
          <a:ln w="19050">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3" name="右箭头 52"/>
          <p:cNvSpPr/>
          <p:nvPr/>
        </p:nvSpPr>
        <p:spPr>
          <a:xfrm rot="2460000">
            <a:off x="7988935" y="6694805"/>
            <a:ext cx="612775" cy="228600"/>
          </a:xfrm>
          <a:prstGeom prst="rightArrow">
            <a:avLst/>
          </a:prstGeom>
          <a:solidFill>
            <a:srgbClr val="00B05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4" name="文本框 53"/>
          <p:cNvSpPr txBox="1"/>
          <p:nvPr/>
        </p:nvSpPr>
        <p:spPr>
          <a:xfrm>
            <a:off x="8521065" y="3706495"/>
            <a:ext cx="1487805" cy="368300"/>
          </a:xfrm>
          <a:prstGeom prst="rect">
            <a:avLst/>
          </a:prstGeom>
          <a:noFill/>
        </p:spPr>
        <p:txBody>
          <a:bodyPr wrap="square" rtlCol="0">
            <a:spAutoFit/>
          </a:bodyPr>
          <a:p>
            <a:pPr algn="ctr"/>
            <a:r>
              <a:rPr lang="en-US" altLang="zh-CN"/>
              <a:t>Outer Loop</a:t>
            </a:r>
            <a:endParaRPr lang="en-US" altLang="zh-CN"/>
          </a:p>
        </p:txBody>
      </p:sp>
      <p:pic>
        <p:nvPicPr>
          <p:cNvPr id="55" name="图片 54" descr="文档"/>
          <p:cNvPicPr>
            <a:picLocks noChangeAspect="1"/>
          </p:cNvPicPr>
          <p:nvPr>
            <p:custDataLst>
              <p:tags r:id="rId19"/>
            </p:custDataLst>
          </p:nvPr>
        </p:nvPicPr>
        <p:blipFill>
          <a:blip r:embed="rId20">
            <a:extLst>
              <a:ext uri="{96DAC541-7B7A-43D3-8B79-37D633B846F1}">
                <asvg:svgBlip xmlns:asvg="http://schemas.microsoft.com/office/drawing/2016/SVG/main" r:embed="rId21"/>
              </a:ext>
            </a:extLst>
          </a:blip>
          <a:stretch>
            <a:fillRect/>
          </a:stretch>
        </p:blipFill>
        <p:spPr>
          <a:xfrm>
            <a:off x="8813165" y="6769735"/>
            <a:ext cx="914400" cy="914400"/>
          </a:xfrm>
          <a:prstGeom prst="rect">
            <a:avLst/>
          </a:prstGeom>
        </p:spPr>
      </p:pic>
      <p:sp>
        <p:nvSpPr>
          <p:cNvPr id="56" name="文本框 55"/>
          <p:cNvSpPr txBox="1"/>
          <p:nvPr/>
        </p:nvSpPr>
        <p:spPr>
          <a:xfrm>
            <a:off x="8691245" y="7793355"/>
            <a:ext cx="1205230" cy="368300"/>
          </a:xfrm>
          <a:prstGeom prst="rect">
            <a:avLst/>
          </a:prstGeom>
          <a:noFill/>
        </p:spPr>
        <p:txBody>
          <a:bodyPr wrap="square" rtlCol="0">
            <a:spAutoFit/>
          </a:bodyPr>
          <a:p>
            <a:pPr algn="ctr"/>
            <a:r>
              <a:rPr lang="en-US" altLang="zh-CN"/>
              <a:t>Self-edit</a:t>
            </a:r>
            <a:endParaRPr lang="en-US" altLang="zh-CN"/>
          </a:p>
        </p:txBody>
      </p:sp>
      <p:pic>
        <p:nvPicPr>
          <p:cNvPr id="57" name="图片 56" descr="科学"/>
          <p:cNvPicPr>
            <a:picLocks noChangeAspect="1"/>
          </p:cNvPicPr>
          <p:nvPr>
            <p:custDataLst>
              <p:tags r:id="rId22"/>
            </p:custDataLst>
          </p:nvPr>
        </p:nvPicPr>
        <p:blipFill>
          <a:blip r:embed="rId23">
            <a:extLst>
              <a:ext uri="{96DAC541-7B7A-43D3-8B79-37D633B846F1}">
                <asvg:svgBlip xmlns:asvg="http://schemas.microsoft.com/office/drawing/2016/SVG/main" r:embed="rId24"/>
              </a:ext>
            </a:extLst>
          </a:blip>
          <a:stretch>
            <a:fillRect/>
          </a:stretch>
        </p:blipFill>
        <p:spPr>
          <a:xfrm>
            <a:off x="10595610" y="6769735"/>
            <a:ext cx="914400" cy="914400"/>
          </a:xfrm>
          <a:prstGeom prst="rect">
            <a:avLst/>
          </a:prstGeom>
        </p:spPr>
      </p:pic>
      <p:sp>
        <p:nvSpPr>
          <p:cNvPr id="58" name="文本框 57"/>
          <p:cNvSpPr txBox="1"/>
          <p:nvPr/>
        </p:nvSpPr>
        <p:spPr>
          <a:xfrm>
            <a:off x="10184765" y="7793355"/>
            <a:ext cx="1735455" cy="368300"/>
          </a:xfrm>
          <a:prstGeom prst="rect">
            <a:avLst/>
          </a:prstGeom>
          <a:noFill/>
        </p:spPr>
        <p:txBody>
          <a:bodyPr wrap="square" rtlCol="0">
            <a:spAutoFit/>
          </a:bodyPr>
          <a:p>
            <a:pPr algn="ctr"/>
            <a:r>
              <a:rPr lang="en-US" altLang="zh-CN"/>
              <a:t>Envolved LLM</a:t>
            </a:r>
            <a:endParaRPr lang="en-US" altLang="zh-CN"/>
          </a:p>
        </p:txBody>
      </p:sp>
      <p:sp>
        <p:nvSpPr>
          <p:cNvPr id="59" name="右箭头 58"/>
          <p:cNvSpPr/>
          <p:nvPr/>
        </p:nvSpPr>
        <p:spPr>
          <a:xfrm>
            <a:off x="9881235" y="7122795"/>
            <a:ext cx="612775" cy="228600"/>
          </a:xfrm>
          <a:prstGeom prst="rightArrow">
            <a:avLst/>
          </a:prstGeom>
          <a:solidFill>
            <a:srgbClr val="00B05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0" name="圆柱形 59"/>
          <p:cNvSpPr/>
          <p:nvPr/>
        </p:nvSpPr>
        <p:spPr>
          <a:xfrm>
            <a:off x="6802120" y="7438390"/>
            <a:ext cx="1143000" cy="1215390"/>
          </a:xfrm>
          <a:prstGeom prst="can">
            <a:avLst/>
          </a:prstGeom>
          <a:solidFill>
            <a:srgbClr val="00B050"/>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t>Task</a:t>
            </a:r>
            <a:endParaRPr lang="en-US" altLang="zh-CN"/>
          </a:p>
          <a:p>
            <a:pPr algn="ctr"/>
            <a:r>
              <a:rPr lang="en-US" altLang="zh-CN"/>
              <a:t>RAG</a:t>
            </a:r>
            <a:endParaRPr lang="en-US" altLang="zh-CN"/>
          </a:p>
        </p:txBody>
      </p:sp>
      <p:sp>
        <p:nvSpPr>
          <p:cNvPr id="61" name="右箭头 60"/>
          <p:cNvSpPr/>
          <p:nvPr/>
        </p:nvSpPr>
        <p:spPr>
          <a:xfrm rot="16200000">
            <a:off x="7059295" y="6780530"/>
            <a:ext cx="612775" cy="228600"/>
          </a:xfrm>
          <a:prstGeom prst="rightArrow">
            <a:avLst/>
          </a:prstGeom>
          <a:solidFill>
            <a:srgbClr val="00B05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cxnSp>
        <p:nvCxnSpPr>
          <p:cNvPr id="62" name="曲线连接符 61"/>
          <p:cNvCxnSpPr>
            <a:stCxn id="57" idx="0"/>
          </p:cNvCxnSpPr>
          <p:nvPr/>
        </p:nvCxnSpPr>
        <p:spPr>
          <a:xfrm rot="16200000" flipV="1">
            <a:off x="9103360" y="4820285"/>
            <a:ext cx="624840" cy="3274060"/>
          </a:xfrm>
          <a:prstGeom prst="curvedConnector2">
            <a:avLst/>
          </a:prstGeom>
          <a:ln w="31750">
            <a:solidFill>
              <a:srgbClr val="00B050"/>
            </a:solidFill>
            <a:tailEnd type="arrow"/>
          </a:ln>
        </p:spPr>
        <p:style>
          <a:lnRef idx="2">
            <a:schemeClr val="accent1"/>
          </a:lnRef>
          <a:fillRef idx="0">
            <a:srgbClr val="FFFFFF"/>
          </a:fillRef>
          <a:effectRef idx="0">
            <a:srgbClr val="FFFFFF"/>
          </a:effectRef>
          <a:fontRef idx="minor">
            <a:schemeClr val="tx1"/>
          </a:fontRef>
        </p:style>
      </p:cxnSp>
      <p:cxnSp>
        <p:nvCxnSpPr>
          <p:cNvPr id="63" name="曲线连接符 62"/>
          <p:cNvCxnSpPr>
            <a:stCxn id="49" idx="3"/>
            <a:endCxn id="60" idx="2"/>
          </p:cNvCxnSpPr>
          <p:nvPr/>
        </p:nvCxnSpPr>
        <p:spPr>
          <a:xfrm>
            <a:off x="5746115" y="7226935"/>
            <a:ext cx="1056005" cy="819150"/>
          </a:xfrm>
          <a:prstGeom prst="curvedConnector3">
            <a:avLst>
              <a:gd name="adj1" fmla="val 50030"/>
            </a:avLst>
          </a:prstGeom>
          <a:ln w="31750">
            <a:solidFill>
              <a:srgbClr val="00B050"/>
            </a:solidFill>
            <a:tailEnd type="arrow"/>
          </a:ln>
        </p:spPr>
        <p:style>
          <a:lnRef idx="2">
            <a:schemeClr val="accent1"/>
          </a:lnRef>
          <a:fillRef idx="0">
            <a:srgbClr val="FFFFFF"/>
          </a:fillRef>
          <a:effectRef idx="0">
            <a:srgbClr val="FFFFFF"/>
          </a:effectRef>
          <a:fontRef idx="minor">
            <a:schemeClr val="tx1"/>
          </a:fontRef>
        </p:style>
      </p:cxnSp>
      <p:sp>
        <p:nvSpPr>
          <p:cNvPr id="64" name="矩形 63"/>
          <p:cNvSpPr/>
          <p:nvPr/>
        </p:nvSpPr>
        <p:spPr>
          <a:xfrm>
            <a:off x="3962400" y="6280785"/>
            <a:ext cx="10300970" cy="2865755"/>
          </a:xfrm>
          <a:prstGeom prst="rect">
            <a:avLst/>
          </a:prstGeom>
          <a:noFill/>
          <a:ln w="19050">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5" name="文本框 64"/>
          <p:cNvSpPr txBox="1"/>
          <p:nvPr/>
        </p:nvSpPr>
        <p:spPr>
          <a:xfrm>
            <a:off x="8521065" y="8778240"/>
            <a:ext cx="1487805" cy="368300"/>
          </a:xfrm>
          <a:prstGeom prst="rect">
            <a:avLst/>
          </a:prstGeom>
          <a:noFill/>
        </p:spPr>
        <p:txBody>
          <a:bodyPr wrap="square" rtlCol="0">
            <a:spAutoFit/>
          </a:bodyPr>
          <a:p>
            <a:pPr algn="ctr"/>
            <a:r>
              <a:rPr lang="en-US" altLang="zh-CN"/>
              <a:t>CPT Loop</a:t>
            </a:r>
            <a:endParaRPr lang="en-US" altLang="zh-CN"/>
          </a:p>
        </p:txBody>
      </p:sp>
    </p:spTree>
    <p:custDataLst>
      <p:tags r:id="rId25"/>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518160" y="468630"/>
            <a:ext cx="5971223" cy="645160"/>
          </a:xfrm>
          <a:prstGeom prst="rect">
            <a:avLst/>
          </a:prstGeom>
          <a:noFill/>
        </p:spPr>
        <p:txBody>
          <a:bodyPr wrap="square" rtlCol="0">
            <a:spAutoFit/>
          </a:bodyPr>
          <a:p>
            <a:r>
              <a:rPr lang="en-US" altLang="zh-CN" sz="3600" b="1"/>
              <a:t>Summary</a:t>
            </a:r>
            <a:endParaRPr lang="en-US" altLang="zh-CN" sz="3600" b="1"/>
          </a:p>
        </p:txBody>
      </p:sp>
      <p:sp>
        <p:nvSpPr>
          <p:cNvPr id="190" name="Freeform 30"/>
          <p:cNvSpPr/>
          <p:nvPr>
            <p:custDataLst>
              <p:tags r:id="rId1"/>
            </p:custDataLst>
          </p:nvPr>
        </p:nvSpPr>
        <p:spPr>
          <a:xfrm>
            <a:off x="15468688" y="343041"/>
            <a:ext cx="2187262" cy="656549"/>
          </a:xfrm>
          <a:custGeom>
            <a:avLst/>
            <a:gdLst/>
            <a:ahLst/>
            <a:cxnLst/>
            <a:rect l="l" t="t" r="r" b="b"/>
            <a:pathLst>
              <a:path w="2187262" h="656549">
                <a:moveTo>
                  <a:pt x="0" y="0"/>
                </a:moveTo>
                <a:lnTo>
                  <a:pt x="2187262" y="0"/>
                </a:lnTo>
                <a:lnTo>
                  <a:pt x="2187262" y="656549"/>
                </a:lnTo>
                <a:lnTo>
                  <a:pt x="0" y="656549"/>
                </a:lnTo>
                <a:lnTo>
                  <a:pt x="0" y="0"/>
                </a:lnTo>
                <a:close/>
              </a:path>
            </a:pathLst>
          </a:custGeom>
          <a:blipFill>
            <a:blip r:embed="rId2"/>
            <a:stretch>
              <a:fillRect/>
            </a:stretch>
          </a:blipFill>
        </p:spPr>
      </p:sp>
      <p:sp>
        <p:nvSpPr>
          <p:cNvPr id="3" name="TextBox 30"/>
          <p:cNvSpPr txBox="1"/>
          <p:nvPr>
            <p:custDataLst>
              <p:tags r:id="rId3"/>
            </p:custDataLst>
          </p:nvPr>
        </p:nvSpPr>
        <p:spPr>
          <a:xfrm>
            <a:off x="609600" y="1852295"/>
            <a:ext cx="15503525" cy="2215515"/>
          </a:xfrm>
          <a:prstGeom prst="rect">
            <a:avLst/>
          </a:prstGeom>
        </p:spPr>
        <p:txBody>
          <a:bodyPr wrap="square" lIns="0" tIns="0" rIns="0" bIns="0" rtlCol="0" anchor="t">
            <a:spAutoFit/>
          </a:bodyPr>
          <a:lstStyle/>
          <a:p>
            <a:pPr algn="l">
              <a:lnSpc>
                <a:spcPts val="4320"/>
              </a:lnSpc>
              <a:buClrTx/>
              <a:buSzTx/>
              <a:buFontTx/>
            </a:pPr>
            <a:r>
              <a:rPr lang="zh-CN" altLang="en-US" sz="2400">
                <a:solidFill>
                  <a:schemeClr val="tx1"/>
                </a:solidFill>
                <a:latin typeface="微软雅黑" panose="020B0503020204020204" charset="-122"/>
                <a:ea typeface="微软雅黑" panose="020B0503020204020204" charset="-122"/>
              </a:rPr>
              <a:t>改进思路：</a:t>
            </a:r>
            <a:endParaRPr lang="zh-CN" altLang="en-US" sz="2400">
              <a:solidFill>
                <a:schemeClr val="tx1"/>
              </a:solidFill>
              <a:latin typeface="微软雅黑" panose="020B0503020204020204" charset="-122"/>
              <a:ea typeface="微软雅黑" panose="020B0503020204020204" charset="-122"/>
            </a:endParaRPr>
          </a:p>
          <a:p>
            <a:pPr indent="457200" algn="l">
              <a:lnSpc>
                <a:spcPts val="4320"/>
              </a:lnSpc>
              <a:buClrTx/>
              <a:buSzTx/>
              <a:buFontTx/>
            </a:pPr>
            <a:r>
              <a:rPr lang="zh-CN" altLang="en-US" sz="2400">
                <a:solidFill>
                  <a:schemeClr val="tx1"/>
                </a:solidFill>
                <a:latin typeface="微软雅黑" panose="020B0503020204020204" charset="-122"/>
                <a:ea typeface="微软雅黑" panose="020B0503020204020204" charset="-122"/>
              </a:rPr>
              <a:t>思路主要来自于对于</a:t>
            </a:r>
            <a:r>
              <a:rPr lang="en-US" altLang="zh-CN" sz="2400">
                <a:solidFill>
                  <a:schemeClr val="tx1"/>
                </a:solidFill>
                <a:latin typeface="微软雅黑" panose="020B0503020204020204" charset="-122"/>
                <a:ea typeface="微软雅黑" panose="020B0503020204020204" charset="-122"/>
              </a:rPr>
              <a:t>O-LoRA</a:t>
            </a:r>
            <a:r>
              <a:rPr lang="zh-CN" altLang="en-US" sz="2400">
                <a:solidFill>
                  <a:schemeClr val="tx1"/>
                </a:solidFill>
                <a:latin typeface="微软雅黑" panose="020B0503020204020204" charset="-122"/>
                <a:ea typeface="微软雅黑" panose="020B0503020204020204" charset="-122"/>
              </a:rPr>
              <a:t>的复现工作，之前调研和复现</a:t>
            </a:r>
            <a:r>
              <a:rPr lang="en-US" altLang="zh-CN" sz="2400">
                <a:solidFill>
                  <a:schemeClr val="tx1"/>
                </a:solidFill>
                <a:latin typeface="微软雅黑" panose="020B0503020204020204" charset="-122"/>
                <a:ea typeface="微软雅黑" panose="020B0503020204020204" charset="-122"/>
              </a:rPr>
              <a:t>O-LoRA</a:t>
            </a:r>
            <a:r>
              <a:rPr lang="zh-CN" altLang="en-US" sz="2400">
                <a:solidFill>
                  <a:schemeClr val="tx1"/>
                </a:solidFill>
                <a:latin typeface="微软雅黑" panose="020B0503020204020204" charset="-122"/>
                <a:ea typeface="微软雅黑" panose="020B0503020204020204" charset="-122"/>
              </a:rPr>
              <a:t>的时候发现</a:t>
            </a:r>
            <a:r>
              <a:rPr lang="en-US" altLang="zh-CN" sz="2400">
                <a:solidFill>
                  <a:schemeClr val="tx1"/>
                </a:solidFill>
                <a:latin typeface="微软雅黑" panose="020B0503020204020204" charset="-122"/>
                <a:ea typeface="微软雅黑" panose="020B0503020204020204" charset="-122"/>
              </a:rPr>
              <a:t>github</a:t>
            </a:r>
            <a:r>
              <a:rPr lang="zh-CN" altLang="en-US" sz="2400">
                <a:solidFill>
                  <a:schemeClr val="tx1"/>
                </a:solidFill>
                <a:latin typeface="微软雅黑" panose="020B0503020204020204" charset="-122"/>
                <a:ea typeface="微软雅黑" panose="020B0503020204020204" charset="-122"/>
              </a:rPr>
              <a:t>中有提到说需要根据模型训练损失与正交损失的具体比值来选择合适的正交损失系数，当时就有想法</a:t>
            </a:r>
            <a:r>
              <a:rPr lang="zh-CN" altLang="en-US" sz="2400">
                <a:solidFill>
                  <a:schemeClr val="tx1"/>
                </a:solidFill>
                <a:latin typeface="微软雅黑" panose="020B0503020204020204" charset="-122"/>
                <a:ea typeface="微软雅黑" panose="020B0503020204020204" charset="-122"/>
              </a:rPr>
              <a:t>说做一种</a:t>
            </a:r>
            <a:r>
              <a:rPr lang="en-US" altLang="zh-CN" sz="2400">
                <a:solidFill>
                  <a:schemeClr val="tx1"/>
                </a:solidFill>
                <a:latin typeface="微软雅黑" panose="020B0503020204020204" charset="-122"/>
                <a:ea typeface="微软雅黑" panose="020B0503020204020204" charset="-122"/>
              </a:rPr>
              <a:t>Adaptive</a:t>
            </a:r>
            <a:r>
              <a:rPr lang="zh-CN" altLang="en-US" sz="2400">
                <a:solidFill>
                  <a:schemeClr val="tx1"/>
                </a:solidFill>
                <a:latin typeface="微软雅黑" panose="020B0503020204020204" charset="-122"/>
                <a:ea typeface="微软雅黑" panose="020B0503020204020204" charset="-122"/>
              </a:rPr>
              <a:t>的</a:t>
            </a:r>
            <a:r>
              <a:rPr lang="en-US" altLang="zh-CN" sz="2400">
                <a:solidFill>
                  <a:schemeClr val="tx1"/>
                </a:solidFill>
                <a:latin typeface="微软雅黑" panose="020B0503020204020204" charset="-122"/>
                <a:ea typeface="微软雅黑" panose="020B0503020204020204" charset="-122"/>
              </a:rPr>
              <a:t>O-LoRA</a:t>
            </a:r>
            <a:r>
              <a:rPr lang="zh-CN" altLang="en-US" sz="2400">
                <a:solidFill>
                  <a:schemeClr val="tx1"/>
                </a:solidFill>
                <a:latin typeface="微软雅黑" panose="020B0503020204020204" charset="-122"/>
                <a:ea typeface="微软雅黑" panose="020B0503020204020204" charset="-122"/>
              </a:rPr>
              <a:t>，能够根据任务间的相关关系来自适应地调整正交损失项的系数。</a:t>
            </a:r>
            <a:endParaRPr lang="en-US" altLang="zh-CN" sz="2400">
              <a:solidFill>
                <a:schemeClr val="tx1"/>
              </a:solidFill>
              <a:latin typeface="微软雅黑" panose="020B0503020204020204" charset="-122"/>
              <a:ea typeface="微软雅黑" panose="020B0503020204020204" charset="-122"/>
            </a:endParaRPr>
          </a:p>
        </p:txBody>
      </p:sp>
      <p:pic>
        <p:nvPicPr>
          <p:cNvPr id="5" name="图片 4"/>
          <p:cNvPicPr>
            <a:picLocks noChangeAspect="1"/>
          </p:cNvPicPr>
          <p:nvPr/>
        </p:nvPicPr>
        <p:blipFill>
          <a:blip r:embed="rId4"/>
          <a:stretch>
            <a:fillRect/>
          </a:stretch>
        </p:blipFill>
        <p:spPr>
          <a:xfrm>
            <a:off x="5791200" y="4229100"/>
            <a:ext cx="4608830" cy="1182370"/>
          </a:xfrm>
          <a:prstGeom prst="rect">
            <a:avLst/>
          </a:prstGeom>
        </p:spPr>
      </p:pic>
      <p:sp>
        <p:nvSpPr>
          <p:cNvPr id="4" name="TextBox 30"/>
          <p:cNvSpPr txBox="1"/>
          <p:nvPr>
            <p:custDataLst>
              <p:tags r:id="rId5"/>
            </p:custDataLst>
          </p:nvPr>
        </p:nvSpPr>
        <p:spPr>
          <a:xfrm>
            <a:off x="736600" y="5448300"/>
            <a:ext cx="15503525" cy="1442720"/>
          </a:xfrm>
          <a:prstGeom prst="rect">
            <a:avLst/>
          </a:prstGeom>
        </p:spPr>
        <p:txBody>
          <a:bodyPr wrap="square" lIns="0" tIns="0" rIns="0" bIns="0" rtlCol="0" anchor="t">
            <a:noAutofit/>
          </a:bodyPr>
          <a:lstStyle/>
          <a:p>
            <a:pPr indent="457200" algn="l">
              <a:lnSpc>
                <a:spcPts val="4320"/>
              </a:lnSpc>
              <a:buClrTx/>
              <a:buSzTx/>
              <a:buFontTx/>
            </a:pPr>
            <a:r>
              <a:rPr lang="zh-CN" altLang="en-US" sz="2400">
                <a:solidFill>
                  <a:schemeClr val="tx1"/>
                </a:solidFill>
                <a:latin typeface="微软雅黑" panose="020B0503020204020204" charset="-122"/>
                <a:ea typeface="微软雅黑" panose="020B0503020204020204" charset="-122"/>
              </a:rPr>
              <a:t>从这里得到启发，想使用模型自身来作为自进化过程中新任务</a:t>
            </a:r>
            <a:r>
              <a:rPr lang="en-US" altLang="zh-CN" sz="2400">
                <a:solidFill>
                  <a:schemeClr val="tx1"/>
                </a:solidFill>
                <a:latin typeface="微软雅黑" panose="020B0503020204020204" charset="-122"/>
                <a:ea typeface="微软雅黑" panose="020B0503020204020204" charset="-122"/>
              </a:rPr>
              <a:t>LoRA</a:t>
            </a:r>
            <a:r>
              <a:rPr lang="zh-CN" altLang="en-US" sz="2400">
                <a:solidFill>
                  <a:schemeClr val="tx1"/>
                </a:solidFill>
                <a:latin typeface="微软雅黑" panose="020B0503020204020204" charset="-122"/>
                <a:ea typeface="微软雅黑" panose="020B0503020204020204" charset="-122"/>
              </a:rPr>
              <a:t>正交损失系数的生成，因此在这里设置了一下</a:t>
            </a:r>
            <a:r>
              <a:rPr lang="en-US" altLang="zh-CN" sz="2400">
                <a:solidFill>
                  <a:schemeClr val="tx1"/>
                </a:solidFill>
                <a:latin typeface="微软雅黑" panose="020B0503020204020204" charset="-122"/>
                <a:ea typeface="微软雅黑" panose="020B0503020204020204" charset="-122"/>
              </a:rPr>
              <a:t>baselines</a:t>
            </a:r>
            <a:r>
              <a:rPr lang="zh-CN" altLang="en-US" sz="2400">
                <a:solidFill>
                  <a:schemeClr val="tx1"/>
                </a:solidFill>
                <a:latin typeface="微软雅黑" panose="020B0503020204020204" charset="-122"/>
                <a:ea typeface="微软雅黑" panose="020B0503020204020204" charset="-122"/>
              </a:rPr>
              <a:t>：</a:t>
            </a:r>
            <a:endParaRPr lang="zh-CN" altLang="en-US" sz="2400">
              <a:solidFill>
                <a:schemeClr val="tx1"/>
              </a:solidFill>
              <a:latin typeface="微软雅黑" panose="020B0503020204020204" charset="-122"/>
              <a:ea typeface="微软雅黑" panose="020B0503020204020204" charset="-122"/>
            </a:endParaRPr>
          </a:p>
          <a:p>
            <a:pPr indent="457200" algn="l">
              <a:lnSpc>
                <a:spcPts val="4320"/>
              </a:lnSpc>
              <a:buClrTx/>
              <a:buSzTx/>
              <a:buFontTx/>
            </a:pPr>
            <a:endParaRPr lang="zh-CN" altLang="en-US" sz="2400">
              <a:solidFill>
                <a:schemeClr val="tx1"/>
              </a:solidFill>
              <a:latin typeface="微软雅黑" panose="020B0503020204020204" charset="-122"/>
              <a:ea typeface="微软雅黑" panose="020B0503020204020204" charset="-122"/>
            </a:endParaRPr>
          </a:p>
        </p:txBody>
      </p:sp>
    </p:spTree>
    <p:custDataLst>
      <p:tags r:id="rId6"/>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518160" y="468630"/>
            <a:ext cx="5971223" cy="645160"/>
          </a:xfrm>
          <a:prstGeom prst="rect">
            <a:avLst/>
          </a:prstGeom>
          <a:noFill/>
        </p:spPr>
        <p:txBody>
          <a:bodyPr wrap="square" rtlCol="0">
            <a:spAutoFit/>
          </a:bodyPr>
          <a:p>
            <a:r>
              <a:rPr lang="en-US" altLang="zh-CN" sz="3600" b="1"/>
              <a:t>Summary</a:t>
            </a:r>
            <a:endParaRPr lang="en-US" altLang="zh-CN" sz="3600" b="1"/>
          </a:p>
        </p:txBody>
      </p:sp>
      <p:sp>
        <p:nvSpPr>
          <p:cNvPr id="190" name="Freeform 30"/>
          <p:cNvSpPr/>
          <p:nvPr>
            <p:custDataLst>
              <p:tags r:id="rId1"/>
            </p:custDataLst>
          </p:nvPr>
        </p:nvSpPr>
        <p:spPr>
          <a:xfrm>
            <a:off x="15468688" y="343041"/>
            <a:ext cx="2187262" cy="656549"/>
          </a:xfrm>
          <a:custGeom>
            <a:avLst/>
            <a:gdLst/>
            <a:ahLst/>
            <a:cxnLst/>
            <a:rect l="l" t="t" r="r" b="b"/>
            <a:pathLst>
              <a:path w="2187262" h="656549">
                <a:moveTo>
                  <a:pt x="0" y="0"/>
                </a:moveTo>
                <a:lnTo>
                  <a:pt x="2187262" y="0"/>
                </a:lnTo>
                <a:lnTo>
                  <a:pt x="2187262" y="656549"/>
                </a:lnTo>
                <a:lnTo>
                  <a:pt x="0" y="656549"/>
                </a:lnTo>
                <a:lnTo>
                  <a:pt x="0" y="0"/>
                </a:lnTo>
                <a:close/>
              </a:path>
            </a:pathLst>
          </a:custGeom>
          <a:blipFill>
            <a:blip r:embed="rId2"/>
            <a:stretch>
              <a:fillRect/>
            </a:stretch>
          </a:blipFill>
        </p:spPr>
      </p:sp>
      <p:sp>
        <p:nvSpPr>
          <p:cNvPr id="7" name="文本框 6"/>
          <p:cNvSpPr txBox="1"/>
          <p:nvPr/>
        </p:nvSpPr>
        <p:spPr>
          <a:xfrm>
            <a:off x="609600" y="1562100"/>
            <a:ext cx="16016605" cy="6792595"/>
          </a:xfrm>
          <a:prstGeom prst="rect">
            <a:avLst/>
          </a:prstGeom>
          <a:noFill/>
        </p:spPr>
        <p:txBody>
          <a:bodyPr wrap="square" rtlCol="0" anchor="t">
            <a:noAutofit/>
          </a:bodyPr>
          <a:p>
            <a:pPr indent="457200" algn="l">
              <a:lnSpc>
                <a:spcPts val="4320"/>
              </a:lnSpc>
              <a:buClrTx/>
              <a:buSzTx/>
              <a:buFontTx/>
            </a:pPr>
            <a:r>
              <a:rPr lang="en-US" altLang="zh-CN" sz="2400">
                <a:latin typeface="微软雅黑" panose="020B0503020204020204" charset="-122"/>
                <a:ea typeface="微软雅黑" panose="020B0503020204020204" charset="-122"/>
                <a:sym typeface="+mn-ea"/>
              </a:rPr>
              <a:t>Baseline 1: Sequential Vanilla SFT (</a:t>
            </a:r>
            <a:r>
              <a:rPr lang="zh-CN" altLang="en-US" sz="2400">
                <a:latin typeface="微软雅黑" panose="020B0503020204020204" charset="-122"/>
                <a:ea typeface="微软雅黑" panose="020B0503020204020204" charset="-122"/>
                <a:sym typeface="+mn-ea"/>
              </a:rPr>
              <a:t>下界)： 无约束的常规 </a:t>
            </a:r>
            <a:r>
              <a:rPr lang="en-US" altLang="zh-CN" sz="2400">
                <a:latin typeface="微软雅黑" panose="020B0503020204020204" charset="-122"/>
                <a:ea typeface="微软雅黑" panose="020B0503020204020204" charset="-122"/>
                <a:sym typeface="+mn-ea"/>
              </a:rPr>
              <a:t>SEAL </a:t>
            </a:r>
            <a:r>
              <a:rPr lang="zh-CN" altLang="en-US" sz="2400">
                <a:latin typeface="微软雅黑" panose="020B0503020204020204" charset="-122"/>
                <a:ea typeface="微软雅黑" panose="020B0503020204020204" charset="-122"/>
                <a:sym typeface="+mn-ea"/>
              </a:rPr>
              <a:t>连续 </a:t>
            </a:r>
            <a:r>
              <a:rPr lang="en-US" altLang="zh-CN" sz="2400">
                <a:latin typeface="微软雅黑" panose="020B0503020204020204" charset="-122"/>
                <a:ea typeface="微软雅黑" panose="020B0503020204020204" charset="-122"/>
                <a:sym typeface="+mn-ea"/>
              </a:rPr>
              <a:t>LoRA </a:t>
            </a:r>
            <a:r>
              <a:rPr lang="zh-CN" altLang="en-US" sz="2400">
                <a:latin typeface="微软雅黑" panose="020B0503020204020204" charset="-122"/>
                <a:ea typeface="微软雅黑" panose="020B0503020204020204" charset="-122"/>
                <a:sym typeface="+mn-ea"/>
              </a:rPr>
              <a:t>微调并 </a:t>
            </a:r>
            <a:r>
              <a:rPr lang="en-US" altLang="zh-CN" sz="2400">
                <a:latin typeface="微软雅黑" panose="020B0503020204020204" charset="-122"/>
                <a:ea typeface="微软雅黑" panose="020B0503020204020204" charset="-122"/>
                <a:sym typeface="+mn-ea"/>
              </a:rPr>
              <a:t>Merge，</a:t>
            </a:r>
            <a:r>
              <a:rPr lang="zh-CN" altLang="en-US" sz="2400">
                <a:latin typeface="微软雅黑" panose="020B0503020204020204" charset="-122"/>
                <a:ea typeface="微软雅黑" panose="020B0503020204020204" charset="-122"/>
                <a:sym typeface="+mn-ea"/>
              </a:rPr>
              <a:t>用以复现生成能力崩溃。</a:t>
            </a:r>
            <a:endParaRPr lang="zh-CN" altLang="en-US" sz="2400">
              <a:solidFill>
                <a:schemeClr val="tx1"/>
              </a:solidFill>
              <a:latin typeface="微软雅黑" panose="020B0503020204020204" charset="-122"/>
              <a:ea typeface="微软雅黑" panose="020B0503020204020204" charset="-122"/>
            </a:endParaRPr>
          </a:p>
          <a:p>
            <a:pPr indent="457200" algn="l">
              <a:lnSpc>
                <a:spcPts val="4320"/>
              </a:lnSpc>
              <a:buClrTx/>
              <a:buSzTx/>
              <a:buFontTx/>
            </a:pPr>
            <a:r>
              <a:rPr lang="en-US" altLang="zh-CN" sz="2400">
                <a:latin typeface="微软雅黑" panose="020B0503020204020204" charset="-122"/>
                <a:ea typeface="微软雅黑" panose="020B0503020204020204" charset="-122"/>
                <a:sym typeface="+mn-ea"/>
              </a:rPr>
              <a:t>Details：</a:t>
            </a:r>
            <a:r>
              <a:rPr lang="zh-CN" altLang="en-US" sz="2400">
                <a:latin typeface="微软雅黑" panose="020B0503020204020204" charset="-122"/>
                <a:ea typeface="微软雅黑" panose="020B0503020204020204" charset="-122"/>
                <a:sym typeface="+mn-ea"/>
              </a:rPr>
              <a:t>直接复用</a:t>
            </a:r>
            <a:r>
              <a:rPr lang="en-US" altLang="zh-CN" sz="2400">
                <a:latin typeface="微软雅黑" panose="020B0503020204020204" charset="-122"/>
                <a:ea typeface="微软雅黑" panose="020B0503020204020204" charset="-122"/>
                <a:sym typeface="+mn-ea"/>
              </a:rPr>
              <a:t>continual_self_edit_gen_forget</a:t>
            </a:r>
            <a:r>
              <a:rPr lang="zh-CN" altLang="en-US" sz="2400">
                <a:latin typeface="微软雅黑" panose="020B0503020204020204" charset="-122"/>
                <a:ea typeface="微软雅黑" panose="020B0503020204020204" charset="-122"/>
                <a:sym typeface="+mn-ea"/>
              </a:rPr>
              <a:t>的</a:t>
            </a:r>
            <a:r>
              <a:rPr lang="en-US" altLang="zh-CN" sz="2400">
                <a:latin typeface="微软雅黑" panose="020B0503020204020204" charset="-122"/>
                <a:ea typeface="微软雅黑" panose="020B0503020204020204" charset="-122"/>
                <a:sym typeface="+mn-ea"/>
              </a:rPr>
              <a:t>single passage</a:t>
            </a:r>
            <a:r>
              <a:rPr lang="zh-CN" altLang="en-US" sz="2400">
                <a:latin typeface="微软雅黑" panose="020B0503020204020204" charset="-122"/>
                <a:ea typeface="微软雅黑" panose="020B0503020204020204" charset="-122"/>
                <a:sym typeface="+mn-ea"/>
              </a:rPr>
              <a:t>模式即可获得结果，但是要注意模型要使用进行过</a:t>
            </a:r>
            <a:r>
              <a:rPr lang="en-US" altLang="zh-CN" sz="2400">
                <a:latin typeface="微软雅黑" panose="020B0503020204020204" charset="-122"/>
                <a:ea typeface="微软雅黑" panose="020B0503020204020204" charset="-122"/>
                <a:sym typeface="+mn-ea"/>
              </a:rPr>
              <a:t>RL</a:t>
            </a:r>
            <a:r>
              <a:rPr lang="zh-CN" altLang="en-US" sz="2400">
                <a:latin typeface="微软雅黑" panose="020B0503020204020204" charset="-122"/>
                <a:ea typeface="微软雅黑" panose="020B0503020204020204" charset="-122"/>
                <a:sym typeface="+mn-ea"/>
              </a:rPr>
              <a:t>之后的模型，方便带有</a:t>
            </a:r>
            <a:r>
              <a:rPr lang="en-US" altLang="zh-CN" sz="2400">
                <a:latin typeface="微软雅黑" panose="020B0503020204020204" charset="-122"/>
                <a:ea typeface="微软雅黑" panose="020B0503020204020204" charset="-122"/>
                <a:sym typeface="+mn-ea"/>
              </a:rPr>
              <a:t>self-edit</a:t>
            </a:r>
            <a:r>
              <a:rPr lang="zh-CN" altLang="en-US" sz="2400">
                <a:latin typeface="微软雅黑" panose="020B0503020204020204" charset="-122"/>
                <a:ea typeface="微软雅黑" panose="020B0503020204020204" charset="-122"/>
                <a:sym typeface="+mn-ea"/>
              </a:rPr>
              <a:t>的生成</a:t>
            </a:r>
            <a:r>
              <a:rPr lang="en-US" altLang="zh-CN" sz="2400">
                <a:latin typeface="微软雅黑" panose="020B0503020204020204" charset="-122"/>
                <a:ea typeface="微软雅黑" panose="020B0503020204020204" charset="-122"/>
                <a:sym typeface="+mn-ea"/>
              </a:rPr>
              <a:t>LoRA，</a:t>
            </a:r>
            <a:r>
              <a:rPr lang="zh-CN" altLang="en-US" sz="2400">
                <a:latin typeface="微软雅黑" panose="020B0503020204020204" charset="-122"/>
                <a:ea typeface="微软雅黑" panose="020B0503020204020204" charset="-122"/>
                <a:sym typeface="+mn-ea"/>
              </a:rPr>
              <a:t>与后面的</a:t>
            </a:r>
            <a:r>
              <a:rPr lang="en-US" altLang="zh-CN" sz="2400">
                <a:latin typeface="微软雅黑" panose="020B0503020204020204" charset="-122"/>
                <a:ea typeface="微软雅黑" panose="020B0503020204020204" charset="-122"/>
                <a:sym typeface="+mn-ea"/>
              </a:rPr>
              <a:t>baseline</a:t>
            </a:r>
            <a:r>
              <a:rPr lang="zh-CN" altLang="en-US" sz="2400">
                <a:latin typeface="微软雅黑" panose="020B0503020204020204" charset="-122"/>
                <a:ea typeface="微软雅黑" panose="020B0503020204020204" charset="-122"/>
                <a:sym typeface="+mn-ea"/>
              </a:rPr>
              <a:t>以及最后要提出的方法做比较。为了统一，这里后续的模型统一使用</a:t>
            </a:r>
            <a:r>
              <a:rPr lang="en-US" altLang="zh-CN" sz="2400">
                <a:latin typeface="微软雅黑" panose="020B0503020204020204" charset="-122"/>
                <a:ea typeface="微软雅黑" panose="020B0503020204020204" charset="-122"/>
                <a:sym typeface="+mn-ea"/>
              </a:rPr>
              <a:t>models/iter2</a:t>
            </a:r>
            <a:r>
              <a:rPr lang="zh-CN" altLang="en-US" sz="2400">
                <a:latin typeface="微软雅黑" panose="020B0503020204020204" charset="-122"/>
                <a:ea typeface="微软雅黑" panose="020B0503020204020204" charset="-122"/>
                <a:sym typeface="+mn-ea"/>
              </a:rPr>
              <a:t>作为初始模型。（重新跑</a:t>
            </a:r>
            <a:r>
              <a:rPr lang="en-US" altLang="zh-CN" sz="2400">
                <a:latin typeface="微软雅黑" panose="020B0503020204020204" charset="-122"/>
                <a:ea typeface="微软雅黑" panose="020B0503020204020204" charset="-122"/>
                <a:sym typeface="+mn-ea"/>
              </a:rPr>
              <a:t>RL</a:t>
            </a:r>
            <a:r>
              <a:rPr lang="zh-CN" altLang="en-US" sz="2400">
                <a:latin typeface="微软雅黑" panose="020B0503020204020204" charset="-122"/>
                <a:ea typeface="微软雅黑" panose="020B0503020204020204" charset="-122"/>
                <a:sym typeface="+mn-ea"/>
              </a:rPr>
              <a:t>实验，因为原始</a:t>
            </a:r>
            <a:r>
              <a:rPr lang="en-US" altLang="zh-CN" sz="2400">
                <a:latin typeface="微软雅黑" panose="020B0503020204020204" charset="-122"/>
                <a:ea typeface="微软雅黑" panose="020B0503020204020204" charset="-122"/>
                <a:sym typeface="+mn-ea"/>
              </a:rPr>
              <a:t>SEAL</a:t>
            </a:r>
            <a:r>
              <a:rPr lang="zh-CN" altLang="en-US" sz="2400">
                <a:latin typeface="微软雅黑" panose="020B0503020204020204" charset="-122"/>
                <a:ea typeface="微软雅黑" panose="020B0503020204020204" charset="-122"/>
                <a:sym typeface="+mn-ea"/>
              </a:rPr>
              <a:t>的</a:t>
            </a:r>
            <a:r>
              <a:rPr lang="en-US" altLang="zh-CN" sz="2400">
                <a:latin typeface="微软雅黑" panose="020B0503020204020204" charset="-122"/>
                <a:ea typeface="微软雅黑" panose="020B0503020204020204" charset="-122"/>
                <a:sym typeface="+mn-ea"/>
              </a:rPr>
              <a:t>outer LoRA</a:t>
            </a:r>
            <a:r>
              <a:rPr lang="zh-CN" altLang="en-US" sz="2400">
                <a:latin typeface="微软雅黑" panose="020B0503020204020204" charset="-122"/>
                <a:ea typeface="微软雅黑" panose="020B0503020204020204" charset="-122"/>
                <a:sym typeface="+mn-ea"/>
              </a:rPr>
              <a:t>使用了全层</a:t>
            </a:r>
            <a:r>
              <a:rPr lang="en-US" altLang="zh-CN" sz="2400">
                <a:latin typeface="微软雅黑" panose="020B0503020204020204" charset="-122"/>
                <a:ea typeface="微软雅黑" panose="020B0503020204020204" charset="-122"/>
                <a:sym typeface="+mn-ea"/>
              </a:rPr>
              <a:t>LoRA，</a:t>
            </a:r>
            <a:r>
              <a:rPr lang="zh-CN" altLang="en-US" sz="2400">
                <a:latin typeface="微软雅黑" panose="020B0503020204020204" charset="-122"/>
                <a:ea typeface="微软雅黑" panose="020B0503020204020204" charset="-122"/>
                <a:sym typeface="+mn-ea"/>
              </a:rPr>
              <a:t>而</a:t>
            </a:r>
            <a:r>
              <a:rPr lang="en-US" altLang="zh-CN" sz="2400">
                <a:latin typeface="微软雅黑" panose="020B0503020204020204" charset="-122"/>
                <a:ea typeface="微软雅黑" panose="020B0503020204020204" charset="-122"/>
                <a:sym typeface="+mn-ea"/>
              </a:rPr>
              <a:t>inner LoRA</a:t>
            </a:r>
            <a:r>
              <a:rPr lang="zh-CN" altLang="en-US" sz="2400">
                <a:latin typeface="微软雅黑" panose="020B0503020204020204" charset="-122"/>
                <a:ea typeface="微软雅黑" panose="020B0503020204020204" charset="-122"/>
                <a:sym typeface="+mn-ea"/>
              </a:rPr>
              <a:t>只用了</a:t>
            </a:r>
            <a:r>
              <a:rPr lang="en-US" altLang="zh-CN" sz="2400">
                <a:latin typeface="微软雅黑" panose="020B0503020204020204" charset="-122"/>
                <a:ea typeface="微软雅黑" panose="020B0503020204020204" charset="-122"/>
                <a:sym typeface="+mn-ea"/>
              </a:rPr>
              <a:t>Q</a:t>
            </a:r>
            <a:r>
              <a:rPr lang="zh-CN" altLang="en-US" sz="2400">
                <a:latin typeface="微软雅黑" panose="020B0503020204020204" charset="-122"/>
                <a:ea typeface="微软雅黑" panose="020B0503020204020204" charset="-122"/>
                <a:sym typeface="+mn-ea"/>
              </a:rPr>
              <a:t>和</a:t>
            </a:r>
            <a:r>
              <a:rPr lang="en-US" altLang="zh-CN" sz="2400">
                <a:latin typeface="微软雅黑" panose="020B0503020204020204" charset="-122"/>
                <a:ea typeface="微软雅黑" panose="020B0503020204020204" charset="-122"/>
                <a:sym typeface="+mn-ea"/>
              </a:rPr>
              <a:t>V，</a:t>
            </a:r>
            <a:r>
              <a:rPr lang="zh-CN" altLang="en-US" sz="2400">
                <a:latin typeface="微软雅黑" panose="020B0503020204020204" charset="-122"/>
                <a:ea typeface="微软雅黑" panose="020B0503020204020204" charset="-122"/>
                <a:sym typeface="+mn-ea"/>
              </a:rPr>
              <a:t>无法对齐计算正交损失）</a:t>
            </a:r>
            <a:endParaRPr lang="zh-CN" altLang="en-US" sz="2400">
              <a:latin typeface="微软雅黑" panose="020B0503020204020204" charset="-122"/>
              <a:ea typeface="微软雅黑" panose="020B0503020204020204" charset="-122"/>
              <a:sym typeface="+mn-ea"/>
            </a:endParaRPr>
          </a:p>
          <a:p>
            <a:pPr indent="457200" algn="l">
              <a:lnSpc>
                <a:spcPts val="4320"/>
              </a:lnSpc>
              <a:buClrTx/>
              <a:buSzTx/>
              <a:buFontTx/>
            </a:pPr>
            <a:endParaRPr lang="en-US" altLang="zh-CN" sz="2400">
              <a:latin typeface="微软雅黑" panose="020B0503020204020204" charset="-122"/>
              <a:ea typeface="微软雅黑" panose="020B0503020204020204" charset="-122"/>
              <a:sym typeface="+mn-ea"/>
            </a:endParaRPr>
          </a:p>
          <a:p>
            <a:pPr indent="457200" algn="l">
              <a:lnSpc>
                <a:spcPts val="4320"/>
              </a:lnSpc>
              <a:buClrTx/>
              <a:buSzTx/>
              <a:buFontTx/>
            </a:pPr>
            <a:r>
              <a:rPr lang="en-US" altLang="zh-CN" sz="2400">
                <a:latin typeface="微软雅黑" panose="020B0503020204020204" charset="-122"/>
                <a:ea typeface="微软雅黑" panose="020B0503020204020204" charset="-122"/>
                <a:sym typeface="+mn-ea"/>
              </a:rPr>
              <a:t>Baseline 2: Standard O-LoRA： </a:t>
            </a:r>
            <a:r>
              <a:rPr lang="zh-CN" altLang="en-US" sz="2400">
                <a:latin typeface="微软雅黑" panose="020B0503020204020204" charset="-122"/>
                <a:ea typeface="微软雅黑" panose="020B0503020204020204" charset="-122"/>
                <a:sym typeface="+mn-ea"/>
              </a:rPr>
              <a:t>在</a:t>
            </a:r>
            <a:r>
              <a:rPr lang="en-US" altLang="zh-CN" sz="2400">
                <a:latin typeface="微软雅黑" panose="020B0503020204020204" charset="-122"/>
                <a:ea typeface="微软雅黑" panose="020B0503020204020204" charset="-122"/>
                <a:sym typeface="+mn-ea"/>
              </a:rPr>
              <a:t>SEAL</a:t>
            </a:r>
            <a:r>
              <a:rPr lang="zh-CN" altLang="en-US" sz="2400">
                <a:latin typeface="微软雅黑" panose="020B0503020204020204" charset="-122"/>
                <a:ea typeface="微软雅黑" panose="020B0503020204020204" charset="-122"/>
                <a:sym typeface="+mn-ea"/>
              </a:rPr>
              <a:t>的基础上开启正交约束，但无视相似度，全局任务强制设定恒定正交系数</a:t>
            </a:r>
            <a:r>
              <a:rPr lang="en-US" altLang="zh-CN" sz="2400">
                <a:latin typeface="微软雅黑" panose="020B0503020204020204" charset="-122"/>
                <a:ea typeface="微软雅黑" panose="020B0503020204020204" charset="-122"/>
                <a:sym typeface="+mn-ea"/>
              </a:rPr>
              <a:t>λ=1。</a:t>
            </a:r>
            <a:r>
              <a:rPr lang="zh-CN" altLang="en-US" sz="2400">
                <a:latin typeface="微软雅黑" panose="020B0503020204020204" charset="-122"/>
                <a:ea typeface="微软雅黑" panose="020B0503020204020204" charset="-122"/>
                <a:sym typeface="+mn-ea"/>
              </a:rPr>
              <a:t>用以证明后期参数空间枯竭和相似任务无法充分训练的局限性。</a:t>
            </a:r>
            <a:endParaRPr lang="zh-CN" altLang="en-US" sz="2400">
              <a:latin typeface="微软雅黑" panose="020B0503020204020204" charset="-122"/>
              <a:ea typeface="微软雅黑" panose="020B0503020204020204" charset="-122"/>
              <a:sym typeface="+mn-ea"/>
            </a:endParaRPr>
          </a:p>
          <a:p>
            <a:pPr indent="457200" algn="l">
              <a:lnSpc>
                <a:spcPts val="4320"/>
              </a:lnSpc>
              <a:buClrTx/>
              <a:buSzTx/>
              <a:buFontTx/>
            </a:pPr>
            <a:r>
              <a:rPr lang="en-US" altLang="zh-CN" sz="2400">
                <a:latin typeface="微软雅黑" panose="020B0503020204020204" charset="-122"/>
                <a:ea typeface="微软雅黑" panose="020B0503020204020204" charset="-122"/>
                <a:sym typeface="+mn-ea"/>
              </a:rPr>
              <a:t>Details：</a:t>
            </a:r>
            <a:r>
              <a:rPr lang="zh-CN" altLang="en-US" sz="2400">
                <a:latin typeface="微软雅黑" panose="020B0503020204020204" charset="-122"/>
                <a:ea typeface="微软雅黑" panose="020B0503020204020204" charset="-122"/>
                <a:sym typeface="+mn-ea"/>
              </a:rPr>
              <a:t>在原</a:t>
            </a:r>
            <a:r>
              <a:rPr lang="en-US" altLang="zh-CN" sz="2400">
                <a:latin typeface="微软雅黑" panose="020B0503020204020204" charset="-122"/>
                <a:ea typeface="微软雅黑" panose="020B0503020204020204" charset="-122"/>
                <a:sym typeface="+mn-ea"/>
              </a:rPr>
              <a:t>SEAL</a:t>
            </a:r>
            <a:r>
              <a:rPr lang="zh-CN" altLang="en-US" sz="2400">
                <a:latin typeface="微软雅黑" panose="020B0503020204020204" charset="-122"/>
                <a:ea typeface="微软雅黑" panose="020B0503020204020204" charset="-122"/>
                <a:sym typeface="+mn-ea"/>
              </a:rPr>
              <a:t>内循环的训练中加入</a:t>
            </a:r>
            <a:r>
              <a:rPr lang="en-US" altLang="zh-CN" sz="2400">
                <a:latin typeface="微软雅黑" panose="020B0503020204020204" charset="-122"/>
                <a:ea typeface="微软雅黑" panose="020B0503020204020204" charset="-122"/>
                <a:sym typeface="+mn-ea"/>
              </a:rPr>
              <a:t>O-LoRA</a:t>
            </a:r>
            <a:r>
              <a:rPr lang="zh-CN" altLang="en-US" sz="2400">
                <a:latin typeface="微软雅黑" panose="020B0503020204020204" charset="-122"/>
                <a:ea typeface="微软雅黑" panose="020B0503020204020204" charset="-122"/>
                <a:sym typeface="+mn-ea"/>
              </a:rPr>
              <a:t>技术，并且要留出可以为不同任务添加系数的功能，虽然此条</a:t>
            </a:r>
            <a:r>
              <a:rPr lang="en-US" altLang="zh-CN" sz="2400">
                <a:latin typeface="微软雅黑" panose="020B0503020204020204" charset="-122"/>
                <a:ea typeface="微软雅黑" panose="020B0503020204020204" charset="-122"/>
                <a:sym typeface="+mn-ea"/>
              </a:rPr>
              <a:t>baseline</a:t>
            </a:r>
            <a:r>
              <a:rPr lang="zh-CN" altLang="en-US" sz="2400">
                <a:latin typeface="微软雅黑" panose="020B0503020204020204" charset="-122"/>
                <a:ea typeface="微软雅黑" panose="020B0503020204020204" charset="-122"/>
                <a:sym typeface="+mn-ea"/>
              </a:rPr>
              <a:t>中</a:t>
            </a:r>
            <a:r>
              <a:rPr lang="en-US" altLang="zh-CN" sz="2400">
                <a:latin typeface="微软雅黑" panose="020B0503020204020204" charset="-122"/>
                <a:ea typeface="微软雅黑" panose="020B0503020204020204" charset="-122"/>
                <a:sym typeface="+mn-ea"/>
              </a:rPr>
              <a:t>lambda</a:t>
            </a:r>
            <a:r>
              <a:rPr lang="zh-CN" altLang="en-US" sz="2400">
                <a:latin typeface="微软雅黑" panose="020B0503020204020204" charset="-122"/>
                <a:ea typeface="微软雅黑" panose="020B0503020204020204" charset="-122"/>
                <a:sym typeface="+mn-ea"/>
              </a:rPr>
              <a:t>固定。对于如何选取这个固定的</a:t>
            </a:r>
            <a:r>
              <a:rPr lang="en-US" altLang="zh-CN" sz="2400">
                <a:latin typeface="微软雅黑" panose="020B0503020204020204" charset="-122"/>
                <a:ea typeface="微软雅黑" panose="020B0503020204020204" charset="-122"/>
                <a:sym typeface="+mn-ea"/>
              </a:rPr>
              <a:t>lambda</a:t>
            </a:r>
            <a:r>
              <a:rPr lang="zh-CN" altLang="en-US" sz="2400">
                <a:latin typeface="微软雅黑" panose="020B0503020204020204" charset="-122"/>
                <a:ea typeface="微软雅黑" panose="020B0503020204020204" charset="-122"/>
                <a:sym typeface="+mn-ea"/>
              </a:rPr>
              <a:t>进行了超参数调整，选择了一个能使得</a:t>
            </a:r>
            <a:r>
              <a:rPr lang="en-US" altLang="zh-CN" sz="2400">
                <a:latin typeface="微软雅黑" panose="020B0503020204020204" charset="-122"/>
                <a:ea typeface="微软雅黑" panose="020B0503020204020204" charset="-122"/>
                <a:sym typeface="+mn-ea"/>
              </a:rPr>
              <a:t>O-LoRA</a:t>
            </a:r>
            <a:r>
              <a:rPr lang="zh-CN" altLang="en-US" sz="2400">
                <a:latin typeface="微软雅黑" panose="020B0503020204020204" charset="-122"/>
                <a:ea typeface="微软雅黑" panose="020B0503020204020204" charset="-122"/>
                <a:sym typeface="+mn-ea"/>
              </a:rPr>
              <a:t>防遗忘效果较好的</a:t>
            </a:r>
            <a:r>
              <a:rPr lang="en-US" altLang="zh-CN" sz="2400">
                <a:latin typeface="微软雅黑" panose="020B0503020204020204" charset="-122"/>
                <a:ea typeface="微软雅黑" panose="020B0503020204020204" charset="-122"/>
                <a:sym typeface="+mn-ea"/>
              </a:rPr>
              <a:t>lambda</a:t>
            </a:r>
            <a:endParaRPr lang="zh-CN" altLang="en-US" sz="2400">
              <a:latin typeface="微软雅黑" panose="020B0503020204020204" charset="-122"/>
              <a:ea typeface="微软雅黑" panose="020B0503020204020204" charset="-122"/>
              <a:sym typeface="+mn-ea"/>
            </a:endParaRPr>
          </a:p>
          <a:p>
            <a:pPr indent="457200" algn="l">
              <a:lnSpc>
                <a:spcPts val="4320"/>
              </a:lnSpc>
              <a:buClrTx/>
              <a:buSzTx/>
              <a:buFontTx/>
            </a:pPr>
            <a:endParaRPr lang="zh-CN" altLang="en-US" sz="2400">
              <a:latin typeface="微软雅黑" panose="020B0503020204020204" charset="-122"/>
              <a:ea typeface="微软雅黑" panose="020B0503020204020204" charset="-122"/>
              <a:sym typeface="+mn-ea"/>
            </a:endParaRPr>
          </a:p>
        </p:txBody>
      </p:sp>
    </p:spTree>
    <p:custDataLst>
      <p:tags r:id="rId3"/>
    </p:custData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518160" y="468630"/>
            <a:ext cx="5971223" cy="645160"/>
          </a:xfrm>
          <a:prstGeom prst="rect">
            <a:avLst/>
          </a:prstGeom>
          <a:noFill/>
        </p:spPr>
        <p:txBody>
          <a:bodyPr wrap="square" rtlCol="0">
            <a:spAutoFit/>
          </a:bodyPr>
          <a:p>
            <a:r>
              <a:rPr lang="en-US" altLang="zh-CN" sz="3600" b="1"/>
              <a:t>Summary</a:t>
            </a:r>
            <a:endParaRPr lang="en-US" altLang="zh-CN" sz="3600" b="1"/>
          </a:p>
        </p:txBody>
      </p:sp>
      <p:sp>
        <p:nvSpPr>
          <p:cNvPr id="190" name="Freeform 30"/>
          <p:cNvSpPr/>
          <p:nvPr>
            <p:custDataLst>
              <p:tags r:id="rId1"/>
            </p:custDataLst>
          </p:nvPr>
        </p:nvSpPr>
        <p:spPr>
          <a:xfrm>
            <a:off x="15468688" y="343041"/>
            <a:ext cx="2187262" cy="656549"/>
          </a:xfrm>
          <a:custGeom>
            <a:avLst/>
            <a:gdLst/>
            <a:ahLst/>
            <a:cxnLst/>
            <a:rect l="l" t="t" r="r" b="b"/>
            <a:pathLst>
              <a:path w="2187262" h="656549">
                <a:moveTo>
                  <a:pt x="0" y="0"/>
                </a:moveTo>
                <a:lnTo>
                  <a:pt x="2187262" y="0"/>
                </a:lnTo>
                <a:lnTo>
                  <a:pt x="2187262" y="656549"/>
                </a:lnTo>
                <a:lnTo>
                  <a:pt x="0" y="656549"/>
                </a:lnTo>
                <a:lnTo>
                  <a:pt x="0" y="0"/>
                </a:lnTo>
                <a:close/>
              </a:path>
            </a:pathLst>
          </a:custGeom>
          <a:blipFill>
            <a:blip r:embed="rId2"/>
            <a:stretch>
              <a:fillRect/>
            </a:stretch>
          </a:blipFill>
        </p:spPr>
      </p:sp>
      <p:sp>
        <p:nvSpPr>
          <p:cNvPr id="7" name="文本框 6"/>
          <p:cNvSpPr txBox="1"/>
          <p:nvPr/>
        </p:nvSpPr>
        <p:spPr>
          <a:xfrm>
            <a:off x="609600" y="1562100"/>
            <a:ext cx="16016605" cy="4854575"/>
          </a:xfrm>
          <a:prstGeom prst="rect">
            <a:avLst/>
          </a:prstGeom>
          <a:noFill/>
        </p:spPr>
        <p:txBody>
          <a:bodyPr wrap="square" rtlCol="0" anchor="t">
            <a:noAutofit/>
          </a:bodyPr>
          <a:p>
            <a:pPr indent="457200" algn="l">
              <a:lnSpc>
                <a:spcPts val="4320"/>
              </a:lnSpc>
              <a:buClrTx/>
              <a:buSzTx/>
              <a:buFontTx/>
            </a:pPr>
            <a:r>
              <a:rPr lang="en-US" altLang="zh-CN" sz="2400">
                <a:latin typeface="微软雅黑" panose="020B0503020204020204" charset="-122"/>
                <a:ea typeface="微软雅黑" panose="020B0503020204020204" charset="-122"/>
                <a:sym typeface="+mn-ea"/>
              </a:rPr>
              <a:t>Baseline 3: Embedding-based Adaptive O-LoRA (</a:t>
            </a:r>
            <a:r>
              <a:rPr lang="zh-CN" altLang="en-US" sz="2400">
                <a:latin typeface="微软雅黑" panose="020B0503020204020204" charset="-122"/>
                <a:ea typeface="微软雅黑" panose="020B0503020204020204" charset="-122"/>
                <a:sym typeface="+mn-ea"/>
              </a:rPr>
              <a:t>最强竞争对手)： 同样采用两步法 </a:t>
            </a:r>
            <a:r>
              <a:rPr lang="en-US" altLang="zh-CN" sz="2400">
                <a:latin typeface="微软雅黑" panose="020B0503020204020204" charset="-122"/>
                <a:ea typeface="微软雅黑" panose="020B0503020204020204" charset="-122"/>
                <a:sym typeface="+mn-ea"/>
              </a:rPr>
              <a:t>RAG，</a:t>
            </a:r>
            <a:r>
              <a:rPr lang="zh-CN" altLang="en-US" sz="2400">
                <a:latin typeface="微软雅黑" panose="020B0503020204020204" charset="-122"/>
                <a:ea typeface="微软雅黑" panose="020B0503020204020204" charset="-122"/>
                <a:sym typeface="+mn-ea"/>
              </a:rPr>
              <a:t>但不让 </a:t>
            </a:r>
            <a:r>
              <a:rPr lang="en-US" altLang="zh-CN" sz="2400">
                <a:latin typeface="微软雅黑" panose="020B0503020204020204" charset="-122"/>
                <a:ea typeface="微软雅黑" panose="020B0503020204020204" charset="-122"/>
                <a:sym typeface="+mn-ea"/>
              </a:rPr>
              <a:t>LLM </a:t>
            </a:r>
            <a:r>
              <a:rPr lang="zh-CN" altLang="en-US" sz="2400">
                <a:latin typeface="微软雅黑" panose="020B0503020204020204" charset="-122"/>
                <a:ea typeface="微软雅黑" panose="020B0503020204020204" charset="-122"/>
                <a:sym typeface="+mn-ea"/>
              </a:rPr>
              <a:t>进行自省打分，而是直接使用外部 </a:t>
            </a:r>
            <a:r>
              <a:rPr lang="en-US" altLang="zh-CN" sz="2400">
                <a:latin typeface="微软雅黑" panose="020B0503020204020204" charset="-122"/>
                <a:ea typeface="微软雅黑" panose="020B0503020204020204" charset="-122"/>
                <a:sym typeface="+mn-ea"/>
              </a:rPr>
              <a:t>Embedding </a:t>
            </a:r>
            <a:r>
              <a:rPr lang="zh-CN" altLang="en-US" sz="2400">
                <a:latin typeface="微软雅黑" panose="020B0503020204020204" charset="-122"/>
                <a:ea typeface="微软雅黑" panose="020B0503020204020204" charset="-122"/>
                <a:sym typeface="+mn-ea"/>
              </a:rPr>
              <a:t>模型（</a:t>
            </a:r>
            <a:r>
              <a:rPr lang="en-US" altLang="zh-CN" sz="2400">
                <a:latin typeface="微软雅黑" panose="020B0503020204020204" charset="-122"/>
                <a:ea typeface="微软雅黑" panose="020B0503020204020204" charset="-122"/>
                <a:sym typeface="+mn-ea"/>
              </a:rPr>
              <a:t>BGE）</a:t>
            </a:r>
            <a:r>
              <a:rPr lang="zh-CN" altLang="en-US" sz="2400">
                <a:latin typeface="微软雅黑" panose="020B0503020204020204" charset="-122"/>
                <a:ea typeface="微软雅黑" panose="020B0503020204020204" charset="-122"/>
                <a:sym typeface="+mn-ea"/>
              </a:rPr>
              <a:t>计算文本余弦相似度或者直接使用</a:t>
            </a:r>
            <a:r>
              <a:rPr lang="en-US" altLang="zh-CN" sz="2400">
                <a:latin typeface="微软雅黑" panose="020B0503020204020204" charset="-122"/>
                <a:ea typeface="微软雅黑" panose="020B0503020204020204" charset="-122"/>
                <a:sym typeface="+mn-ea"/>
              </a:rPr>
              <a:t>GPT-4.1</a:t>
            </a:r>
            <a:r>
              <a:rPr lang="zh-CN" altLang="en-US" sz="2400">
                <a:latin typeface="微软雅黑" panose="020B0503020204020204" charset="-122"/>
                <a:ea typeface="微软雅黑" panose="020B0503020204020204" charset="-122"/>
                <a:sym typeface="+mn-ea"/>
              </a:rPr>
              <a:t>的</a:t>
            </a:r>
            <a:r>
              <a:rPr lang="zh-CN" altLang="en-US" sz="2400">
                <a:latin typeface="微软雅黑" panose="020B0503020204020204" charset="-122"/>
                <a:ea typeface="微软雅黑" panose="020B0503020204020204" charset="-122"/>
                <a:sym typeface="+mn-ea"/>
              </a:rPr>
              <a:t>回答作为相似度系数。</a:t>
            </a:r>
            <a:endParaRPr lang="zh-CN" altLang="en-US" sz="2400">
              <a:latin typeface="微软雅黑" panose="020B0503020204020204" charset="-122"/>
              <a:ea typeface="微软雅黑" panose="020B0503020204020204" charset="-122"/>
              <a:sym typeface="+mn-ea"/>
            </a:endParaRPr>
          </a:p>
          <a:p>
            <a:pPr indent="457200" algn="l">
              <a:lnSpc>
                <a:spcPts val="4320"/>
              </a:lnSpc>
              <a:buClrTx/>
              <a:buSzTx/>
              <a:buFontTx/>
            </a:pPr>
            <a:r>
              <a:rPr lang="en-US" altLang="zh-CN" sz="2400">
                <a:latin typeface="微软雅黑" panose="020B0503020204020204" charset="-122"/>
                <a:ea typeface="微软雅黑" panose="020B0503020204020204" charset="-122"/>
                <a:sym typeface="+mn-ea"/>
              </a:rPr>
              <a:t>Details：</a:t>
            </a:r>
            <a:r>
              <a:rPr lang="zh-CN" altLang="en-US" sz="2400">
                <a:latin typeface="微软雅黑" panose="020B0503020204020204" charset="-122"/>
                <a:ea typeface="微软雅黑" panose="020B0503020204020204" charset="-122"/>
                <a:sym typeface="+mn-ea"/>
              </a:rPr>
              <a:t>构建</a:t>
            </a:r>
            <a:r>
              <a:rPr lang="en-US" altLang="zh-CN" sz="2400">
                <a:latin typeface="微软雅黑" panose="020B0503020204020204" charset="-122"/>
                <a:ea typeface="微软雅黑" panose="020B0503020204020204" charset="-122"/>
                <a:sym typeface="+mn-ea"/>
              </a:rPr>
              <a:t>RAG，</a:t>
            </a:r>
            <a:r>
              <a:rPr lang="zh-CN" altLang="en-US" sz="2400">
                <a:latin typeface="微软雅黑" panose="020B0503020204020204" charset="-122"/>
                <a:ea typeface="微软雅黑" panose="020B0503020204020204" charset="-122"/>
                <a:sym typeface="+mn-ea"/>
              </a:rPr>
              <a:t>在基础模型之上进行</a:t>
            </a:r>
            <a:r>
              <a:rPr lang="en-US" altLang="zh-CN" sz="2400">
                <a:latin typeface="微软雅黑" panose="020B0503020204020204" charset="-122"/>
                <a:ea typeface="微软雅黑" panose="020B0503020204020204" charset="-122"/>
                <a:sym typeface="+mn-ea"/>
              </a:rPr>
              <a:t>SFT</a:t>
            </a:r>
            <a:r>
              <a:rPr lang="zh-CN" altLang="en-US" sz="2400">
                <a:latin typeface="微软雅黑" panose="020B0503020204020204" charset="-122"/>
                <a:ea typeface="微软雅黑" panose="020B0503020204020204" charset="-122"/>
                <a:sym typeface="+mn-ea"/>
              </a:rPr>
              <a:t>的时候保存任务特定的表示以及任务</a:t>
            </a:r>
            <a:r>
              <a:rPr lang="en-US" altLang="zh-CN" sz="2400">
                <a:latin typeface="微软雅黑" panose="020B0503020204020204" charset="-122"/>
                <a:ea typeface="微软雅黑" panose="020B0503020204020204" charset="-122"/>
                <a:sym typeface="+mn-ea"/>
              </a:rPr>
              <a:t>LoRA</a:t>
            </a:r>
            <a:r>
              <a:rPr lang="zh-CN" altLang="en-US" sz="2400">
                <a:latin typeface="微软雅黑" panose="020B0503020204020204" charset="-122"/>
                <a:ea typeface="微软雅黑" panose="020B0503020204020204" charset="-122"/>
                <a:sym typeface="+mn-ea"/>
              </a:rPr>
              <a:t>的</a:t>
            </a:r>
            <a:r>
              <a:rPr lang="en-US" altLang="zh-CN" sz="2400">
                <a:latin typeface="微软雅黑" panose="020B0503020204020204" charset="-122"/>
                <a:ea typeface="微软雅黑" panose="020B0503020204020204" charset="-122"/>
                <a:sym typeface="+mn-ea"/>
              </a:rPr>
              <a:t>A</a:t>
            </a:r>
            <a:r>
              <a:rPr lang="zh-CN" altLang="en-US" sz="2400">
                <a:latin typeface="微软雅黑" panose="020B0503020204020204" charset="-122"/>
                <a:ea typeface="微软雅黑" panose="020B0503020204020204" charset="-122"/>
                <a:sym typeface="+mn-ea"/>
              </a:rPr>
              <a:t>矩阵参数进入知识库，然后在面临新任务的时候对历史人任务做两步法</a:t>
            </a:r>
            <a:r>
              <a:rPr lang="en-US" altLang="zh-CN" sz="2400">
                <a:latin typeface="微软雅黑" panose="020B0503020204020204" charset="-122"/>
                <a:ea typeface="微软雅黑" panose="020B0503020204020204" charset="-122"/>
                <a:sym typeface="+mn-ea"/>
              </a:rPr>
              <a:t>RAG</a:t>
            </a:r>
            <a:r>
              <a:rPr lang="zh-CN" altLang="en-US" sz="2400">
                <a:latin typeface="微软雅黑" panose="020B0503020204020204" charset="-122"/>
                <a:ea typeface="微软雅黑" panose="020B0503020204020204" charset="-122"/>
                <a:sym typeface="+mn-ea"/>
              </a:rPr>
              <a:t>得到</a:t>
            </a:r>
            <a:r>
              <a:rPr lang="en-US" altLang="zh-CN" sz="2400">
                <a:latin typeface="微软雅黑" panose="020B0503020204020204" charset="-122"/>
                <a:ea typeface="微软雅黑" panose="020B0503020204020204" charset="-122"/>
                <a:sym typeface="+mn-ea"/>
              </a:rPr>
              <a:t>self-edit</a:t>
            </a:r>
            <a:r>
              <a:rPr lang="zh-CN" altLang="en-US" sz="2400">
                <a:latin typeface="微软雅黑" panose="020B0503020204020204" charset="-122"/>
                <a:ea typeface="微软雅黑" panose="020B0503020204020204" charset="-122"/>
                <a:sym typeface="+mn-ea"/>
              </a:rPr>
              <a:t>和</a:t>
            </a:r>
            <a:r>
              <a:rPr lang="en-US" altLang="zh-CN" sz="2400">
                <a:latin typeface="微软雅黑" panose="020B0503020204020204" charset="-122"/>
                <a:ea typeface="微软雅黑" panose="020B0503020204020204" charset="-122"/>
                <a:sym typeface="+mn-ea"/>
              </a:rPr>
              <a:t>O-LoRA</a:t>
            </a:r>
            <a:r>
              <a:rPr lang="zh-CN" altLang="en-US" sz="2400">
                <a:latin typeface="微软雅黑" panose="020B0503020204020204" charset="-122"/>
                <a:ea typeface="微软雅黑" panose="020B0503020204020204" charset="-122"/>
                <a:sym typeface="+mn-ea"/>
              </a:rPr>
              <a:t>参数（第二步的相似性参数由</a:t>
            </a:r>
            <a:r>
              <a:rPr lang="en-US" altLang="zh-CN" sz="2400">
                <a:latin typeface="微软雅黑" panose="020B0503020204020204" charset="-122"/>
                <a:ea typeface="微软雅黑" panose="020B0503020204020204" charset="-122"/>
                <a:sym typeface="+mn-ea"/>
              </a:rPr>
              <a:t>GPT-4.1</a:t>
            </a:r>
            <a:r>
              <a:rPr lang="zh-CN" altLang="en-US" sz="2400">
                <a:latin typeface="微软雅黑" panose="020B0503020204020204" charset="-122"/>
                <a:ea typeface="微软雅黑" panose="020B0503020204020204" charset="-122"/>
                <a:sym typeface="+mn-ea"/>
              </a:rPr>
              <a:t>来给出）。</a:t>
            </a:r>
            <a:endParaRPr lang="zh-CN" altLang="en-US" sz="2400">
              <a:latin typeface="微软雅黑" panose="020B0503020204020204" charset="-122"/>
              <a:ea typeface="微软雅黑" panose="020B0503020204020204" charset="-122"/>
              <a:sym typeface="+mn-ea"/>
            </a:endParaRPr>
          </a:p>
          <a:p>
            <a:pPr indent="457200" algn="l">
              <a:lnSpc>
                <a:spcPts val="4320"/>
              </a:lnSpc>
              <a:buClrTx/>
              <a:buSzTx/>
              <a:buFontTx/>
            </a:pPr>
            <a:endParaRPr lang="zh-CN" altLang="en-US" sz="2400">
              <a:latin typeface="微软雅黑" panose="020B0503020204020204" charset="-122"/>
              <a:ea typeface="微软雅黑" panose="020B0503020204020204" charset="-122"/>
              <a:sym typeface="+mn-ea"/>
            </a:endParaRPr>
          </a:p>
          <a:p>
            <a:pPr indent="457200" algn="l">
              <a:lnSpc>
                <a:spcPts val="4320"/>
              </a:lnSpc>
              <a:buClrTx/>
              <a:buSzTx/>
              <a:buFontTx/>
            </a:pPr>
            <a:r>
              <a:rPr lang="zh-CN" altLang="en-US" sz="2400">
                <a:latin typeface="微软雅黑" panose="020B0503020204020204" charset="-122"/>
                <a:ea typeface="微软雅黑" panose="020B0503020204020204" charset="-122"/>
                <a:sym typeface="+mn-ea"/>
              </a:rPr>
              <a:t>自己的方法：使用模型自身进行</a:t>
            </a:r>
            <a:r>
              <a:rPr lang="en-US" altLang="zh-CN" sz="2400">
                <a:latin typeface="微软雅黑" panose="020B0503020204020204" charset="-122"/>
                <a:ea typeface="微软雅黑" panose="020B0503020204020204" charset="-122"/>
                <a:sym typeface="+mn-ea"/>
              </a:rPr>
              <a:t>lambda</a:t>
            </a:r>
            <a:r>
              <a:rPr lang="zh-CN" altLang="en-US" sz="2400">
                <a:latin typeface="微软雅黑" panose="020B0503020204020204" charset="-122"/>
                <a:ea typeface="微软雅黑" panose="020B0503020204020204" charset="-122"/>
                <a:sym typeface="+mn-ea"/>
              </a:rPr>
              <a:t>生成，主要对比</a:t>
            </a:r>
            <a:r>
              <a:rPr lang="en-US" altLang="zh-CN" sz="2400">
                <a:latin typeface="微软雅黑" panose="020B0503020204020204" charset="-122"/>
                <a:ea typeface="微软雅黑" panose="020B0503020204020204" charset="-122"/>
                <a:sym typeface="+mn-ea"/>
              </a:rPr>
              <a:t>baseline3</a:t>
            </a:r>
            <a:r>
              <a:rPr lang="zh-CN" altLang="en-US" sz="2400">
                <a:latin typeface="微软雅黑" panose="020B0503020204020204" charset="-122"/>
                <a:ea typeface="微软雅黑" panose="020B0503020204020204" charset="-122"/>
                <a:sym typeface="+mn-ea"/>
              </a:rPr>
              <a:t>。</a:t>
            </a:r>
            <a:endParaRPr lang="zh-CN" altLang="en-US" sz="2400">
              <a:latin typeface="微软雅黑" panose="020B0503020204020204" charset="-122"/>
              <a:ea typeface="微软雅黑" panose="020B0503020204020204" charset="-122"/>
              <a:sym typeface="+mn-ea"/>
            </a:endParaRPr>
          </a:p>
        </p:txBody>
      </p:sp>
    </p:spTree>
    <p:custDataLst>
      <p:tags r:id="rId3"/>
    </p:custData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 name="Freeform 35"/>
          <p:cNvSpPr/>
          <p:nvPr>
            <p:custDataLst>
              <p:tags r:id="rId1"/>
            </p:custDataLst>
          </p:nvPr>
        </p:nvSpPr>
        <p:spPr>
          <a:xfrm>
            <a:off x="0" y="1"/>
            <a:ext cx="3624132" cy="2858674"/>
          </a:xfrm>
          <a:custGeom>
            <a:avLst/>
            <a:gdLst/>
            <a:ahLst/>
            <a:cxnLst/>
            <a:rect l="l" t="t" r="r" b="b"/>
            <a:pathLst>
              <a:path w="3624132" h="2858674">
                <a:moveTo>
                  <a:pt x="0" y="0"/>
                </a:moveTo>
                <a:lnTo>
                  <a:pt x="3624132" y="0"/>
                </a:lnTo>
                <a:lnTo>
                  <a:pt x="3624132" y="2858675"/>
                </a:lnTo>
                <a:lnTo>
                  <a:pt x="0" y="285867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2" name="Group 2"/>
          <p:cNvGrpSpPr/>
          <p:nvPr/>
        </p:nvGrpSpPr>
        <p:grpSpPr>
          <a:xfrm>
            <a:off x="13120137" y="4702694"/>
            <a:ext cx="881613" cy="881613"/>
            <a:chOff x="0" y="0"/>
            <a:chExt cx="1175484" cy="1175484"/>
          </a:xfrm>
        </p:grpSpPr>
        <p:sp>
          <p:nvSpPr>
            <p:cNvPr id="3" name="Freeform 3"/>
            <p:cNvSpPr/>
            <p:nvPr/>
          </p:nvSpPr>
          <p:spPr>
            <a:xfrm>
              <a:off x="0" y="0"/>
              <a:ext cx="1175512" cy="1175512"/>
            </a:xfrm>
            <a:custGeom>
              <a:avLst/>
              <a:gdLst/>
              <a:ahLst/>
              <a:cxnLst/>
              <a:rect l="l" t="t" r="r" b="b"/>
              <a:pathLst>
                <a:path w="1175512" h="1175512">
                  <a:moveTo>
                    <a:pt x="0" y="587756"/>
                  </a:moveTo>
                  <a:cubicBezTo>
                    <a:pt x="0" y="263144"/>
                    <a:pt x="263144" y="0"/>
                    <a:pt x="587756" y="0"/>
                  </a:cubicBezTo>
                  <a:cubicBezTo>
                    <a:pt x="912368" y="0"/>
                    <a:pt x="1175512" y="263144"/>
                    <a:pt x="1175512" y="587756"/>
                  </a:cubicBezTo>
                  <a:cubicBezTo>
                    <a:pt x="1175512" y="912368"/>
                    <a:pt x="912368" y="1175512"/>
                    <a:pt x="587756" y="1175512"/>
                  </a:cubicBezTo>
                  <a:cubicBezTo>
                    <a:pt x="263144" y="1175512"/>
                    <a:pt x="0" y="912368"/>
                    <a:pt x="0" y="587756"/>
                  </a:cubicBezTo>
                  <a:close/>
                </a:path>
              </a:pathLst>
            </a:custGeom>
            <a:solidFill>
              <a:srgbClr val="FFFFFF"/>
            </a:solidFill>
          </p:spPr>
        </p:sp>
      </p:grpSp>
      <p:sp>
        <p:nvSpPr>
          <p:cNvPr id="4" name="Freeform 4"/>
          <p:cNvSpPr/>
          <p:nvPr/>
        </p:nvSpPr>
        <p:spPr>
          <a:xfrm>
            <a:off x="0" y="7739793"/>
            <a:ext cx="4166946" cy="2547208"/>
          </a:xfrm>
          <a:custGeom>
            <a:avLst/>
            <a:gdLst/>
            <a:ahLst/>
            <a:cxnLst/>
            <a:rect l="l" t="t" r="r" b="b"/>
            <a:pathLst>
              <a:path w="4166946" h="2547208">
                <a:moveTo>
                  <a:pt x="0" y="0"/>
                </a:moveTo>
                <a:lnTo>
                  <a:pt x="4166946" y="0"/>
                </a:lnTo>
                <a:lnTo>
                  <a:pt x="4166946" y="2547208"/>
                </a:lnTo>
                <a:lnTo>
                  <a:pt x="0" y="254720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a:off x="15351812" y="7673386"/>
            <a:ext cx="2936188" cy="2613614"/>
          </a:xfrm>
          <a:custGeom>
            <a:avLst/>
            <a:gdLst/>
            <a:ahLst/>
            <a:cxnLst/>
            <a:rect l="l" t="t" r="r" b="b"/>
            <a:pathLst>
              <a:path w="2936188" h="2613614">
                <a:moveTo>
                  <a:pt x="0" y="0"/>
                </a:moveTo>
                <a:lnTo>
                  <a:pt x="2936188" y="0"/>
                </a:lnTo>
                <a:lnTo>
                  <a:pt x="2936188" y="2613614"/>
                </a:lnTo>
                <a:lnTo>
                  <a:pt x="0" y="261361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6" name="Freeform 6"/>
          <p:cNvSpPr/>
          <p:nvPr/>
        </p:nvSpPr>
        <p:spPr>
          <a:xfrm>
            <a:off x="14806348" y="-9525"/>
            <a:ext cx="3491176" cy="2688062"/>
          </a:xfrm>
          <a:custGeom>
            <a:avLst/>
            <a:gdLst/>
            <a:ahLst/>
            <a:cxnLst/>
            <a:rect l="l" t="t" r="r" b="b"/>
            <a:pathLst>
              <a:path w="3491176" h="2688062">
                <a:moveTo>
                  <a:pt x="0" y="0"/>
                </a:moveTo>
                <a:lnTo>
                  <a:pt x="3491177" y="0"/>
                </a:lnTo>
                <a:lnTo>
                  <a:pt x="3491177" y="2688062"/>
                </a:lnTo>
                <a:lnTo>
                  <a:pt x="0" y="268806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grpSp>
        <p:nvGrpSpPr>
          <p:cNvPr id="7" name="Group 7"/>
          <p:cNvGrpSpPr/>
          <p:nvPr/>
        </p:nvGrpSpPr>
        <p:grpSpPr>
          <a:xfrm>
            <a:off x="14881124" y="492074"/>
            <a:ext cx="663678" cy="663678"/>
            <a:chOff x="0" y="0"/>
            <a:chExt cx="884904" cy="884904"/>
          </a:xfrm>
        </p:grpSpPr>
        <p:sp>
          <p:nvSpPr>
            <p:cNvPr id="8" name="Freeform 8"/>
            <p:cNvSpPr/>
            <p:nvPr/>
          </p:nvSpPr>
          <p:spPr>
            <a:xfrm>
              <a:off x="0" y="0"/>
              <a:ext cx="884936" cy="884936"/>
            </a:xfrm>
            <a:custGeom>
              <a:avLst/>
              <a:gdLst/>
              <a:ahLst/>
              <a:cxnLst/>
              <a:rect l="l" t="t" r="r" b="b"/>
              <a:pathLst>
                <a:path w="884936" h="884936">
                  <a:moveTo>
                    <a:pt x="0" y="442468"/>
                  </a:moveTo>
                  <a:cubicBezTo>
                    <a:pt x="0" y="198120"/>
                    <a:pt x="198120" y="0"/>
                    <a:pt x="442468" y="0"/>
                  </a:cubicBezTo>
                  <a:cubicBezTo>
                    <a:pt x="686816" y="0"/>
                    <a:pt x="884936" y="198120"/>
                    <a:pt x="884936" y="442468"/>
                  </a:cubicBezTo>
                  <a:cubicBezTo>
                    <a:pt x="884936" y="686816"/>
                    <a:pt x="686816" y="884936"/>
                    <a:pt x="442468" y="884936"/>
                  </a:cubicBezTo>
                  <a:cubicBezTo>
                    <a:pt x="198120" y="884936"/>
                    <a:pt x="0" y="686816"/>
                    <a:pt x="0" y="442468"/>
                  </a:cubicBezTo>
                  <a:close/>
                </a:path>
              </a:pathLst>
            </a:custGeom>
            <a:solidFill>
              <a:srgbClr val="356AFF"/>
            </a:solidFill>
          </p:spPr>
        </p:sp>
      </p:grpSp>
      <p:sp>
        <p:nvSpPr>
          <p:cNvPr id="9" name="Freeform 9"/>
          <p:cNvSpPr/>
          <p:nvPr/>
        </p:nvSpPr>
        <p:spPr>
          <a:xfrm>
            <a:off x="1563274" y="9463088"/>
            <a:ext cx="1713174" cy="762255"/>
          </a:xfrm>
          <a:custGeom>
            <a:avLst/>
            <a:gdLst/>
            <a:ahLst/>
            <a:cxnLst/>
            <a:rect l="l" t="t" r="r" b="b"/>
            <a:pathLst>
              <a:path w="1713174" h="762255">
                <a:moveTo>
                  <a:pt x="0" y="0"/>
                </a:moveTo>
                <a:lnTo>
                  <a:pt x="1713174" y="0"/>
                </a:lnTo>
                <a:lnTo>
                  <a:pt x="1713174" y="762254"/>
                </a:lnTo>
                <a:lnTo>
                  <a:pt x="0" y="762254"/>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0" name="TextBox 10"/>
          <p:cNvSpPr txBox="1"/>
          <p:nvPr/>
        </p:nvSpPr>
        <p:spPr>
          <a:xfrm>
            <a:off x="1605915" y="3362960"/>
            <a:ext cx="14561820" cy="3693160"/>
          </a:xfrm>
          <a:prstGeom prst="rect">
            <a:avLst/>
          </a:prstGeom>
        </p:spPr>
        <p:txBody>
          <a:bodyPr wrap="square" lIns="0" tIns="0" rIns="0" bIns="0" rtlCol="0" anchor="t">
            <a:spAutoFit/>
          </a:bodyPr>
          <a:lstStyle/>
          <a:p>
            <a:pPr algn="ctr">
              <a:lnSpc>
                <a:spcPts val="14400"/>
              </a:lnSpc>
            </a:pPr>
            <a:r>
              <a:rPr lang="en-US" sz="12000">
                <a:solidFill>
                  <a:srgbClr val="356AFF"/>
                </a:solidFill>
                <a:latin typeface="微软雅黑" panose="020B0503020204020204" charset="-122"/>
                <a:ea typeface="微软雅黑" panose="020B0503020204020204" charset="-122"/>
              </a:rPr>
              <a:t>Part3: </a:t>
            </a:r>
            <a:endParaRPr lang="en-US" sz="12000">
              <a:solidFill>
                <a:srgbClr val="356AFF"/>
              </a:solidFill>
              <a:latin typeface="微软雅黑" panose="020B0503020204020204" charset="-122"/>
              <a:ea typeface="微软雅黑" panose="020B0503020204020204" charset="-122"/>
            </a:endParaRPr>
          </a:p>
          <a:p>
            <a:pPr algn="ctr">
              <a:lnSpc>
                <a:spcPts val="14400"/>
              </a:lnSpc>
            </a:pPr>
            <a:r>
              <a:rPr lang="zh-CN" altLang="en-US" sz="12000">
                <a:solidFill>
                  <a:srgbClr val="356AFF"/>
                </a:solidFill>
                <a:latin typeface="微软雅黑" panose="020B0503020204020204" charset="-122"/>
                <a:ea typeface="微软雅黑" panose="020B0503020204020204" charset="-122"/>
              </a:rPr>
              <a:t>其他</a:t>
            </a:r>
            <a:r>
              <a:rPr lang="zh-CN" altLang="en-US" sz="12000">
                <a:solidFill>
                  <a:srgbClr val="356AFF"/>
                </a:solidFill>
                <a:latin typeface="微软雅黑" panose="020B0503020204020204" charset="-122"/>
                <a:ea typeface="微软雅黑" panose="020B0503020204020204" charset="-122"/>
              </a:rPr>
              <a:t>工作</a:t>
            </a:r>
            <a:endParaRPr lang="zh-CN" altLang="en-US" sz="12000">
              <a:solidFill>
                <a:srgbClr val="356AFF"/>
              </a:solidFill>
              <a:latin typeface="微软雅黑" panose="020B0503020204020204" charset="-122"/>
              <a:ea typeface="微软雅黑" panose="020B0503020204020204" charset="-122"/>
            </a:endParaRPr>
          </a:p>
        </p:txBody>
      </p:sp>
      <p:grpSp>
        <p:nvGrpSpPr>
          <p:cNvPr id="13" name="Group 13"/>
          <p:cNvGrpSpPr/>
          <p:nvPr/>
        </p:nvGrpSpPr>
        <p:grpSpPr>
          <a:xfrm>
            <a:off x="17352170" y="2226470"/>
            <a:ext cx="439840" cy="439840"/>
            <a:chOff x="0" y="0"/>
            <a:chExt cx="586454" cy="586454"/>
          </a:xfrm>
        </p:grpSpPr>
        <p:sp>
          <p:nvSpPr>
            <p:cNvPr id="14" name="Freeform 14"/>
            <p:cNvSpPr/>
            <p:nvPr/>
          </p:nvSpPr>
          <p:spPr>
            <a:xfrm>
              <a:off x="0" y="0"/>
              <a:ext cx="586486" cy="586486"/>
            </a:xfrm>
            <a:custGeom>
              <a:avLst/>
              <a:gdLst/>
              <a:ahLst/>
              <a:cxnLst/>
              <a:rect l="l" t="t" r="r" b="b"/>
              <a:pathLst>
                <a:path w="586486" h="586486">
                  <a:moveTo>
                    <a:pt x="0" y="293243"/>
                  </a:moveTo>
                  <a:cubicBezTo>
                    <a:pt x="0" y="131318"/>
                    <a:pt x="131318" y="0"/>
                    <a:pt x="293243" y="0"/>
                  </a:cubicBezTo>
                  <a:cubicBezTo>
                    <a:pt x="455168" y="0"/>
                    <a:pt x="586486" y="131318"/>
                    <a:pt x="586486" y="293243"/>
                  </a:cubicBezTo>
                  <a:cubicBezTo>
                    <a:pt x="586486" y="455168"/>
                    <a:pt x="455168" y="586486"/>
                    <a:pt x="293243" y="586486"/>
                  </a:cubicBezTo>
                  <a:cubicBezTo>
                    <a:pt x="131318" y="586486"/>
                    <a:pt x="0" y="455168"/>
                    <a:pt x="0" y="293243"/>
                  </a:cubicBezTo>
                  <a:close/>
                </a:path>
              </a:pathLst>
            </a:custGeom>
            <a:solidFill>
              <a:srgbClr val="356AFF"/>
            </a:solidFill>
          </p:spPr>
        </p:sp>
      </p:grpSp>
      <p:grpSp>
        <p:nvGrpSpPr>
          <p:cNvPr id="16" name="Group 16"/>
          <p:cNvGrpSpPr/>
          <p:nvPr/>
        </p:nvGrpSpPr>
        <p:grpSpPr>
          <a:xfrm>
            <a:off x="15597742" y="8893346"/>
            <a:ext cx="569742" cy="569742"/>
            <a:chOff x="0" y="0"/>
            <a:chExt cx="759656" cy="759656"/>
          </a:xfrm>
        </p:grpSpPr>
        <p:sp>
          <p:nvSpPr>
            <p:cNvPr id="17" name="Freeform 17"/>
            <p:cNvSpPr/>
            <p:nvPr/>
          </p:nvSpPr>
          <p:spPr>
            <a:xfrm>
              <a:off x="0" y="0"/>
              <a:ext cx="759714" cy="759714"/>
            </a:xfrm>
            <a:custGeom>
              <a:avLst/>
              <a:gdLst/>
              <a:ahLst/>
              <a:cxnLst/>
              <a:rect l="l" t="t" r="r" b="b"/>
              <a:pathLst>
                <a:path w="759714" h="759714">
                  <a:moveTo>
                    <a:pt x="0" y="379857"/>
                  </a:moveTo>
                  <a:cubicBezTo>
                    <a:pt x="0" y="170053"/>
                    <a:pt x="170053" y="0"/>
                    <a:pt x="379857" y="0"/>
                  </a:cubicBezTo>
                  <a:cubicBezTo>
                    <a:pt x="589661" y="0"/>
                    <a:pt x="759714" y="170053"/>
                    <a:pt x="759714" y="379857"/>
                  </a:cubicBezTo>
                  <a:cubicBezTo>
                    <a:pt x="759714" y="589661"/>
                    <a:pt x="589661" y="759714"/>
                    <a:pt x="379857" y="759714"/>
                  </a:cubicBezTo>
                  <a:cubicBezTo>
                    <a:pt x="170053" y="759714"/>
                    <a:pt x="0" y="589661"/>
                    <a:pt x="0" y="379857"/>
                  </a:cubicBezTo>
                  <a:close/>
                  <a:moveTo>
                    <a:pt x="189865" y="379857"/>
                  </a:moveTo>
                  <a:cubicBezTo>
                    <a:pt x="189865" y="484759"/>
                    <a:pt x="274955" y="569722"/>
                    <a:pt x="379730" y="569722"/>
                  </a:cubicBezTo>
                  <a:cubicBezTo>
                    <a:pt x="484505" y="569722"/>
                    <a:pt x="569595" y="484632"/>
                    <a:pt x="569595" y="379857"/>
                  </a:cubicBezTo>
                  <a:cubicBezTo>
                    <a:pt x="569595" y="275082"/>
                    <a:pt x="484505" y="189992"/>
                    <a:pt x="379730" y="189992"/>
                  </a:cubicBezTo>
                  <a:cubicBezTo>
                    <a:pt x="274955" y="189992"/>
                    <a:pt x="189865" y="275082"/>
                    <a:pt x="189865" y="379857"/>
                  </a:cubicBezTo>
                  <a:close/>
                </a:path>
              </a:pathLst>
            </a:custGeom>
            <a:solidFill>
              <a:srgbClr val="356AFF"/>
            </a:solidFill>
          </p:spPr>
        </p:sp>
      </p:grpSp>
      <p:grpSp>
        <p:nvGrpSpPr>
          <p:cNvPr id="20" name="Group 20"/>
          <p:cNvGrpSpPr/>
          <p:nvPr/>
        </p:nvGrpSpPr>
        <p:grpSpPr>
          <a:xfrm>
            <a:off x="492919" y="7834312"/>
            <a:ext cx="885825" cy="885825"/>
            <a:chOff x="0" y="0"/>
            <a:chExt cx="1181100" cy="1181100"/>
          </a:xfrm>
        </p:grpSpPr>
        <p:sp>
          <p:nvSpPr>
            <p:cNvPr id="21" name="Freeform 21"/>
            <p:cNvSpPr/>
            <p:nvPr/>
          </p:nvSpPr>
          <p:spPr>
            <a:xfrm>
              <a:off x="0" y="0"/>
              <a:ext cx="1181100" cy="1181100"/>
            </a:xfrm>
            <a:custGeom>
              <a:avLst/>
              <a:gdLst/>
              <a:ahLst/>
              <a:cxnLst/>
              <a:rect l="l" t="t" r="r" b="b"/>
              <a:pathLst>
                <a:path w="1181100" h="1181100">
                  <a:moveTo>
                    <a:pt x="1181100" y="590550"/>
                  </a:moveTo>
                  <a:cubicBezTo>
                    <a:pt x="1181100" y="264414"/>
                    <a:pt x="916686" y="0"/>
                    <a:pt x="590550" y="0"/>
                  </a:cubicBezTo>
                  <a:cubicBezTo>
                    <a:pt x="264414" y="0"/>
                    <a:pt x="0" y="264414"/>
                    <a:pt x="0" y="590550"/>
                  </a:cubicBezTo>
                  <a:cubicBezTo>
                    <a:pt x="0" y="916686"/>
                    <a:pt x="264414" y="1181100"/>
                    <a:pt x="590550" y="1181100"/>
                  </a:cubicBezTo>
                  <a:cubicBezTo>
                    <a:pt x="916686" y="1181100"/>
                    <a:pt x="1181100" y="916686"/>
                    <a:pt x="1181100" y="590550"/>
                  </a:cubicBezTo>
                  <a:close/>
                </a:path>
              </a:pathLst>
            </a:custGeom>
            <a:solidFill>
              <a:srgbClr val="2C57D4"/>
            </a:solidFill>
          </p:spPr>
        </p:sp>
      </p:grpSp>
      <p:sp>
        <p:nvSpPr>
          <p:cNvPr id="190" name="Freeform 30"/>
          <p:cNvSpPr/>
          <p:nvPr>
            <p:custDataLst>
              <p:tags r:id="rId12"/>
            </p:custDataLst>
          </p:nvPr>
        </p:nvSpPr>
        <p:spPr>
          <a:xfrm>
            <a:off x="304888" y="249061"/>
            <a:ext cx="2187262" cy="656549"/>
          </a:xfrm>
          <a:custGeom>
            <a:avLst/>
            <a:gdLst/>
            <a:ahLst/>
            <a:cxnLst/>
            <a:rect l="l" t="t" r="r" b="b"/>
            <a:pathLst>
              <a:path w="2187262" h="656549">
                <a:moveTo>
                  <a:pt x="0" y="0"/>
                </a:moveTo>
                <a:lnTo>
                  <a:pt x="2187262" y="0"/>
                </a:lnTo>
                <a:lnTo>
                  <a:pt x="2187262" y="656549"/>
                </a:lnTo>
                <a:lnTo>
                  <a:pt x="0" y="656549"/>
                </a:lnTo>
                <a:lnTo>
                  <a:pt x="0" y="0"/>
                </a:lnTo>
                <a:close/>
              </a:path>
            </a:pathLst>
          </a:custGeom>
          <a:blipFill>
            <a:blip r:embed="rId13"/>
            <a:stretch>
              <a:fillRect/>
            </a:stretch>
          </a:blipFill>
        </p:spPr>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518160" y="468630"/>
            <a:ext cx="5971223" cy="645160"/>
          </a:xfrm>
          <a:prstGeom prst="rect">
            <a:avLst/>
          </a:prstGeom>
          <a:noFill/>
        </p:spPr>
        <p:txBody>
          <a:bodyPr wrap="square" rtlCol="0">
            <a:spAutoFit/>
          </a:bodyPr>
          <a:p>
            <a:r>
              <a:rPr lang="en-US" altLang="zh-CN" sz="3600" b="1"/>
              <a:t>Summary</a:t>
            </a:r>
            <a:endParaRPr lang="en-US" altLang="zh-CN" sz="3600" b="1"/>
          </a:p>
        </p:txBody>
      </p:sp>
      <p:sp>
        <p:nvSpPr>
          <p:cNvPr id="190" name="Freeform 30"/>
          <p:cNvSpPr/>
          <p:nvPr>
            <p:custDataLst>
              <p:tags r:id="rId1"/>
            </p:custDataLst>
          </p:nvPr>
        </p:nvSpPr>
        <p:spPr>
          <a:xfrm>
            <a:off x="15468688" y="343041"/>
            <a:ext cx="2187262" cy="656549"/>
          </a:xfrm>
          <a:custGeom>
            <a:avLst/>
            <a:gdLst/>
            <a:ahLst/>
            <a:cxnLst/>
            <a:rect l="l" t="t" r="r" b="b"/>
            <a:pathLst>
              <a:path w="2187262" h="656549">
                <a:moveTo>
                  <a:pt x="0" y="0"/>
                </a:moveTo>
                <a:lnTo>
                  <a:pt x="2187262" y="0"/>
                </a:lnTo>
                <a:lnTo>
                  <a:pt x="2187262" y="656549"/>
                </a:lnTo>
                <a:lnTo>
                  <a:pt x="0" y="656549"/>
                </a:lnTo>
                <a:lnTo>
                  <a:pt x="0" y="0"/>
                </a:lnTo>
                <a:close/>
              </a:path>
            </a:pathLst>
          </a:custGeom>
          <a:blipFill>
            <a:blip r:embed="rId2"/>
            <a:stretch>
              <a:fillRect/>
            </a:stretch>
          </a:blipFill>
        </p:spPr>
      </p:sp>
      <p:sp>
        <p:nvSpPr>
          <p:cNvPr id="3" name="TextBox 30"/>
          <p:cNvSpPr txBox="1"/>
          <p:nvPr>
            <p:custDataLst>
              <p:tags r:id="rId3"/>
            </p:custDataLst>
          </p:nvPr>
        </p:nvSpPr>
        <p:spPr>
          <a:xfrm>
            <a:off x="609600" y="1852295"/>
            <a:ext cx="15503525" cy="3877945"/>
          </a:xfrm>
          <a:prstGeom prst="rect">
            <a:avLst/>
          </a:prstGeom>
        </p:spPr>
        <p:txBody>
          <a:bodyPr wrap="square" lIns="0" tIns="0" rIns="0" bIns="0" rtlCol="0" anchor="t">
            <a:spAutoFit/>
          </a:bodyPr>
          <a:lstStyle/>
          <a:p>
            <a:pPr algn="l">
              <a:lnSpc>
                <a:spcPts val="4320"/>
              </a:lnSpc>
              <a:buClrTx/>
              <a:buSzTx/>
              <a:buFontTx/>
            </a:pPr>
            <a:r>
              <a:rPr lang="en-US" altLang="zh-CN" sz="2400">
                <a:solidFill>
                  <a:schemeClr val="tx1"/>
                </a:solidFill>
                <a:latin typeface="微软雅黑" panose="020B0503020204020204" charset="-122"/>
                <a:ea typeface="微软雅黑" panose="020B0503020204020204" charset="-122"/>
              </a:rPr>
              <a:t>1. </a:t>
            </a:r>
            <a:r>
              <a:rPr lang="zh-CN" altLang="en-US" sz="2400">
                <a:solidFill>
                  <a:schemeClr val="tx1"/>
                </a:solidFill>
                <a:latin typeface="微软雅黑" panose="020B0503020204020204" charset="-122"/>
                <a:ea typeface="微软雅黑" panose="020B0503020204020204" charset="-122"/>
              </a:rPr>
              <a:t>完成</a:t>
            </a:r>
            <a:r>
              <a:rPr lang="en-US" altLang="zh-CN" sz="2400">
                <a:solidFill>
                  <a:schemeClr val="tx1"/>
                </a:solidFill>
                <a:latin typeface="微软雅黑" panose="020B0503020204020204" charset="-122"/>
                <a:ea typeface="微软雅黑" panose="020B0503020204020204" charset="-122"/>
              </a:rPr>
              <a:t>MIT</a:t>
            </a:r>
            <a:r>
              <a:rPr lang="zh-CN" altLang="en-US" sz="2400">
                <a:solidFill>
                  <a:schemeClr val="tx1"/>
                </a:solidFill>
                <a:latin typeface="微软雅黑" panose="020B0503020204020204" charset="-122"/>
                <a:ea typeface="微软雅黑" panose="020B0503020204020204" charset="-122"/>
              </a:rPr>
              <a:t>线性代数和高阶</a:t>
            </a:r>
            <a:r>
              <a:rPr lang="zh-CN" altLang="en-US" sz="2400">
                <a:solidFill>
                  <a:schemeClr val="tx1"/>
                </a:solidFill>
                <a:latin typeface="微软雅黑" panose="020B0503020204020204" charset="-122"/>
                <a:ea typeface="微软雅黑" panose="020B0503020204020204" charset="-122"/>
              </a:rPr>
              <a:t>线性代数的课程与</a:t>
            </a:r>
            <a:r>
              <a:rPr lang="zh-CN" altLang="en-US" sz="2400">
                <a:solidFill>
                  <a:schemeClr val="tx1"/>
                </a:solidFill>
                <a:latin typeface="微软雅黑" panose="020B0503020204020204" charset="-122"/>
                <a:ea typeface="微软雅黑" panose="020B0503020204020204" charset="-122"/>
              </a:rPr>
              <a:t>习题。</a:t>
            </a:r>
            <a:endParaRPr lang="zh-CN" altLang="en-US" sz="2400">
              <a:solidFill>
                <a:schemeClr val="tx1"/>
              </a:solidFill>
              <a:latin typeface="微软雅黑" panose="020B0503020204020204" charset="-122"/>
              <a:ea typeface="微软雅黑" panose="020B0503020204020204" charset="-122"/>
            </a:endParaRPr>
          </a:p>
          <a:p>
            <a:pPr algn="l">
              <a:lnSpc>
                <a:spcPts val="4320"/>
              </a:lnSpc>
              <a:buClrTx/>
              <a:buSzTx/>
              <a:buFontTx/>
            </a:pPr>
            <a:endParaRPr lang="zh-CN" altLang="en-US" sz="2400">
              <a:solidFill>
                <a:schemeClr val="tx1"/>
              </a:solidFill>
              <a:latin typeface="微软雅黑" panose="020B0503020204020204" charset="-122"/>
              <a:ea typeface="微软雅黑" panose="020B0503020204020204" charset="-122"/>
            </a:endParaRPr>
          </a:p>
          <a:p>
            <a:pPr algn="l">
              <a:lnSpc>
                <a:spcPts val="4320"/>
              </a:lnSpc>
              <a:buClrTx/>
              <a:buSzTx/>
              <a:buFontTx/>
            </a:pPr>
            <a:r>
              <a:rPr lang="en-US" altLang="zh-CN" sz="2400">
                <a:solidFill>
                  <a:schemeClr val="tx1"/>
                </a:solidFill>
                <a:latin typeface="微软雅黑" panose="020B0503020204020204" charset="-122"/>
                <a:ea typeface="微软雅黑" panose="020B0503020204020204" charset="-122"/>
              </a:rPr>
              <a:t>2. </a:t>
            </a:r>
            <a:r>
              <a:rPr lang="zh-CN" altLang="en-US" sz="2400">
                <a:solidFill>
                  <a:schemeClr val="tx1"/>
                </a:solidFill>
                <a:latin typeface="微软雅黑" panose="020B0503020204020204" charset="-122"/>
                <a:ea typeface="微软雅黑" panose="020B0503020204020204" charset="-122"/>
              </a:rPr>
              <a:t>完成了</a:t>
            </a:r>
            <a:r>
              <a:rPr lang="en-US" altLang="zh-CN" sz="2400">
                <a:solidFill>
                  <a:schemeClr val="tx1"/>
                </a:solidFill>
                <a:latin typeface="微软雅黑" panose="020B0503020204020204" charset="-122"/>
                <a:ea typeface="微软雅黑" panose="020B0503020204020204" charset="-122"/>
              </a:rPr>
              <a:t>Efficient Training</a:t>
            </a:r>
            <a:r>
              <a:rPr lang="zh-CN" altLang="en-US" sz="2400">
                <a:solidFill>
                  <a:schemeClr val="tx1"/>
                </a:solidFill>
                <a:latin typeface="微软雅黑" panose="020B0503020204020204" charset="-122"/>
                <a:ea typeface="微软雅黑" panose="020B0503020204020204" charset="-122"/>
              </a:rPr>
              <a:t>系列的一些工作的代码运行与实验</a:t>
            </a:r>
            <a:r>
              <a:rPr lang="zh-CN" altLang="en-US" sz="2400">
                <a:solidFill>
                  <a:schemeClr val="tx1"/>
                </a:solidFill>
                <a:latin typeface="微软雅黑" panose="020B0503020204020204" charset="-122"/>
                <a:ea typeface="微软雅黑" panose="020B0503020204020204" charset="-122"/>
              </a:rPr>
              <a:t>复现。</a:t>
            </a:r>
            <a:endParaRPr lang="zh-CN" altLang="en-US" sz="2400">
              <a:solidFill>
                <a:schemeClr val="tx1"/>
              </a:solidFill>
              <a:latin typeface="微软雅黑" panose="020B0503020204020204" charset="-122"/>
              <a:ea typeface="微软雅黑" panose="020B0503020204020204" charset="-122"/>
            </a:endParaRPr>
          </a:p>
          <a:p>
            <a:pPr algn="l">
              <a:lnSpc>
                <a:spcPts val="4320"/>
              </a:lnSpc>
              <a:buClrTx/>
              <a:buSzTx/>
              <a:buFontTx/>
            </a:pPr>
            <a:endParaRPr lang="zh-CN" altLang="en-US" sz="2400">
              <a:solidFill>
                <a:schemeClr val="tx1"/>
              </a:solidFill>
              <a:latin typeface="微软雅黑" panose="020B0503020204020204" charset="-122"/>
              <a:ea typeface="微软雅黑" panose="020B0503020204020204" charset="-122"/>
            </a:endParaRPr>
          </a:p>
          <a:p>
            <a:pPr algn="l">
              <a:lnSpc>
                <a:spcPts val="4320"/>
              </a:lnSpc>
              <a:buClrTx/>
              <a:buSzTx/>
              <a:buFontTx/>
            </a:pPr>
            <a:r>
              <a:rPr lang="en-US" altLang="zh-CN" sz="2400">
                <a:solidFill>
                  <a:schemeClr val="tx1"/>
                </a:solidFill>
                <a:latin typeface="微软雅黑" panose="020B0503020204020204" charset="-122"/>
                <a:ea typeface="微软雅黑" panose="020B0503020204020204" charset="-122"/>
              </a:rPr>
              <a:t>3. </a:t>
            </a:r>
            <a:r>
              <a:rPr lang="zh-CN" altLang="en-US" sz="2400">
                <a:solidFill>
                  <a:schemeClr val="tx1"/>
                </a:solidFill>
                <a:latin typeface="微软雅黑" panose="020B0503020204020204" charset="-122"/>
                <a:ea typeface="微软雅黑" panose="020B0503020204020204" charset="-122"/>
              </a:rPr>
              <a:t>完成</a:t>
            </a:r>
            <a:r>
              <a:rPr lang="en-US" altLang="zh-CN" sz="2400">
                <a:solidFill>
                  <a:schemeClr val="tx1"/>
                </a:solidFill>
                <a:latin typeface="微软雅黑" panose="020B0503020204020204" charset="-122"/>
                <a:ea typeface="微软雅黑" panose="020B0503020204020204" charset="-122"/>
              </a:rPr>
              <a:t>self-adapting</a:t>
            </a:r>
            <a:r>
              <a:rPr lang="zh-CN" altLang="en-US" sz="2400">
                <a:solidFill>
                  <a:schemeClr val="tx1"/>
                </a:solidFill>
                <a:latin typeface="微软雅黑" panose="020B0503020204020204" charset="-122"/>
                <a:ea typeface="微软雅黑" panose="020B0503020204020204" charset="-122"/>
              </a:rPr>
              <a:t>代码的阅读，并在其基础上完成了</a:t>
            </a:r>
            <a:r>
              <a:rPr lang="en-US" altLang="zh-CN" sz="2400">
                <a:solidFill>
                  <a:schemeClr val="tx1"/>
                </a:solidFill>
                <a:latin typeface="微软雅黑" panose="020B0503020204020204" charset="-122"/>
                <a:ea typeface="微软雅黑" panose="020B0503020204020204" charset="-122"/>
              </a:rPr>
              <a:t>Part2</a:t>
            </a:r>
            <a:r>
              <a:rPr lang="zh-CN" altLang="en-US" sz="2400">
                <a:solidFill>
                  <a:schemeClr val="tx1"/>
                </a:solidFill>
                <a:latin typeface="微软雅黑" panose="020B0503020204020204" charset="-122"/>
                <a:ea typeface="微软雅黑" panose="020B0503020204020204" charset="-122"/>
              </a:rPr>
              <a:t>部分的</a:t>
            </a:r>
            <a:r>
              <a:rPr lang="en-US" altLang="zh-CN" sz="2400">
                <a:solidFill>
                  <a:schemeClr val="tx1"/>
                </a:solidFill>
                <a:latin typeface="微软雅黑" panose="020B0503020204020204" charset="-122"/>
                <a:ea typeface="微软雅黑" panose="020B0503020204020204" charset="-122"/>
              </a:rPr>
              <a:t>method</a:t>
            </a:r>
            <a:r>
              <a:rPr lang="zh-CN" altLang="en-US" sz="2400">
                <a:solidFill>
                  <a:schemeClr val="tx1"/>
                </a:solidFill>
                <a:latin typeface="微软雅黑" panose="020B0503020204020204" charset="-122"/>
                <a:ea typeface="微软雅黑" panose="020B0503020204020204" charset="-122"/>
              </a:rPr>
              <a:t>与实验的</a:t>
            </a:r>
            <a:r>
              <a:rPr lang="zh-CN" altLang="en-US" sz="2400">
                <a:solidFill>
                  <a:schemeClr val="tx1"/>
                </a:solidFill>
                <a:latin typeface="微软雅黑" panose="020B0503020204020204" charset="-122"/>
                <a:ea typeface="微软雅黑" panose="020B0503020204020204" charset="-122"/>
              </a:rPr>
              <a:t>代码。</a:t>
            </a:r>
            <a:endParaRPr lang="zh-CN" altLang="en-US" sz="2400">
              <a:solidFill>
                <a:schemeClr val="tx1"/>
              </a:solidFill>
              <a:latin typeface="微软雅黑" panose="020B0503020204020204" charset="-122"/>
              <a:ea typeface="微软雅黑" panose="020B0503020204020204" charset="-122"/>
            </a:endParaRPr>
          </a:p>
          <a:p>
            <a:pPr algn="l">
              <a:lnSpc>
                <a:spcPts val="4320"/>
              </a:lnSpc>
              <a:buClrTx/>
              <a:buSzTx/>
              <a:buFontTx/>
            </a:pPr>
            <a:endParaRPr lang="en-US" altLang="zh-CN" sz="2400">
              <a:solidFill>
                <a:schemeClr val="tx1"/>
              </a:solidFill>
              <a:latin typeface="微软雅黑" panose="020B0503020204020204" charset="-122"/>
              <a:ea typeface="微软雅黑" panose="020B0503020204020204" charset="-122"/>
            </a:endParaRPr>
          </a:p>
          <a:p>
            <a:pPr algn="l">
              <a:lnSpc>
                <a:spcPts val="4320"/>
              </a:lnSpc>
              <a:buClrTx/>
              <a:buSzTx/>
              <a:buFontTx/>
            </a:pPr>
            <a:r>
              <a:rPr lang="en-US" altLang="zh-CN" sz="2400">
                <a:solidFill>
                  <a:schemeClr val="tx1"/>
                </a:solidFill>
                <a:latin typeface="微软雅黑" panose="020B0503020204020204" charset="-122"/>
                <a:ea typeface="微软雅黑" panose="020B0503020204020204" charset="-122"/>
              </a:rPr>
              <a:t>4. </a:t>
            </a:r>
            <a:r>
              <a:rPr lang="zh-CN" altLang="en-US" sz="2400">
                <a:solidFill>
                  <a:schemeClr val="tx1"/>
                </a:solidFill>
                <a:latin typeface="微软雅黑" panose="020B0503020204020204" charset="-122"/>
                <a:ea typeface="微软雅黑" panose="020B0503020204020204" charset="-122"/>
              </a:rPr>
              <a:t>完成结婚的</a:t>
            </a:r>
            <a:r>
              <a:rPr lang="zh-CN" altLang="en-US" sz="2400">
                <a:solidFill>
                  <a:schemeClr val="tx1"/>
                </a:solidFill>
                <a:latin typeface="微软雅黑" panose="020B0503020204020204" charset="-122"/>
                <a:ea typeface="微软雅黑" panose="020B0503020204020204" charset="-122"/>
              </a:rPr>
              <a:t>相关事宜。</a:t>
            </a:r>
            <a:endParaRPr lang="zh-CN" altLang="en-US" sz="2400">
              <a:solidFill>
                <a:schemeClr val="tx1"/>
              </a:solidFill>
              <a:latin typeface="微软雅黑" panose="020B0503020204020204" charset="-122"/>
              <a:ea typeface="微软雅黑" panose="020B0503020204020204" charset="-122"/>
            </a:endParaRPr>
          </a:p>
        </p:txBody>
      </p:sp>
    </p:spTree>
    <p:custDataLst>
      <p:tags r:id="rId4"/>
    </p:custData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 name="Freeform 35"/>
          <p:cNvSpPr/>
          <p:nvPr>
            <p:custDataLst>
              <p:tags r:id="rId1"/>
            </p:custDataLst>
          </p:nvPr>
        </p:nvSpPr>
        <p:spPr>
          <a:xfrm>
            <a:off x="0" y="1"/>
            <a:ext cx="3624132" cy="2858674"/>
          </a:xfrm>
          <a:custGeom>
            <a:avLst/>
            <a:gdLst/>
            <a:ahLst/>
            <a:cxnLst/>
            <a:rect l="l" t="t" r="r" b="b"/>
            <a:pathLst>
              <a:path w="3624132" h="2858674">
                <a:moveTo>
                  <a:pt x="0" y="0"/>
                </a:moveTo>
                <a:lnTo>
                  <a:pt x="3624132" y="0"/>
                </a:lnTo>
                <a:lnTo>
                  <a:pt x="3624132" y="2858675"/>
                </a:lnTo>
                <a:lnTo>
                  <a:pt x="0" y="285867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2" name="Group 2"/>
          <p:cNvGrpSpPr/>
          <p:nvPr/>
        </p:nvGrpSpPr>
        <p:grpSpPr>
          <a:xfrm>
            <a:off x="13120137" y="4702694"/>
            <a:ext cx="881613" cy="881613"/>
            <a:chOff x="0" y="0"/>
            <a:chExt cx="1175484" cy="1175484"/>
          </a:xfrm>
        </p:grpSpPr>
        <p:sp>
          <p:nvSpPr>
            <p:cNvPr id="3" name="Freeform 3"/>
            <p:cNvSpPr/>
            <p:nvPr/>
          </p:nvSpPr>
          <p:spPr>
            <a:xfrm>
              <a:off x="0" y="0"/>
              <a:ext cx="1175512" cy="1175512"/>
            </a:xfrm>
            <a:custGeom>
              <a:avLst/>
              <a:gdLst/>
              <a:ahLst/>
              <a:cxnLst/>
              <a:rect l="l" t="t" r="r" b="b"/>
              <a:pathLst>
                <a:path w="1175512" h="1175512">
                  <a:moveTo>
                    <a:pt x="0" y="587756"/>
                  </a:moveTo>
                  <a:cubicBezTo>
                    <a:pt x="0" y="263144"/>
                    <a:pt x="263144" y="0"/>
                    <a:pt x="587756" y="0"/>
                  </a:cubicBezTo>
                  <a:cubicBezTo>
                    <a:pt x="912368" y="0"/>
                    <a:pt x="1175512" y="263144"/>
                    <a:pt x="1175512" y="587756"/>
                  </a:cubicBezTo>
                  <a:cubicBezTo>
                    <a:pt x="1175512" y="912368"/>
                    <a:pt x="912368" y="1175512"/>
                    <a:pt x="587756" y="1175512"/>
                  </a:cubicBezTo>
                  <a:cubicBezTo>
                    <a:pt x="263144" y="1175512"/>
                    <a:pt x="0" y="912368"/>
                    <a:pt x="0" y="587756"/>
                  </a:cubicBezTo>
                  <a:close/>
                </a:path>
              </a:pathLst>
            </a:custGeom>
            <a:solidFill>
              <a:srgbClr val="FFFFFF"/>
            </a:solidFill>
          </p:spPr>
        </p:sp>
      </p:grpSp>
      <p:sp>
        <p:nvSpPr>
          <p:cNvPr id="4" name="Freeform 4"/>
          <p:cNvSpPr/>
          <p:nvPr/>
        </p:nvSpPr>
        <p:spPr>
          <a:xfrm>
            <a:off x="0" y="7739793"/>
            <a:ext cx="4166946" cy="2547208"/>
          </a:xfrm>
          <a:custGeom>
            <a:avLst/>
            <a:gdLst/>
            <a:ahLst/>
            <a:cxnLst/>
            <a:rect l="l" t="t" r="r" b="b"/>
            <a:pathLst>
              <a:path w="4166946" h="2547208">
                <a:moveTo>
                  <a:pt x="0" y="0"/>
                </a:moveTo>
                <a:lnTo>
                  <a:pt x="4166946" y="0"/>
                </a:lnTo>
                <a:lnTo>
                  <a:pt x="4166946" y="2547208"/>
                </a:lnTo>
                <a:lnTo>
                  <a:pt x="0" y="254720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a:off x="15351812" y="7673386"/>
            <a:ext cx="2936188" cy="2613614"/>
          </a:xfrm>
          <a:custGeom>
            <a:avLst/>
            <a:gdLst/>
            <a:ahLst/>
            <a:cxnLst/>
            <a:rect l="l" t="t" r="r" b="b"/>
            <a:pathLst>
              <a:path w="2936188" h="2613614">
                <a:moveTo>
                  <a:pt x="0" y="0"/>
                </a:moveTo>
                <a:lnTo>
                  <a:pt x="2936188" y="0"/>
                </a:lnTo>
                <a:lnTo>
                  <a:pt x="2936188" y="2613614"/>
                </a:lnTo>
                <a:lnTo>
                  <a:pt x="0" y="261361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6" name="Freeform 6"/>
          <p:cNvSpPr/>
          <p:nvPr/>
        </p:nvSpPr>
        <p:spPr>
          <a:xfrm>
            <a:off x="14806348" y="-9525"/>
            <a:ext cx="3491176" cy="2688062"/>
          </a:xfrm>
          <a:custGeom>
            <a:avLst/>
            <a:gdLst/>
            <a:ahLst/>
            <a:cxnLst/>
            <a:rect l="l" t="t" r="r" b="b"/>
            <a:pathLst>
              <a:path w="3491176" h="2688062">
                <a:moveTo>
                  <a:pt x="0" y="0"/>
                </a:moveTo>
                <a:lnTo>
                  <a:pt x="3491177" y="0"/>
                </a:lnTo>
                <a:lnTo>
                  <a:pt x="3491177" y="2688062"/>
                </a:lnTo>
                <a:lnTo>
                  <a:pt x="0" y="268806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grpSp>
        <p:nvGrpSpPr>
          <p:cNvPr id="7" name="Group 7"/>
          <p:cNvGrpSpPr/>
          <p:nvPr/>
        </p:nvGrpSpPr>
        <p:grpSpPr>
          <a:xfrm>
            <a:off x="14881124" y="492074"/>
            <a:ext cx="663678" cy="663678"/>
            <a:chOff x="0" y="0"/>
            <a:chExt cx="884904" cy="884904"/>
          </a:xfrm>
        </p:grpSpPr>
        <p:sp>
          <p:nvSpPr>
            <p:cNvPr id="8" name="Freeform 8"/>
            <p:cNvSpPr/>
            <p:nvPr/>
          </p:nvSpPr>
          <p:spPr>
            <a:xfrm>
              <a:off x="0" y="0"/>
              <a:ext cx="884936" cy="884936"/>
            </a:xfrm>
            <a:custGeom>
              <a:avLst/>
              <a:gdLst/>
              <a:ahLst/>
              <a:cxnLst/>
              <a:rect l="l" t="t" r="r" b="b"/>
              <a:pathLst>
                <a:path w="884936" h="884936">
                  <a:moveTo>
                    <a:pt x="0" y="442468"/>
                  </a:moveTo>
                  <a:cubicBezTo>
                    <a:pt x="0" y="198120"/>
                    <a:pt x="198120" y="0"/>
                    <a:pt x="442468" y="0"/>
                  </a:cubicBezTo>
                  <a:cubicBezTo>
                    <a:pt x="686816" y="0"/>
                    <a:pt x="884936" y="198120"/>
                    <a:pt x="884936" y="442468"/>
                  </a:cubicBezTo>
                  <a:cubicBezTo>
                    <a:pt x="884936" y="686816"/>
                    <a:pt x="686816" y="884936"/>
                    <a:pt x="442468" y="884936"/>
                  </a:cubicBezTo>
                  <a:cubicBezTo>
                    <a:pt x="198120" y="884936"/>
                    <a:pt x="0" y="686816"/>
                    <a:pt x="0" y="442468"/>
                  </a:cubicBezTo>
                  <a:close/>
                </a:path>
              </a:pathLst>
            </a:custGeom>
            <a:solidFill>
              <a:srgbClr val="356AFF"/>
            </a:solidFill>
          </p:spPr>
        </p:sp>
      </p:grpSp>
      <p:sp>
        <p:nvSpPr>
          <p:cNvPr id="9" name="Freeform 9"/>
          <p:cNvSpPr/>
          <p:nvPr/>
        </p:nvSpPr>
        <p:spPr>
          <a:xfrm>
            <a:off x="1563274" y="9463088"/>
            <a:ext cx="1713174" cy="762255"/>
          </a:xfrm>
          <a:custGeom>
            <a:avLst/>
            <a:gdLst/>
            <a:ahLst/>
            <a:cxnLst/>
            <a:rect l="l" t="t" r="r" b="b"/>
            <a:pathLst>
              <a:path w="1713174" h="762255">
                <a:moveTo>
                  <a:pt x="0" y="0"/>
                </a:moveTo>
                <a:lnTo>
                  <a:pt x="1713174" y="0"/>
                </a:lnTo>
                <a:lnTo>
                  <a:pt x="1713174" y="762254"/>
                </a:lnTo>
                <a:lnTo>
                  <a:pt x="0" y="762254"/>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0" name="TextBox 10"/>
          <p:cNvSpPr txBox="1"/>
          <p:nvPr/>
        </p:nvSpPr>
        <p:spPr>
          <a:xfrm>
            <a:off x="1605915" y="3362960"/>
            <a:ext cx="14561820" cy="1846580"/>
          </a:xfrm>
          <a:prstGeom prst="rect">
            <a:avLst/>
          </a:prstGeom>
        </p:spPr>
        <p:txBody>
          <a:bodyPr wrap="square" lIns="0" tIns="0" rIns="0" bIns="0" rtlCol="0" anchor="t">
            <a:spAutoFit/>
          </a:bodyPr>
          <a:lstStyle/>
          <a:p>
            <a:pPr algn="ctr">
              <a:lnSpc>
                <a:spcPts val="14400"/>
              </a:lnSpc>
            </a:pPr>
            <a:r>
              <a:rPr lang="zh-CN" altLang="en-US" sz="12000">
                <a:solidFill>
                  <a:srgbClr val="356AFF"/>
                </a:solidFill>
                <a:latin typeface="微软雅黑" panose="020B0503020204020204" charset="-122"/>
                <a:ea typeface="微软雅黑" panose="020B0503020204020204" charset="-122"/>
              </a:rPr>
              <a:t>下半年工作</a:t>
            </a:r>
            <a:r>
              <a:rPr lang="zh-CN" altLang="en-US" sz="12000">
                <a:solidFill>
                  <a:srgbClr val="356AFF"/>
                </a:solidFill>
                <a:latin typeface="微软雅黑" panose="020B0503020204020204" charset="-122"/>
                <a:ea typeface="微软雅黑" panose="020B0503020204020204" charset="-122"/>
              </a:rPr>
              <a:t>计划</a:t>
            </a:r>
            <a:endParaRPr lang="zh-CN" altLang="en-US" sz="12000">
              <a:solidFill>
                <a:srgbClr val="356AFF"/>
              </a:solidFill>
              <a:latin typeface="微软雅黑" panose="020B0503020204020204" charset="-122"/>
              <a:ea typeface="微软雅黑" panose="020B0503020204020204" charset="-122"/>
            </a:endParaRPr>
          </a:p>
        </p:txBody>
      </p:sp>
      <p:grpSp>
        <p:nvGrpSpPr>
          <p:cNvPr id="13" name="Group 13"/>
          <p:cNvGrpSpPr/>
          <p:nvPr/>
        </p:nvGrpSpPr>
        <p:grpSpPr>
          <a:xfrm>
            <a:off x="17352170" y="2226470"/>
            <a:ext cx="439840" cy="439840"/>
            <a:chOff x="0" y="0"/>
            <a:chExt cx="586454" cy="586454"/>
          </a:xfrm>
        </p:grpSpPr>
        <p:sp>
          <p:nvSpPr>
            <p:cNvPr id="14" name="Freeform 14"/>
            <p:cNvSpPr/>
            <p:nvPr/>
          </p:nvSpPr>
          <p:spPr>
            <a:xfrm>
              <a:off x="0" y="0"/>
              <a:ext cx="586486" cy="586486"/>
            </a:xfrm>
            <a:custGeom>
              <a:avLst/>
              <a:gdLst/>
              <a:ahLst/>
              <a:cxnLst/>
              <a:rect l="l" t="t" r="r" b="b"/>
              <a:pathLst>
                <a:path w="586486" h="586486">
                  <a:moveTo>
                    <a:pt x="0" y="293243"/>
                  </a:moveTo>
                  <a:cubicBezTo>
                    <a:pt x="0" y="131318"/>
                    <a:pt x="131318" y="0"/>
                    <a:pt x="293243" y="0"/>
                  </a:cubicBezTo>
                  <a:cubicBezTo>
                    <a:pt x="455168" y="0"/>
                    <a:pt x="586486" y="131318"/>
                    <a:pt x="586486" y="293243"/>
                  </a:cubicBezTo>
                  <a:cubicBezTo>
                    <a:pt x="586486" y="455168"/>
                    <a:pt x="455168" y="586486"/>
                    <a:pt x="293243" y="586486"/>
                  </a:cubicBezTo>
                  <a:cubicBezTo>
                    <a:pt x="131318" y="586486"/>
                    <a:pt x="0" y="455168"/>
                    <a:pt x="0" y="293243"/>
                  </a:cubicBezTo>
                  <a:close/>
                </a:path>
              </a:pathLst>
            </a:custGeom>
            <a:solidFill>
              <a:srgbClr val="356AFF"/>
            </a:solidFill>
          </p:spPr>
        </p:sp>
      </p:grpSp>
      <p:grpSp>
        <p:nvGrpSpPr>
          <p:cNvPr id="16" name="Group 16"/>
          <p:cNvGrpSpPr/>
          <p:nvPr/>
        </p:nvGrpSpPr>
        <p:grpSpPr>
          <a:xfrm>
            <a:off x="15597742" y="8893346"/>
            <a:ext cx="569742" cy="569742"/>
            <a:chOff x="0" y="0"/>
            <a:chExt cx="759656" cy="759656"/>
          </a:xfrm>
        </p:grpSpPr>
        <p:sp>
          <p:nvSpPr>
            <p:cNvPr id="17" name="Freeform 17"/>
            <p:cNvSpPr/>
            <p:nvPr/>
          </p:nvSpPr>
          <p:spPr>
            <a:xfrm>
              <a:off x="0" y="0"/>
              <a:ext cx="759714" cy="759714"/>
            </a:xfrm>
            <a:custGeom>
              <a:avLst/>
              <a:gdLst/>
              <a:ahLst/>
              <a:cxnLst/>
              <a:rect l="l" t="t" r="r" b="b"/>
              <a:pathLst>
                <a:path w="759714" h="759714">
                  <a:moveTo>
                    <a:pt x="0" y="379857"/>
                  </a:moveTo>
                  <a:cubicBezTo>
                    <a:pt x="0" y="170053"/>
                    <a:pt x="170053" y="0"/>
                    <a:pt x="379857" y="0"/>
                  </a:cubicBezTo>
                  <a:cubicBezTo>
                    <a:pt x="589661" y="0"/>
                    <a:pt x="759714" y="170053"/>
                    <a:pt x="759714" y="379857"/>
                  </a:cubicBezTo>
                  <a:cubicBezTo>
                    <a:pt x="759714" y="589661"/>
                    <a:pt x="589661" y="759714"/>
                    <a:pt x="379857" y="759714"/>
                  </a:cubicBezTo>
                  <a:cubicBezTo>
                    <a:pt x="170053" y="759714"/>
                    <a:pt x="0" y="589661"/>
                    <a:pt x="0" y="379857"/>
                  </a:cubicBezTo>
                  <a:close/>
                  <a:moveTo>
                    <a:pt x="189865" y="379857"/>
                  </a:moveTo>
                  <a:cubicBezTo>
                    <a:pt x="189865" y="484759"/>
                    <a:pt x="274955" y="569722"/>
                    <a:pt x="379730" y="569722"/>
                  </a:cubicBezTo>
                  <a:cubicBezTo>
                    <a:pt x="484505" y="569722"/>
                    <a:pt x="569595" y="484632"/>
                    <a:pt x="569595" y="379857"/>
                  </a:cubicBezTo>
                  <a:cubicBezTo>
                    <a:pt x="569595" y="275082"/>
                    <a:pt x="484505" y="189992"/>
                    <a:pt x="379730" y="189992"/>
                  </a:cubicBezTo>
                  <a:cubicBezTo>
                    <a:pt x="274955" y="189992"/>
                    <a:pt x="189865" y="275082"/>
                    <a:pt x="189865" y="379857"/>
                  </a:cubicBezTo>
                  <a:close/>
                </a:path>
              </a:pathLst>
            </a:custGeom>
            <a:solidFill>
              <a:srgbClr val="356AFF"/>
            </a:solidFill>
          </p:spPr>
        </p:sp>
      </p:grpSp>
      <p:grpSp>
        <p:nvGrpSpPr>
          <p:cNvPr id="20" name="Group 20"/>
          <p:cNvGrpSpPr/>
          <p:nvPr/>
        </p:nvGrpSpPr>
        <p:grpSpPr>
          <a:xfrm>
            <a:off x="492919" y="7834312"/>
            <a:ext cx="885825" cy="885825"/>
            <a:chOff x="0" y="0"/>
            <a:chExt cx="1181100" cy="1181100"/>
          </a:xfrm>
        </p:grpSpPr>
        <p:sp>
          <p:nvSpPr>
            <p:cNvPr id="21" name="Freeform 21"/>
            <p:cNvSpPr/>
            <p:nvPr/>
          </p:nvSpPr>
          <p:spPr>
            <a:xfrm>
              <a:off x="0" y="0"/>
              <a:ext cx="1181100" cy="1181100"/>
            </a:xfrm>
            <a:custGeom>
              <a:avLst/>
              <a:gdLst/>
              <a:ahLst/>
              <a:cxnLst/>
              <a:rect l="l" t="t" r="r" b="b"/>
              <a:pathLst>
                <a:path w="1181100" h="1181100">
                  <a:moveTo>
                    <a:pt x="1181100" y="590550"/>
                  </a:moveTo>
                  <a:cubicBezTo>
                    <a:pt x="1181100" y="264414"/>
                    <a:pt x="916686" y="0"/>
                    <a:pt x="590550" y="0"/>
                  </a:cubicBezTo>
                  <a:cubicBezTo>
                    <a:pt x="264414" y="0"/>
                    <a:pt x="0" y="264414"/>
                    <a:pt x="0" y="590550"/>
                  </a:cubicBezTo>
                  <a:cubicBezTo>
                    <a:pt x="0" y="916686"/>
                    <a:pt x="264414" y="1181100"/>
                    <a:pt x="590550" y="1181100"/>
                  </a:cubicBezTo>
                  <a:cubicBezTo>
                    <a:pt x="916686" y="1181100"/>
                    <a:pt x="1181100" y="916686"/>
                    <a:pt x="1181100" y="590550"/>
                  </a:cubicBezTo>
                  <a:close/>
                </a:path>
              </a:pathLst>
            </a:custGeom>
            <a:solidFill>
              <a:srgbClr val="2C57D4"/>
            </a:solidFill>
          </p:spPr>
        </p:sp>
      </p:grpSp>
      <p:sp>
        <p:nvSpPr>
          <p:cNvPr id="190" name="Freeform 30"/>
          <p:cNvSpPr/>
          <p:nvPr>
            <p:custDataLst>
              <p:tags r:id="rId12"/>
            </p:custDataLst>
          </p:nvPr>
        </p:nvSpPr>
        <p:spPr>
          <a:xfrm>
            <a:off x="304888" y="249061"/>
            <a:ext cx="2187262" cy="656549"/>
          </a:xfrm>
          <a:custGeom>
            <a:avLst/>
            <a:gdLst/>
            <a:ahLst/>
            <a:cxnLst/>
            <a:rect l="l" t="t" r="r" b="b"/>
            <a:pathLst>
              <a:path w="2187262" h="656549">
                <a:moveTo>
                  <a:pt x="0" y="0"/>
                </a:moveTo>
                <a:lnTo>
                  <a:pt x="2187262" y="0"/>
                </a:lnTo>
                <a:lnTo>
                  <a:pt x="2187262" y="656549"/>
                </a:lnTo>
                <a:lnTo>
                  <a:pt x="0" y="656549"/>
                </a:lnTo>
                <a:lnTo>
                  <a:pt x="0" y="0"/>
                </a:lnTo>
                <a:close/>
              </a:path>
            </a:pathLst>
          </a:custGeom>
          <a:blipFill>
            <a:blip r:embed="rId13"/>
            <a:stretch>
              <a:fillRect/>
            </a:stretch>
          </a:blipFill>
        </p:spPr>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4F5FA"/>
        </a:solidFill>
        <a:effectLst/>
      </p:bgPr>
    </p:bg>
    <p:spTree>
      <p:nvGrpSpPr>
        <p:cNvPr id="1" name=""/>
        <p:cNvGrpSpPr/>
        <p:nvPr/>
      </p:nvGrpSpPr>
      <p:grpSpPr>
        <a:xfrm>
          <a:off x="0" y="0"/>
          <a:ext cx="0" cy="0"/>
          <a:chOff x="0" y="0"/>
          <a:chExt cx="0" cy="0"/>
        </a:xfrm>
      </p:grpSpPr>
      <p:sp>
        <p:nvSpPr>
          <p:cNvPr id="13" name="Freeform 13"/>
          <p:cNvSpPr/>
          <p:nvPr/>
        </p:nvSpPr>
        <p:spPr>
          <a:xfrm>
            <a:off x="0" y="9463088"/>
            <a:ext cx="1713174" cy="762255"/>
          </a:xfrm>
          <a:custGeom>
            <a:avLst/>
            <a:gdLst/>
            <a:ahLst/>
            <a:cxnLst/>
            <a:rect l="l" t="t" r="r" b="b"/>
            <a:pathLst>
              <a:path w="1713174" h="762255">
                <a:moveTo>
                  <a:pt x="0" y="0"/>
                </a:moveTo>
                <a:lnTo>
                  <a:pt x="1713174" y="0"/>
                </a:lnTo>
                <a:lnTo>
                  <a:pt x="1713174" y="762254"/>
                </a:lnTo>
                <a:lnTo>
                  <a:pt x="0" y="762254"/>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6" name="TextBox 30"/>
          <p:cNvSpPr txBox="1"/>
          <p:nvPr>
            <p:custDataLst>
              <p:tags r:id="rId3"/>
            </p:custDataLst>
          </p:nvPr>
        </p:nvSpPr>
        <p:spPr>
          <a:xfrm>
            <a:off x="609600" y="1257300"/>
            <a:ext cx="15503525" cy="2553335"/>
          </a:xfrm>
          <a:prstGeom prst="rect">
            <a:avLst/>
          </a:prstGeom>
        </p:spPr>
        <p:txBody>
          <a:bodyPr wrap="square" lIns="0" tIns="0" rIns="0" bIns="0" rtlCol="0" anchor="t">
            <a:noAutofit/>
          </a:bodyPr>
          <a:lstStyle/>
          <a:p>
            <a:pPr algn="l">
              <a:lnSpc>
                <a:spcPts val="4320"/>
              </a:lnSpc>
              <a:buClrTx/>
              <a:buSzTx/>
              <a:buFontTx/>
            </a:pPr>
            <a:r>
              <a:rPr lang="zh-CN" altLang="en-US" sz="2400">
                <a:solidFill>
                  <a:schemeClr val="tx1"/>
                </a:solidFill>
                <a:latin typeface="微软雅黑" panose="020B0503020204020204" charset="-122"/>
                <a:ea typeface="微软雅黑" panose="020B0503020204020204" charset="-122"/>
              </a:rPr>
              <a:t>基础学习：</a:t>
            </a:r>
            <a:endParaRPr lang="en-US" altLang="zh-CN" sz="2400">
              <a:solidFill>
                <a:schemeClr val="tx1"/>
              </a:solidFill>
              <a:latin typeface="微软雅黑" panose="020B0503020204020204" charset="-122"/>
              <a:ea typeface="微软雅黑" panose="020B0503020204020204" charset="-122"/>
            </a:endParaRPr>
          </a:p>
          <a:p>
            <a:pPr algn="l">
              <a:lnSpc>
                <a:spcPts val="4320"/>
              </a:lnSpc>
              <a:buClrTx/>
              <a:buSzTx/>
              <a:buFontTx/>
            </a:pPr>
            <a:r>
              <a:rPr lang="en-US" altLang="zh-CN" sz="2400">
                <a:solidFill>
                  <a:schemeClr val="tx1"/>
                </a:solidFill>
                <a:latin typeface="微软雅黑" panose="020B0503020204020204" charset="-122"/>
                <a:ea typeface="微软雅黑" panose="020B0503020204020204" charset="-122"/>
              </a:rPr>
              <a:t>1. </a:t>
            </a:r>
            <a:r>
              <a:rPr lang="zh-CN" altLang="en-US" sz="2400">
                <a:solidFill>
                  <a:schemeClr val="tx1"/>
                </a:solidFill>
                <a:latin typeface="微软雅黑" panose="020B0503020204020204" charset="-122"/>
                <a:ea typeface="微软雅黑" panose="020B0503020204020204" charset="-122"/>
              </a:rPr>
              <a:t>完成马毅老师的教材重点章节的</a:t>
            </a:r>
            <a:r>
              <a:rPr lang="zh-CN" altLang="en-US" sz="2400">
                <a:solidFill>
                  <a:schemeClr val="tx1"/>
                </a:solidFill>
                <a:latin typeface="微软雅黑" panose="020B0503020204020204" charset="-122"/>
                <a:ea typeface="微软雅黑" panose="020B0503020204020204" charset="-122"/>
              </a:rPr>
              <a:t>学习。</a:t>
            </a:r>
            <a:endParaRPr lang="zh-CN" altLang="en-US" sz="2400">
              <a:solidFill>
                <a:schemeClr val="tx1"/>
              </a:solidFill>
              <a:latin typeface="微软雅黑" panose="020B0503020204020204" charset="-122"/>
              <a:ea typeface="微软雅黑" panose="020B0503020204020204" charset="-122"/>
            </a:endParaRPr>
          </a:p>
          <a:p>
            <a:pPr algn="l">
              <a:lnSpc>
                <a:spcPts val="4320"/>
              </a:lnSpc>
              <a:buClrTx/>
              <a:buSzTx/>
              <a:buFontTx/>
            </a:pPr>
            <a:r>
              <a:rPr lang="en-US" altLang="zh-CN" sz="2400">
                <a:solidFill>
                  <a:schemeClr val="tx1"/>
                </a:solidFill>
                <a:latin typeface="微软雅黑" panose="020B0503020204020204" charset="-122"/>
                <a:ea typeface="微软雅黑" panose="020B0503020204020204" charset="-122"/>
              </a:rPr>
              <a:t>2. </a:t>
            </a:r>
            <a:r>
              <a:rPr lang="zh-CN" altLang="en-US" sz="2400">
                <a:solidFill>
                  <a:schemeClr val="tx1"/>
                </a:solidFill>
                <a:latin typeface="微软雅黑" panose="020B0503020204020204" charset="-122"/>
                <a:ea typeface="微软雅黑" panose="020B0503020204020204" charset="-122"/>
              </a:rPr>
              <a:t>完成最优化理论课程的</a:t>
            </a:r>
            <a:r>
              <a:rPr lang="zh-CN" altLang="en-US" sz="2400">
                <a:solidFill>
                  <a:schemeClr val="tx1"/>
                </a:solidFill>
                <a:latin typeface="微软雅黑" panose="020B0503020204020204" charset="-122"/>
                <a:ea typeface="微软雅黑" panose="020B0503020204020204" charset="-122"/>
              </a:rPr>
              <a:t>学习。</a:t>
            </a:r>
            <a:endParaRPr lang="zh-CN" altLang="en-US" sz="2400">
              <a:solidFill>
                <a:schemeClr val="tx1"/>
              </a:solidFill>
              <a:latin typeface="微软雅黑" panose="020B0503020204020204" charset="-122"/>
              <a:ea typeface="微软雅黑" panose="020B0503020204020204" charset="-122"/>
            </a:endParaRPr>
          </a:p>
          <a:p>
            <a:pPr algn="l">
              <a:lnSpc>
                <a:spcPts val="4320"/>
              </a:lnSpc>
              <a:buClrTx/>
              <a:buSzTx/>
              <a:buFontTx/>
            </a:pPr>
            <a:r>
              <a:rPr lang="en-US" altLang="zh-CN" sz="2400">
                <a:solidFill>
                  <a:schemeClr val="tx1"/>
                </a:solidFill>
                <a:latin typeface="微软雅黑" panose="020B0503020204020204" charset="-122"/>
                <a:ea typeface="微软雅黑" panose="020B0503020204020204" charset="-122"/>
              </a:rPr>
              <a:t>3. </a:t>
            </a:r>
            <a:r>
              <a:rPr lang="zh-CN" altLang="en-US" sz="2400">
                <a:solidFill>
                  <a:schemeClr val="tx1"/>
                </a:solidFill>
                <a:latin typeface="微软雅黑" panose="020B0503020204020204" charset="-122"/>
                <a:ea typeface="微软雅黑" panose="020B0503020204020204" charset="-122"/>
              </a:rPr>
              <a:t>对</a:t>
            </a:r>
            <a:r>
              <a:rPr lang="en-US" altLang="zh-CN" sz="2400">
                <a:solidFill>
                  <a:schemeClr val="tx1"/>
                </a:solidFill>
                <a:latin typeface="微软雅黑" panose="020B0503020204020204" charset="-122"/>
                <a:ea typeface="微软雅黑" panose="020B0503020204020204" charset="-122"/>
              </a:rPr>
              <a:t>Rate Reduction</a:t>
            </a:r>
            <a:r>
              <a:rPr lang="zh-CN" altLang="en-US" sz="2400">
                <a:solidFill>
                  <a:schemeClr val="tx1"/>
                </a:solidFill>
                <a:latin typeface="微软雅黑" panose="020B0503020204020204" charset="-122"/>
                <a:ea typeface="微软雅黑" panose="020B0503020204020204" charset="-122"/>
              </a:rPr>
              <a:t>理论进行深入理解，完成一次</a:t>
            </a:r>
            <a:r>
              <a:rPr lang="en-US" altLang="zh-CN" sz="2400">
                <a:latin typeface="微软雅黑" panose="020B0503020204020204" charset="-122"/>
                <a:ea typeface="微软雅黑" panose="020B0503020204020204" charset="-122"/>
                <a:sym typeface="+mn-ea"/>
              </a:rPr>
              <a:t>Rate Reduction Transformers</a:t>
            </a:r>
            <a:r>
              <a:rPr lang="zh-CN" altLang="en-US" sz="2400">
                <a:latin typeface="微软雅黑" panose="020B0503020204020204" charset="-122"/>
                <a:ea typeface="微软雅黑" panose="020B0503020204020204" charset="-122"/>
                <a:sym typeface="+mn-ea"/>
              </a:rPr>
              <a:t>的</a:t>
            </a:r>
            <a:r>
              <a:rPr lang="zh-CN" altLang="en-US" sz="2400">
                <a:solidFill>
                  <a:schemeClr val="tx1"/>
                </a:solidFill>
                <a:latin typeface="微软雅黑" panose="020B0503020204020204" charset="-122"/>
                <a:ea typeface="微软雅黑" panose="020B0503020204020204" charset="-122"/>
              </a:rPr>
              <a:t>专题分享。</a:t>
            </a:r>
            <a:endParaRPr lang="zh-CN" altLang="en-US" sz="2400">
              <a:solidFill>
                <a:schemeClr val="tx1"/>
              </a:solidFill>
              <a:latin typeface="微软雅黑" panose="020B0503020204020204" charset="-122"/>
              <a:ea typeface="微软雅黑" panose="020B0503020204020204" charset="-122"/>
            </a:endParaRPr>
          </a:p>
        </p:txBody>
      </p:sp>
      <p:sp>
        <p:nvSpPr>
          <p:cNvPr id="2" name="TextBox 30"/>
          <p:cNvSpPr txBox="1"/>
          <p:nvPr>
            <p:custDataLst>
              <p:tags r:id="rId4"/>
            </p:custDataLst>
          </p:nvPr>
        </p:nvSpPr>
        <p:spPr>
          <a:xfrm>
            <a:off x="609600" y="5357495"/>
            <a:ext cx="15503525" cy="2215515"/>
          </a:xfrm>
          <a:prstGeom prst="rect">
            <a:avLst/>
          </a:prstGeom>
        </p:spPr>
        <p:txBody>
          <a:bodyPr wrap="square" lIns="0" tIns="0" rIns="0" bIns="0" rtlCol="0" anchor="t">
            <a:spAutoFit/>
          </a:bodyPr>
          <a:lstStyle/>
          <a:p>
            <a:pPr algn="l">
              <a:lnSpc>
                <a:spcPts val="4320"/>
              </a:lnSpc>
              <a:buClrTx/>
              <a:buSzTx/>
              <a:buFontTx/>
            </a:pPr>
            <a:r>
              <a:rPr lang="en-US" altLang="zh-CN" sz="2400">
                <a:solidFill>
                  <a:schemeClr val="tx1"/>
                </a:solidFill>
                <a:latin typeface="微软雅黑" panose="020B0503020204020204" charset="-122"/>
                <a:ea typeface="微软雅黑" panose="020B0503020204020204" charset="-122"/>
              </a:rPr>
              <a:t>Self-Adapting Topic</a:t>
            </a:r>
            <a:r>
              <a:rPr lang="zh-CN" altLang="en-US" sz="2400">
                <a:solidFill>
                  <a:schemeClr val="tx1"/>
                </a:solidFill>
                <a:latin typeface="微软雅黑" panose="020B0503020204020204" charset="-122"/>
                <a:ea typeface="微软雅黑" panose="020B0503020204020204" charset="-122"/>
              </a:rPr>
              <a:t>：</a:t>
            </a:r>
            <a:endParaRPr lang="en-US" altLang="zh-CN" sz="2400">
              <a:solidFill>
                <a:schemeClr val="tx1"/>
              </a:solidFill>
              <a:latin typeface="微软雅黑" panose="020B0503020204020204" charset="-122"/>
              <a:ea typeface="微软雅黑" panose="020B0503020204020204" charset="-122"/>
            </a:endParaRPr>
          </a:p>
          <a:p>
            <a:pPr algn="l">
              <a:lnSpc>
                <a:spcPts val="4320"/>
              </a:lnSpc>
              <a:buClrTx/>
              <a:buSzTx/>
              <a:buFontTx/>
            </a:pPr>
            <a:r>
              <a:rPr lang="en-US" altLang="zh-CN" sz="2400">
                <a:solidFill>
                  <a:schemeClr val="tx1"/>
                </a:solidFill>
                <a:latin typeface="微软雅黑" panose="020B0503020204020204" charset="-122"/>
                <a:ea typeface="微软雅黑" panose="020B0503020204020204" charset="-122"/>
              </a:rPr>
              <a:t>1. </a:t>
            </a:r>
            <a:r>
              <a:rPr lang="zh-CN" altLang="en-US" sz="2400">
                <a:solidFill>
                  <a:schemeClr val="tx1"/>
                </a:solidFill>
                <a:latin typeface="微软雅黑" panose="020B0503020204020204" charset="-122"/>
                <a:ea typeface="微软雅黑" panose="020B0503020204020204" charset="-122"/>
              </a:rPr>
              <a:t>完成所有</a:t>
            </a:r>
            <a:r>
              <a:rPr lang="en-US" altLang="zh-CN" sz="2400">
                <a:solidFill>
                  <a:schemeClr val="tx1"/>
                </a:solidFill>
                <a:latin typeface="微软雅黑" panose="020B0503020204020204" charset="-122"/>
                <a:ea typeface="微软雅黑" panose="020B0503020204020204" charset="-122"/>
              </a:rPr>
              <a:t>baselines</a:t>
            </a:r>
            <a:r>
              <a:rPr lang="zh-CN" altLang="en-US" sz="2400">
                <a:solidFill>
                  <a:schemeClr val="tx1"/>
                </a:solidFill>
                <a:latin typeface="微软雅黑" panose="020B0503020204020204" charset="-122"/>
                <a:ea typeface="微软雅黑" panose="020B0503020204020204" charset="-122"/>
              </a:rPr>
              <a:t>与新方法的性能比较</a:t>
            </a:r>
            <a:r>
              <a:rPr lang="zh-CN" altLang="en-US" sz="2400">
                <a:solidFill>
                  <a:schemeClr val="tx1"/>
                </a:solidFill>
                <a:latin typeface="微软雅黑" panose="020B0503020204020204" charset="-122"/>
                <a:ea typeface="微软雅黑" panose="020B0503020204020204" charset="-122"/>
              </a:rPr>
              <a:t>实验。</a:t>
            </a:r>
            <a:endParaRPr lang="zh-CN" altLang="en-US" sz="2400">
              <a:solidFill>
                <a:schemeClr val="tx1"/>
              </a:solidFill>
              <a:latin typeface="微软雅黑" panose="020B0503020204020204" charset="-122"/>
              <a:ea typeface="微软雅黑" panose="020B0503020204020204" charset="-122"/>
            </a:endParaRPr>
          </a:p>
          <a:p>
            <a:pPr algn="l">
              <a:lnSpc>
                <a:spcPts val="4320"/>
              </a:lnSpc>
              <a:buClrTx/>
              <a:buSzTx/>
              <a:buFontTx/>
            </a:pPr>
            <a:r>
              <a:rPr lang="en-US" altLang="zh-CN" sz="2400">
                <a:solidFill>
                  <a:schemeClr val="tx1"/>
                </a:solidFill>
                <a:latin typeface="微软雅黑" panose="020B0503020204020204" charset="-122"/>
                <a:ea typeface="微软雅黑" panose="020B0503020204020204" charset="-122"/>
              </a:rPr>
              <a:t>2. </a:t>
            </a:r>
            <a:r>
              <a:rPr lang="zh-CN" altLang="en-US" sz="2400">
                <a:solidFill>
                  <a:schemeClr val="tx1"/>
                </a:solidFill>
                <a:latin typeface="微软雅黑" panose="020B0503020204020204" charset="-122"/>
                <a:ea typeface="微软雅黑" panose="020B0503020204020204" charset="-122"/>
              </a:rPr>
              <a:t>尝试非</a:t>
            </a:r>
            <a:r>
              <a:rPr lang="en-US" altLang="zh-CN" sz="2400">
                <a:solidFill>
                  <a:schemeClr val="tx1"/>
                </a:solidFill>
                <a:latin typeface="微软雅黑" panose="020B0503020204020204" charset="-122"/>
                <a:ea typeface="微软雅黑" panose="020B0503020204020204" charset="-122"/>
              </a:rPr>
              <a:t>LoRA</a:t>
            </a:r>
            <a:r>
              <a:rPr lang="zh-CN" altLang="en-US" sz="2400">
                <a:solidFill>
                  <a:schemeClr val="tx1"/>
                </a:solidFill>
                <a:latin typeface="微软雅黑" panose="020B0503020204020204" charset="-122"/>
                <a:ea typeface="微软雅黑" panose="020B0503020204020204" charset="-122"/>
              </a:rPr>
              <a:t>系列方法，采用历史任务</a:t>
            </a:r>
            <a:r>
              <a:rPr lang="en-US" altLang="zh-CN" sz="2400">
                <a:solidFill>
                  <a:schemeClr val="tx1"/>
                </a:solidFill>
                <a:latin typeface="微软雅黑" panose="020B0503020204020204" charset="-122"/>
                <a:ea typeface="微软雅黑" panose="020B0503020204020204" charset="-122"/>
              </a:rPr>
              <a:t>RAG</a:t>
            </a:r>
            <a:r>
              <a:rPr lang="zh-CN" altLang="en-US" sz="2400">
                <a:solidFill>
                  <a:schemeClr val="tx1"/>
                </a:solidFill>
                <a:latin typeface="微软雅黑" panose="020B0503020204020204" charset="-122"/>
                <a:ea typeface="微软雅黑" panose="020B0503020204020204" charset="-122"/>
              </a:rPr>
              <a:t>的</a:t>
            </a:r>
            <a:r>
              <a:rPr lang="zh-CN" altLang="en-US" sz="2400">
                <a:solidFill>
                  <a:schemeClr val="tx1"/>
                </a:solidFill>
                <a:latin typeface="微软雅黑" panose="020B0503020204020204" charset="-122"/>
                <a:ea typeface="微软雅黑" panose="020B0503020204020204" charset="-122"/>
              </a:rPr>
              <a:t>自进化框架</a:t>
            </a:r>
            <a:r>
              <a:rPr lang="zh-CN" altLang="en-US" sz="2400">
                <a:solidFill>
                  <a:schemeClr val="tx1"/>
                </a:solidFill>
                <a:latin typeface="微软雅黑" panose="020B0503020204020204" charset="-122"/>
                <a:ea typeface="微软雅黑" panose="020B0503020204020204" charset="-122"/>
              </a:rPr>
              <a:t>不变。</a:t>
            </a:r>
            <a:endParaRPr lang="zh-CN" altLang="en-US" sz="2400">
              <a:solidFill>
                <a:schemeClr val="tx1"/>
              </a:solidFill>
              <a:latin typeface="微软雅黑" panose="020B0503020204020204" charset="-122"/>
              <a:ea typeface="微软雅黑" panose="020B0503020204020204" charset="-122"/>
            </a:endParaRPr>
          </a:p>
          <a:p>
            <a:pPr algn="l">
              <a:lnSpc>
                <a:spcPts val="4320"/>
              </a:lnSpc>
              <a:buClrTx/>
              <a:buSzTx/>
              <a:buFontTx/>
            </a:pPr>
            <a:r>
              <a:rPr lang="en-US" altLang="zh-CN" sz="2400">
                <a:solidFill>
                  <a:schemeClr val="tx1"/>
                </a:solidFill>
                <a:latin typeface="微软雅黑" panose="020B0503020204020204" charset="-122"/>
                <a:ea typeface="微软雅黑" panose="020B0503020204020204" charset="-122"/>
              </a:rPr>
              <a:t>3. </a:t>
            </a:r>
            <a:r>
              <a:rPr lang="zh-CN" altLang="en-US" sz="2400">
                <a:solidFill>
                  <a:schemeClr val="tx1"/>
                </a:solidFill>
                <a:latin typeface="微软雅黑" panose="020B0503020204020204" charset="-122"/>
                <a:ea typeface="微软雅黑" panose="020B0503020204020204" charset="-122"/>
              </a:rPr>
              <a:t>完成</a:t>
            </a:r>
            <a:r>
              <a:rPr lang="en-US" altLang="zh-CN" sz="2400">
                <a:solidFill>
                  <a:schemeClr val="tx1"/>
                </a:solidFill>
                <a:latin typeface="微软雅黑" panose="020B0503020204020204" charset="-122"/>
                <a:ea typeface="微软雅黑" panose="020B0503020204020204" charset="-122"/>
              </a:rPr>
              <a:t>Text to LoRA</a:t>
            </a:r>
            <a:r>
              <a:rPr lang="zh-CN" altLang="en-US" sz="2400">
                <a:solidFill>
                  <a:schemeClr val="tx1"/>
                </a:solidFill>
                <a:latin typeface="微软雅黑" panose="020B0503020204020204" charset="-122"/>
                <a:ea typeface="微软雅黑" panose="020B0503020204020204" charset="-122"/>
              </a:rPr>
              <a:t>方向的</a:t>
            </a:r>
            <a:r>
              <a:rPr lang="zh-CN" altLang="en-US" sz="2400">
                <a:solidFill>
                  <a:schemeClr val="tx1"/>
                </a:solidFill>
                <a:latin typeface="微软雅黑" panose="020B0503020204020204" charset="-122"/>
                <a:ea typeface="微软雅黑" panose="020B0503020204020204" charset="-122"/>
              </a:rPr>
              <a:t>调研。</a:t>
            </a:r>
            <a:endParaRPr lang="zh-CN" altLang="en-US" sz="2400">
              <a:solidFill>
                <a:schemeClr val="tx1"/>
              </a:solidFill>
              <a:latin typeface="微软雅黑" panose="020B0503020204020204" charset="-122"/>
              <a:ea typeface="微软雅黑" panose="020B0503020204020204" charset="-122"/>
            </a:endParaRPr>
          </a:p>
        </p:txBody>
      </p:sp>
      <p:sp>
        <p:nvSpPr>
          <p:cNvPr id="3" name="Freeform 30"/>
          <p:cNvSpPr/>
          <p:nvPr>
            <p:custDataLst>
              <p:tags r:id="rId5"/>
            </p:custDataLst>
          </p:nvPr>
        </p:nvSpPr>
        <p:spPr>
          <a:xfrm>
            <a:off x="15468688" y="343041"/>
            <a:ext cx="2187262" cy="656549"/>
          </a:xfrm>
          <a:custGeom>
            <a:avLst/>
            <a:gdLst/>
            <a:ahLst/>
            <a:cxnLst/>
            <a:rect l="l" t="t" r="r" b="b"/>
            <a:pathLst>
              <a:path w="2187262" h="656549">
                <a:moveTo>
                  <a:pt x="0" y="0"/>
                </a:moveTo>
                <a:lnTo>
                  <a:pt x="2187262" y="0"/>
                </a:lnTo>
                <a:lnTo>
                  <a:pt x="2187262" y="656549"/>
                </a:lnTo>
                <a:lnTo>
                  <a:pt x="0" y="656549"/>
                </a:lnTo>
                <a:lnTo>
                  <a:pt x="0" y="0"/>
                </a:lnTo>
                <a:close/>
              </a:path>
            </a:pathLst>
          </a:custGeom>
          <a:blipFill>
            <a:blip r:embed="rId6"/>
            <a:stretch>
              <a:fillRect/>
            </a:stretch>
          </a:blipFill>
        </p:spPr>
      </p:sp>
    </p:spTree>
  </p:cSld>
  <p:clrMapOvr>
    <a:masterClrMapping/>
  </p:clrMapOvr>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7.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28.xml><?xml version="1.0" encoding="utf-8"?>
<p:tagLst xmlns:p="http://schemas.openxmlformats.org/presentationml/2006/main">
  <p:tag name="KSO_WM_BEAUTIFY_FLAG" val=""/>
</p:tagLst>
</file>

<file path=ppt/tags/tag29.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30.xml><?xml version="1.0" encoding="utf-8"?>
<p:tagLst xmlns:p="http://schemas.openxmlformats.org/presentationml/2006/main">
  <p:tag name="KSO_WM_BEAUTIFY_FLAG" val=""/>
</p:tagLst>
</file>

<file path=ppt/tags/tag31.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32.xml><?xml version="1.0" encoding="utf-8"?>
<p:tagLst xmlns:p="http://schemas.openxmlformats.org/presentationml/2006/main">
  <p:tag name="KSO_WM_BEAUTIFY_FLAG" val=""/>
</p:tagLst>
</file>

<file path=ppt/tags/tag33.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34.xml><?xml version="1.0" encoding="utf-8"?>
<p:tagLst xmlns:p="http://schemas.openxmlformats.org/presentationml/2006/main">
  <p:tag name="KSO_WM_BEAUTIFY_FLAG" val=""/>
</p:tagLst>
</file>

<file path=ppt/tags/tag35.xml><?xml version="1.0" encoding="utf-8"?>
<p:tagLst xmlns:p="http://schemas.openxmlformats.org/presentationml/2006/main">
  <p:tag name="KSO_WM_BEAUTIFY_FLAG" val=""/>
</p:tagLst>
</file>

<file path=ppt/tags/tag36.xml><?xml version="1.0" encoding="utf-8"?>
<p:tagLst xmlns:p="http://schemas.openxmlformats.org/presentationml/2006/main">
  <p:tag name="KSO_WM_BEAUTIFY_FLAG" val=""/>
</p:tagLst>
</file>

<file path=ppt/tags/tag37.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38.xml><?xml version="1.0" encoding="utf-8"?>
<p:tagLst xmlns:p="http://schemas.openxmlformats.org/presentationml/2006/main">
  <p:tag name="KSO_DOCER_RESOURCE_TRACE_INFO" val="{&quot;id&quot;:&quot;50063356&quot;,&quot;origin&quot;:0,&quot;type&quot;:&quot;icons&quot;,&quot;user&quot;:&quot;263212569&quot;}"/>
</p:tagLst>
</file>

<file path=ppt/tags/tag39.xml><?xml version="1.0" encoding="utf-8"?>
<p:tagLst xmlns:p="http://schemas.openxmlformats.org/presentationml/2006/main">
  <p:tag name="KSO_DOCER_RESOURCE_TRACE_INFO" val="{&quot;id&quot;:&quot;50059455&quot;,&quot;origin&quot;:0,&quot;type&quot;:&quot;icons&quot;,&quot;user&quot;:&quot;263212569&quot;}"/>
</p:tagLst>
</file>

<file path=ppt/tags/tag40.xml><?xml version="1.0" encoding="utf-8"?>
<p:tagLst xmlns:p="http://schemas.openxmlformats.org/presentationml/2006/main">
  <p:tag name="KSO_DOCER_RESOURCE_TRACE_INFO" val="{&quot;id&quot;:&quot;50063356&quot;,&quot;origin&quot;:0,&quot;type&quot;:&quot;icons&quot;,&quot;user&quot;:&quot;263212569&quot;}"/>
</p:tagLst>
</file>

<file path=ppt/tags/tag41.xml><?xml version="1.0" encoding="utf-8"?>
<p:tagLst xmlns:p="http://schemas.openxmlformats.org/presentationml/2006/main">
  <p:tag name="KSO_DOCER_RESOURCE_TRACE_INFO" val="{&quot;id&quot;:&quot;3476857&quot;,&quot;origin&quot;:0,&quot;type&quot;:&quot;icons&quot;,&quot;user&quot;:&quot;263212569&quot;}"/>
</p:tagLst>
</file>

<file path=ppt/tags/tag42.xml><?xml version="1.0" encoding="utf-8"?>
<p:tagLst xmlns:p="http://schemas.openxmlformats.org/presentationml/2006/main">
  <p:tag name="KSO_DOCER_RESOURCE_TRACE_INFO" val="{&quot;id&quot;:&quot;21563431&quot;,&quot;origin&quot;:0,&quot;type&quot;:&quot;icons&quot;,&quot;user&quot;:&quot;263212569&quot;}"/>
</p:tagLst>
</file>

<file path=ppt/tags/tag43.xml><?xml version="1.0" encoding="utf-8"?>
<p:tagLst xmlns:p="http://schemas.openxmlformats.org/presentationml/2006/main">
  <p:tag name="KSO_DOCER_RESOURCE_TRACE_INFO" val="{&quot;id&quot;:&quot;50059455&quot;,&quot;origin&quot;:0,&quot;type&quot;:&quot;icons&quot;,&quot;user&quot;:&quot;263212569&quot;}"/>
</p:tagLst>
</file>

<file path=ppt/tags/tag44.xml><?xml version="1.0" encoding="utf-8"?>
<p:tagLst xmlns:p="http://schemas.openxmlformats.org/presentationml/2006/main">
  <p:tag name="KSO_DOCER_RESOURCE_TRACE_INFO" val="{&quot;id&quot;:&quot;50063356&quot;,&quot;origin&quot;:0,&quot;type&quot;:&quot;icons&quot;,&quot;user&quot;:&quot;263212569&quot;}"/>
</p:tagLst>
</file>

<file path=ppt/tags/tag45.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46.xml><?xml version="1.0" encoding="utf-8"?>
<p:tagLst xmlns:p="http://schemas.openxmlformats.org/presentationml/2006/main">
  <p:tag name="KSO_WM_BEAUTIFY_FLAG" val=""/>
</p:tagLst>
</file>

<file path=ppt/tags/tag47.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48.xml><?xml version="1.0" encoding="utf-8"?>
<p:tagLst xmlns:p="http://schemas.openxmlformats.org/presentationml/2006/main">
  <p:tag name="KSO_DOCER_RESOURCE_TRACE_INFO" val="{&quot;id&quot;:&quot;50063356&quot;,&quot;origin&quot;:0,&quot;type&quot;:&quot;icons&quot;,&quot;user&quot;:&quot;263212569&quot;}"/>
</p:tagLst>
</file>

<file path=ppt/tags/tag49.xml><?xml version="1.0" encoding="utf-8"?>
<p:tagLst xmlns:p="http://schemas.openxmlformats.org/presentationml/2006/main">
  <p:tag name="KSO_DOCER_RESOURCE_TRACE_INFO" val="{&quot;id&quot;:&quot;50059455&quot;,&quot;origin&quot;:0,&quot;type&quot;:&quot;icons&quot;,&quot;user&quot;:&quot;263212569&quot;}"/>
</p:tagLst>
</file>

<file path=ppt/tags/tag50.xml><?xml version="1.0" encoding="utf-8"?>
<p:tagLst xmlns:p="http://schemas.openxmlformats.org/presentationml/2006/main">
  <p:tag name="KSO_DOCER_RESOURCE_TRACE_INFO" val="{&quot;id&quot;:&quot;50063356&quot;,&quot;origin&quot;:0,&quot;type&quot;:&quot;icons&quot;,&quot;user&quot;:&quot;263212569&quot;}"/>
</p:tagLst>
</file>

<file path=ppt/tags/tag51.xml><?xml version="1.0" encoding="utf-8"?>
<p:tagLst xmlns:p="http://schemas.openxmlformats.org/presentationml/2006/main">
  <p:tag name="KSO_DOCER_RESOURCE_TRACE_INFO" val="{&quot;id&quot;:&quot;3476857&quot;,&quot;origin&quot;:0,&quot;type&quot;:&quot;icons&quot;,&quot;user&quot;:&quot;263212569&quot;}"/>
</p:tagLst>
</file>

<file path=ppt/tags/tag52.xml><?xml version="1.0" encoding="utf-8"?>
<p:tagLst xmlns:p="http://schemas.openxmlformats.org/presentationml/2006/main">
  <p:tag name="KSO_DOCER_RESOURCE_TRACE_INFO" val="{&quot;id&quot;:&quot;21563431&quot;,&quot;origin&quot;:0,&quot;type&quot;:&quot;icons&quot;,&quot;user&quot;:&quot;263212569&quot;}"/>
</p:tagLst>
</file>

<file path=ppt/tags/tag53.xml><?xml version="1.0" encoding="utf-8"?>
<p:tagLst xmlns:p="http://schemas.openxmlformats.org/presentationml/2006/main">
  <p:tag name="KSO_DOCER_RESOURCE_TRACE_INFO" val="{&quot;id&quot;:&quot;50059455&quot;,&quot;origin&quot;:0,&quot;type&quot;:&quot;icons&quot;,&quot;user&quot;:&quot;263212569&quot;}"/>
</p:tagLst>
</file>

<file path=ppt/tags/tag54.xml><?xml version="1.0" encoding="utf-8"?>
<p:tagLst xmlns:p="http://schemas.openxmlformats.org/presentationml/2006/main">
  <p:tag name="KSO_DOCER_RESOURCE_TRACE_INFO" val="{&quot;id&quot;:&quot;50063356&quot;,&quot;origin&quot;:0,&quot;type&quot;:&quot;icons&quot;,&quot;user&quot;:&quot;263212569&quot;}"/>
</p:tagLst>
</file>

<file path=ppt/tags/tag55.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56.xml><?xml version="1.0" encoding="utf-8"?>
<p:tagLst xmlns:p="http://schemas.openxmlformats.org/presentationml/2006/main">
  <p:tag name="KSO_WM_BEAUTIFY_FLAG" val=""/>
</p:tagLst>
</file>

<file path=ppt/tags/tag57.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58.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59.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0.xml><?xml version="1.0" encoding="utf-8"?>
<p:tagLst xmlns:p="http://schemas.openxmlformats.org/presentationml/2006/main">
  <p:tag name="KSO_WM_BEAUTIFY_FLAG" val=""/>
</p:tagLst>
</file>

<file path=ppt/tags/tag61.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2.xml><?xml version="1.0" encoding="utf-8"?>
<p:tagLst xmlns:p="http://schemas.openxmlformats.org/presentationml/2006/main">
  <p:tag name="KSO_WM_BEAUTIFY_FLAG" val=""/>
</p:tagLst>
</file>

<file path=ppt/tags/tag63.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4.xml><?xml version="1.0" encoding="utf-8"?>
<p:tagLst xmlns:p="http://schemas.openxmlformats.org/presentationml/2006/main">
  <p:tag name="KSO_WM_BEAUTIFY_FLAG" val=""/>
</p:tagLst>
</file>

<file path=ppt/tags/tag65.xml><?xml version="1.0" encoding="utf-8"?>
<p:tagLst xmlns:p="http://schemas.openxmlformats.org/presentationml/2006/main">
  <p:tag name="KSO_WM_BEAUTIFY_FLAG" val=""/>
</p:tagLst>
</file>

<file path=ppt/tags/tag66.xml><?xml version="1.0" encoding="utf-8"?>
<p:tagLst xmlns:p="http://schemas.openxmlformats.org/presentationml/2006/main">
  <p:tag name="KSO_WM_BEAUTIFY_FLAG" val=""/>
</p:tagLst>
</file>

<file path=ppt/tags/tag67.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68.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9.xml><?xml version="1.0" encoding="utf-8"?>
<p:tagLst xmlns:p="http://schemas.openxmlformats.org/presentationml/2006/main">
  <p:tag name="KSO_WM_BEAUTIFY_FLAG" val=""/>
</p:tagLst>
</file>

<file path=ppt/tags/tag70.xml><?xml version="1.0" encoding="utf-8"?>
<p:tagLst xmlns:p="http://schemas.openxmlformats.org/presentationml/2006/main">
  <p:tag name="KSO_WM_BEAUTIFY_FLAG" val=""/>
</p:tagLst>
</file>

<file path=ppt/tags/tag71.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72.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73.xml><?xml version="1.0" encoding="utf-8"?>
<p:tagLst xmlns:p="http://schemas.openxmlformats.org/presentationml/2006/main">
  <p:tag name="KSO_WM_BEAUTIFY_FLAG" val=""/>
</p:tagLst>
</file>

<file path=ppt/tags/tag74.xml><?xml version="1.0" encoding="utf-8"?>
<p:tagLst xmlns:p="http://schemas.openxmlformats.org/presentationml/2006/main">
  <p:tag name="COMMONDATA" val="eyJoZGlkIjoiZTNiMmJjMGUyMDNhMGI0MjllZTc4OTE3ODRjOTBjMWQifQ=="/>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3394</Words>
  <Application>WPS 演示</Application>
  <PresentationFormat>自定义</PresentationFormat>
  <Paragraphs>178</Paragraphs>
  <Slides>26</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26</vt:i4>
      </vt:variant>
    </vt:vector>
  </HeadingPairs>
  <TitlesOfParts>
    <vt:vector size="35" baseType="lpstr">
      <vt:lpstr>Arial</vt:lpstr>
      <vt:lpstr>宋体</vt:lpstr>
      <vt:lpstr>Wingdings</vt:lpstr>
      <vt:lpstr>微软雅黑</vt:lpstr>
      <vt:lpstr>Times New Roman</vt:lpstr>
      <vt:lpstr>Arial Unicode MS</vt:lpstr>
      <vt:lpstr>Calibri</vt:lpstr>
      <vt:lpstr>Cambria Math</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蓝色简约商业计划书演示文稿</dc:title>
  <dc:creator>唐玉婵</dc:creator>
  <cp:lastModifiedBy>是她</cp:lastModifiedBy>
  <cp:revision>49</cp:revision>
  <dcterms:created xsi:type="dcterms:W3CDTF">2006-08-16T00:00:00Z</dcterms:created>
  <dcterms:modified xsi:type="dcterms:W3CDTF">2026-07-02T13:59:49Z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A1735CF52F6D4D80BA44C61B7048A70D_12</vt:lpwstr>
  </property>
  <property fmtid="{D5CDD505-2E9C-101B-9397-08002B2CF9AE}" pid="3" name="KSOProductBuildVer">
    <vt:lpwstr>2052-12.1.0.26895</vt:lpwstr>
  </property>
</Properties>
</file>