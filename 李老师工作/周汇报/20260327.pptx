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media/image10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2.svg" ContentType="image/svg+xml"/>
  <Override PartName="/ppt/media/image34.svg" ContentType="image/svg+xml"/>
  <Override PartName="/ppt/media/image35.svg" ContentType="image/svg+xml"/>
  <Override PartName="/ppt/media/image36.svg" ContentType="image/svg+xml"/>
  <Override PartName="/ppt/media/image37.svg" ContentType="image/svg+xml"/>
  <Override PartName="/ppt/media/image38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media/image82.svg" ContentType="image/svg+xml"/>
  <Override PartName="/ppt/media/image83.svg" ContentType="image/svg+xml"/>
  <Override PartName="/ppt/media/image84.svg" ContentType="image/svg+xml"/>
  <Override PartName="/ppt/media/image85.svg" ContentType="image/svg+xml"/>
  <Override PartName="/ppt/media/image86.svg" ContentType="image/svg+xml"/>
  <Override PartName="/ppt/media/image8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4"/>
  </p:notesMasterIdLst>
  <p:sldIdLst>
    <p:sldId id="307" r:id="rId3"/>
    <p:sldId id="291" r:id="rId4"/>
    <p:sldId id="326" r:id="rId5"/>
    <p:sldId id="327" r:id="rId6"/>
    <p:sldId id="325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28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16" r:id="rId32"/>
    <p:sldId id="317" r:id="rId33"/>
    <p:sldId id="318" r:id="rId34"/>
    <p:sldId id="319" r:id="rId35"/>
    <p:sldId id="320" r:id="rId36"/>
    <p:sldId id="321" r:id="rId37"/>
    <p:sldId id="322" r:id="rId38"/>
    <p:sldId id="323" r:id="rId39"/>
    <p:sldId id="324" r:id="rId40"/>
    <p:sldId id="329" r:id="rId41"/>
    <p:sldId id="290" r:id="rId42"/>
    <p:sldId id="289" r:id="rId43"/>
  </p:sldIdLst>
  <p:sldSz cx="18288000" cy="10287000"/>
  <p:notesSz cx="6858000" cy="9144000"/>
  <p:embeddedFontLst>
    <p:embeddedFont>
      <p:font typeface="微软雅黑" panose="020B0503020204020204" charset="-122"/>
      <p:regular r:id="rId48"/>
    </p:embeddedFont>
    <p:embeddedFont>
      <p:font typeface="Calibri" panose="020F0502020204030204" charset="0"/>
      <p:regular r:id="rId49"/>
      <p:bold r:id="rId50"/>
      <p:italic r:id="rId51"/>
      <p:boldItalic r:id="rId52"/>
    </p:embeddedFont>
  </p:embeddedFontLst>
  <p:custDataLst>
    <p:tags r:id="rId5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0" userDrawn="1">
          <p15:clr>
            <a:srgbClr val="A4A3A4"/>
          </p15:clr>
        </p15:guide>
        <p15:guide id="2" pos="29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A5DCDC"/>
    <a:srgbClr val="356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103" d="100"/>
          <a:sy n="103" d="100"/>
        </p:scale>
        <p:origin x="534" y="126"/>
      </p:cViewPr>
      <p:guideLst>
        <p:guide orient="horz" pos="2040"/>
        <p:guide pos="29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3" Type="http://schemas.openxmlformats.org/officeDocument/2006/relationships/tags" Target="tags/tag87.xml"/><Relationship Id="rId52" Type="http://schemas.openxmlformats.org/officeDocument/2006/relationships/font" Target="fonts/font5.fntdata"/><Relationship Id="rId51" Type="http://schemas.openxmlformats.org/officeDocument/2006/relationships/font" Target="fonts/font4.fntdata"/><Relationship Id="rId50" Type="http://schemas.openxmlformats.org/officeDocument/2006/relationships/font" Target="fonts/font3.fntdata"/><Relationship Id="rId5" Type="http://schemas.openxmlformats.org/officeDocument/2006/relationships/slide" Target="slides/slide3.xml"/><Relationship Id="rId49" Type="http://schemas.openxmlformats.org/officeDocument/2006/relationships/font" Target="fonts/font2.fntdata"/><Relationship Id="rId48" Type="http://schemas.openxmlformats.org/officeDocument/2006/relationships/font" Target="fonts/font1.fntdata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notesMaster" Target="notesMasters/notesMaster1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svg"/><Relationship Id="rId8" Type="http://schemas.openxmlformats.org/officeDocument/2006/relationships/image" Target="../media/image7.png"/><Relationship Id="rId7" Type="http://schemas.openxmlformats.org/officeDocument/2006/relationships/image" Target="../media/image6.svg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1.png"/><Relationship Id="rId12" Type="http://schemas.openxmlformats.org/officeDocument/2006/relationships/tags" Target="../tags/tag2.xml"/><Relationship Id="rId11" Type="http://schemas.openxmlformats.org/officeDocument/2006/relationships/image" Target="../media/image10.svg"/><Relationship Id="rId10" Type="http://schemas.openxmlformats.org/officeDocument/2006/relationships/image" Target="../media/image9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.xml"/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svg"/><Relationship Id="rId8" Type="http://schemas.openxmlformats.org/officeDocument/2006/relationships/image" Target="../media/image7.png"/><Relationship Id="rId7" Type="http://schemas.openxmlformats.org/officeDocument/2006/relationships/image" Target="../media/image16.svg"/><Relationship Id="rId6" Type="http://schemas.openxmlformats.org/officeDocument/2006/relationships/image" Target="../media/image5.png"/><Relationship Id="rId5" Type="http://schemas.openxmlformats.org/officeDocument/2006/relationships/image" Target="../media/image15.svg"/><Relationship Id="rId4" Type="http://schemas.openxmlformats.org/officeDocument/2006/relationships/image" Target="../media/image3.png"/><Relationship Id="rId3" Type="http://schemas.openxmlformats.org/officeDocument/2006/relationships/image" Target="../media/image14.svg"/><Relationship Id="rId2" Type="http://schemas.openxmlformats.org/officeDocument/2006/relationships/image" Target="../media/image1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1.png"/><Relationship Id="rId12" Type="http://schemas.openxmlformats.org/officeDocument/2006/relationships/tags" Target="../tags/tag8.xml"/><Relationship Id="rId11" Type="http://schemas.openxmlformats.org/officeDocument/2006/relationships/image" Target="../media/image18.svg"/><Relationship Id="rId10" Type="http://schemas.openxmlformats.org/officeDocument/2006/relationships/image" Target="../media/image9.png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0.xml"/><Relationship Id="rId4" Type="http://schemas.openxmlformats.org/officeDocument/2006/relationships/image" Target="../media/image11.png"/><Relationship Id="rId3" Type="http://schemas.openxmlformats.org/officeDocument/2006/relationships/tags" Target="../tags/tag9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12.xml"/><Relationship Id="rId5" Type="http://schemas.openxmlformats.org/officeDocument/2006/relationships/image" Target="../media/image11.png"/><Relationship Id="rId4" Type="http://schemas.openxmlformats.org/officeDocument/2006/relationships/tags" Target="../tags/tag11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4.xml"/><Relationship Id="rId4" Type="http://schemas.openxmlformats.org/officeDocument/2006/relationships/image" Target="../media/image11.png"/><Relationship Id="rId3" Type="http://schemas.openxmlformats.org/officeDocument/2006/relationships/tags" Target="../tags/tag13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6.xml"/><Relationship Id="rId4" Type="http://schemas.openxmlformats.org/officeDocument/2006/relationships/image" Target="../media/image11.png"/><Relationship Id="rId3" Type="http://schemas.openxmlformats.org/officeDocument/2006/relationships/tags" Target="../tags/tag15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8.xml"/><Relationship Id="rId3" Type="http://schemas.openxmlformats.org/officeDocument/2006/relationships/image" Target="../media/image11.png"/><Relationship Id="rId2" Type="http://schemas.openxmlformats.org/officeDocument/2006/relationships/tags" Target="../tags/tag17.xml"/><Relationship Id="rId1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20.xml"/><Relationship Id="rId3" Type="http://schemas.openxmlformats.org/officeDocument/2006/relationships/image" Target="../media/image11.png"/><Relationship Id="rId2" Type="http://schemas.openxmlformats.org/officeDocument/2006/relationships/tags" Target="../tags/tag19.xml"/><Relationship Id="rId1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22.xml"/><Relationship Id="rId4" Type="http://schemas.openxmlformats.org/officeDocument/2006/relationships/image" Target="../media/image11.png"/><Relationship Id="rId3" Type="http://schemas.openxmlformats.org/officeDocument/2006/relationships/tags" Target="../tags/tag21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24.xml"/><Relationship Id="rId3" Type="http://schemas.openxmlformats.org/officeDocument/2006/relationships/image" Target="../media/image11.png"/><Relationship Id="rId2" Type="http://schemas.openxmlformats.org/officeDocument/2006/relationships/tags" Target="../tags/tag23.xml"/><Relationship Id="rId1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26.xml"/><Relationship Id="rId3" Type="http://schemas.openxmlformats.org/officeDocument/2006/relationships/image" Target="../media/image11.png"/><Relationship Id="rId2" Type="http://schemas.openxmlformats.org/officeDocument/2006/relationships/tags" Target="../tags/tag25.xml"/><Relationship Id="rId1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svg"/><Relationship Id="rId8" Type="http://schemas.openxmlformats.org/officeDocument/2006/relationships/image" Target="../media/image7.png"/><Relationship Id="rId7" Type="http://schemas.openxmlformats.org/officeDocument/2006/relationships/image" Target="../media/image36.svg"/><Relationship Id="rId6" Type="http://schemas.openxmlformats.org/officeDocument/2006/relationships/image" Target="../media/image5.png"/><Relationship Id="rId5" Type="http://schemas.openxmlformats.org/officeDocument/2006/relationships/image" Target="../media/image35.svg"/><Relationship Id="rId4" Type="http://schemas.openxmlformats.org/officeDocument/2006/relationships/image" Target="../media/image3.png"/><Relationship Id="rId3" Type="http://schemas.openxmlformats.org/officeDocument/2006/relationships/image" Target="../media/image34.svg"/><Relationship Id="rId2" Type="http://schemas.openxmlformats.org/officeDocument/2006/relationships/image" Target="../media/image1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1.png"/><Relationship Id="rId12" Type="http://schemas.openxmlformats.org/officeDocument/2006/relationships/tags" Target="../tags/tag28.xml"/><Relationship Id="rId11" Type="http://schemas.openxmlformats.org/officeDocument/2006/relationships/image" Target="../media/image38.svg"/><Relationship Id="rId10" Type="http://schemas.openxmlformats.org/officeDocument/2006/relationships/image" Target="../media/image9.png"/><Relationship Id="rId1" Type="http://schemas.openxmlformats.org/officeDocument/2006/relationships/tags" Target="../tags/tag27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30.xml"/><Relationship Id="rId4" Type="http://schemas.openxmlformats.org/officeDocument/2006/relationships/image" Target="../media/image11.png"/><Relationship Id="rId3" Type="http://schemas.openxmlformats.org/officeDocument/2006/relationships/tags" Target="../tags/tag29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32.xml"/><Relationship Id="rId3" Type="http://schemas.openxmlformats.org/officeDocument/2006/relationships/image" Target="../media/image11.png"/><Relationship Id="rId2" Type="http://schemas.openxmlformats.org/officeDocument/2006/relationships/tags" Target="../tags/tag31.xml"/><Relationship Id="rId1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34.xml"/><Relationship Id="rId4" Type="http://schemas.openxmlformats.org/officeDocument/2006/relationships/image" Target="../media/image11.png"/><Relationship Id="rId3" Type="http://schemas.openxmlformats.org/officeDocument/2006/relationships/tags" Target="../tags/tag33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36.xml"/><Relationship Id="rId3" Type="http://schemas.openxmlformats.org/officeDocument/2006/relationships/image" Target="../media/image11.png"/><Relationship Id="rId2" Type="http://schemas.openxmlformats.org/officeDocument/2006/relationships/tags" Target="../tags/tag35.xml"/><Relationship Id="rId1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38.xml"/><Relationship Id="rId3" Type="http://schemas.openxmlformats.org/officeDocument/2006/relationships/image" Target="../media/image11.png"/><Relationship Id="rId2" Type="http://schemas.openxmlformats.org/officeDocument/2006/relationships/tags" Target="../tags/tag37.xml"/><Relationship Id="rId1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40.xml"/><Relationship Id="rId3" Type="http://schemas.openxmlformats.org/officeDocument/2006/relationships/image" Target="../media/image11.png"/><Relationship Id="rId2" Type="http://schemas.openxmlformats.org/officeDocument/2006/relationships/tags" Target="../tags/tag39.xml"/><Relationship Id="rId1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42.xml"/><Relationship Id="rId3" Type="http://schemas.openxmlformats.org/officeDocument/2006/relationships/image" Target="../media/image11.png"/><Relationship Id="rId2" Type="http://schemas.openxmlformats.org/officeDocument/2006/relationships/tags" Target="../tags/tag41.xml"/><Relationship Id="rId1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44.xml"/><Relationship Id="rId3" Type="http://schemas.openxmlformats.org/officeDocument/2006/relationships/image" Target="../media/image11.png"/><Relationship Id="rId2" Type="http://schemas.openxmlformats.org/officeDocument/2006/relationships/tags" Target="../tags/tag43.xml"/><Relationship Id="rId1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46.xml"/><Relationship Id="rId6" Type="http://schemas.openxmlformats.org/officeDocument/2006/relationships/image" Target="../media/image11.png"/><Relationship Id="rId5" Type="http://schemas.openxmlformats.org/officeDocument/2006/relationships/tags" Target="../tags/tag45.xml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48.xml"/><Relationship Id="rId4" Type="http://schemas.openxmlformats.org/officeDocument/2006/relationships/image" Target="../media/image11.png"/><Relationship Id="rId3" Type="http://schemas.openxmlformats.org/officeDocument/2006/relationships/tags" Target="../tags/tag47.xml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50.xml"/><Relationship Id="rId4" Type="http://schemas.openxmlformats.org/officeDocument/2006/relationships/image" Target="../media/image11.png"/><Relationship Id="rId3" Type="http://schemas.openxmlformats.org/officeDocument/2006/relationships/tags" Target="../tags/tag49.xml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52.xml"/><Relationship Id="rId3" Type="http://schemas.openxmlformats.org/officeDocument/2006/relationships/image" Target="../media/image11.png"/><Relationship Id="rId2" Type="http://schemas.openxmlformats.org/officeDocument/2006/relationships/tags" Target="../tags/tag51.xml"/><Relationship Id="rId1" Type="http://schemas.openxmlformats.org/officeDocument/2006/relationships/image" Target="../media/image57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54.xml"/><Relationship Id="rId4" Type="http://schemas.openxmlformats.org/officeDocument/2006/relationships/image" Target="../media/image11.png"/><Relationship Id="rId3" Type="http://schemas.openxmlformats.org/officeDocument/2006/relationships/tags" Target="../tags/tag53.xml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image" Target="../media/image11.png"/><Relationship Id="rId7" Type="http://schemas.openxmlformats.org/officeDocument/2006/relationships/tags" Target="../tags/tag55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60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58.xml"/><Relationship Id="rId7" Type="http://schemas.openxmlformats.org/officeDocument/2006/relationships/image" Target="../media/image11.png"/><Relationship Id="rId6" Type="http://schemas.openxmlformats.org/officeDocument/2006/relationships/tags" Target="../tags/tag57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0.xml"/><Relationship Id="rId3" Type="http://schemas.openxmlformats.org/officeDocument/2006/relationships/image" Target="../media/image11.png"/><Relationship Id="rId2" Type="http://schemas.openxmlformats.org/officeDocument/2006/relationships/tags" Target="../tags/tag59.xml"/><Relationship Id="rId1" Type="http://schemas.openxmlformats.org/officeDocument/2006/relationships/image" Target="../media/image71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2.xml"/><Relationship Id="rId3" Type="http://schemas.openxmlformats.org/officeDocument/2006/relationships/image" Target="../media/image11.png"/><Relationship Id="rId2" Type="http://schemas.openxmlformats.org/officeDocument/2006/relationships/tags" Target="../tags/tag61.xml"/><Relationship Id="rId1" Type="http://schemas.openxmlformats.org/officeDocument/2006/relationships/image" Target="../media/image72.pn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4.xml"/><Relationship Id="rId4" Type="http://schemas.openxmlformats.org/officeDocument/2006/relationships/image" Target="../media/image11.png"/><Relationship Id="rId3" Type="http://schemas.openxmlformats.org/officeDocument/2006/relationships/tags" Target="../tags/tag63.xml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6.xml"/><Relationship Id="rId3" Type="http://schemas.openxmlformats.org/officeDocument/2006/relationships/image" Target="../media/image11.png"/><Relationship Id="rId2" Type="http://schemas.openxmlformats.org/officeDocument/2006/relationships/tags" Target="../tags/tag65.xml"/><Relationship Id="rId1" Type="http://schemas.openxmlformats.org/officeDocument/2006/relationships/image" Target="../media/image57.png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8.xml"/><Relationship Id="rId5" Type="http://schemas.openxmlformats.org/officeDocument/2006/relationships/image" Target="../media/image11.png"/><Relationship Id="rId4" Type="http://schemas.openxmlformats.org/officeDocument/2006/relationships/tags" Target="../tags/tag67.xml"/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0.xml"/><Relationship Id="rId3" Type="http://schemas.openxmlformats.org/officeDocument/2006/relationships/image" Target="../media/image11.png"/><Relationship Id="rId2" Type="http://schemas.openxmlformats.org/officeDocument/2006/relationships/tags" Target="../tags/tag69.xml"/><Relationship Id="rId1" Type="http://schemas.openxmlformats.org/officeDocument/2006/relationships/image" Target="../media/image78.pn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2.xml"/><Relationship Id="rId3" Type="http://schemas.openxmlformats.org/officeDocument/2006/relationships/image" Target="../media/image11.png"/><Relationship Id="rId2" Type="http://schemas.openxmlformats.org/officeDocument/2006/relationships/tags" Target="../tags/tag71.xml"/><Relationship Id="rId1" Type="http://schemas.openxmlformats.org/officeDocument/2006/relationships/image" Target="../media/image79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4.xml"/><Relationship Id="rId3" Type="http://schemas.openxmlformats.org/officeDocument/2006/relationships/image" Target="../media/image11.png"/><Relationship Id="rId2" Type="http://schemas.openxmlformats.org/officeDocument/2006/relationships/tags" Target="../tags/tag73.xml"/><Relationship Id="rId1" Type="http://schemas.openxmlformats.org/officeDocument/2006/relationships/image" Target="../media/image80.png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6.xml"/><Relationship Id="rId3" Type="http://schemas.openxmlformats.org/officeDocument/2006/relationships/image" Target="../media/image11.png"/><Relationship Id="rId2" Type="http://schemas.openxmlformats.org/officeDocument/2006/relationships/tags" Target="../tags/tag75.xml"/><Relationship Id="rId1" Type="http://schemas.openxmlformats.org/officeDocument/2006/relationships/image" Target="../media/image81.png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image" Target="../media/image85.svg"/><Relationship Id="rId8" Type="http://schemas.openxmlformats.org/officeDocument/2006/relationships/image" Target="../media/image7.png"/><Relationship Id="rId7" Type="http://schemas.openxmlformats.org/officeDocument/2006/relationships/image" Target="../media/image84.svg"/><Relationship Id="rId6" Type="http://schemas.openxmlformats.org/officeDocument/2006/relationships/image" Target="../media/image5.png"/><Relationship Id="rId5" Type="http://schemas.openxmlformats.org/officeDocument/2006/relationships/image" Target="../media/image83.svg"/><Relationship Id="rId4" Type="http://schemas.openxmlformats.org/officeDocument/2006/relationships/image" Target="../media/image3.png"/><Relationship Id="rId3" Type="http://schemas.openxmlformats.org/officeDocument/2006/relationships/image" Target="../media/image82.svg"/><Relationship Id="rId2" Type="http://schemas.openxmlformats.org/officeDocument/2006/relationships/image" Target="../media/image1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1.png"/><Relationship Id="rId12" Type="http://schemas.openxmlformats.org/officeDocument/2006/relationships/tags" Target="../tags/tag78.xml"/><Relationship Id="rId11" Type="http://schemas.openxmlformats.org/officeDocument/2006/relationships/image" Target="../media/image86.svg"/><Relationship Id="rId10" Type="http://schemas.openxmlformats.org/officeDocument/2006/relationships/image" Target="../media/image9.png"/><Relationship Id="rId1" Type="http://schemas.openxmlformats.org/officeDocument/2006/relationships/tags" Target="../tags/tag77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1.png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image" Target="../media/image88.svg"/><Relationship Id="rId1" Type="http://schemas.openxmlformats.org/officeDocument/2006/relationships/image" Target="../media/image87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1.png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image" Target="../media/image88.svg"/><Relationship Id="rId1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Freeform 35"/>
          <p:cNvSpPr/>
          <p:nvPr>
            <p:custDataLst>
              <p:tags r:id="rId1"/>
            </p:custDataLst>
          </p:nvPr>
        </p:nvSpPr>
        <p:spPr>
          <a:xfrm>
            <a:off x="0" y="1"/>
            <a:ext cx="3624132" cy="2858674"/>
          </a:xfrm>
          <a:custGeom>
            <a:avLst/>
            <a:gdLst/>
            <a:ahLst/>
            <a:cxnLst/>
            <a:rect l="l" t="t" r="r" b="b"/>
            <a:pathLst>
              <a:path w="3624132" h="2858674">
                <a:moveTo>
                  <a:pt x="0" y="0"/>
                </a:moveTo>
                <a:lnTo>
                  <a:pt x="3624132" y="0"/>
                </a:lnTo>
                <a:lnTo>
                  <a:pt x="3624132" y="2858675"/>
                </a:lnTo>
                <a:lnTo>
                  <a:pt x="0" y="2858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" name="Group 2"/>
          <p:cNvGrpSpPr/>
          <p:nvPr/>
        </p:nvGrpSpPr>
        <p:grpSpPr>
          <a:xfrm>
            <a:off x="13120137" y="4702694"/>
            <a:ext cx="881613" cy="881613"/>
            <a:chOff x="0" y="0"/>
            <a:chExt cx="1175484" cy="11754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5512" cy="1175512"/>
            </a:xfrm>
            <a:custGeom>
              <a:avLst/>
              <a:gdLst/>
              <a:ahLst/>
              <a:cxnLst/>
              <a:rect l="l" t="t" r="r" b="b"/>
              <a:pathLst>
                <a:path w="1175512" h="1175512">
                  <a:moveTo>
                    <a:pt x="0" y="587756"/>
                  </a:moveTo>
                  <a:cubicBezTo>
                    <a:pt x="0" y="263144"/>
                    <a:pt x="263144" y="0"/>
                    <a:pt x="587756" y="0"/>
                  </a:cubicBezTo>
                  <a:cubicBezTo>
                    <a:pt x="912368" y="0"/>
                    <a:pt x="1175512" y="263144"/>
                    <a:pt x="1175512" y="587756"/>
                  </a:cubicBezTo>
                  <a:cubicBezTo>
                    <a:pt x="1175512" y="912368"/>
                    <a:pt x="912368" y="1175512"/>
                    <a:pt x="587756" y="1175512"/>
                  </a:cubicBezTo>
                  <a:cubicBezTo>
                    <a:pt x="263144" y="1175512"/>
                    <a:pt x="0" y="912368"/>
                    <a:pt x="0" y="5877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0" y="7739793"/>
            <a:ext cx="4166946" cy="2547208"/>
          </a:xfrm>
          <a:custGeom>
            <a:avLst/>
            <a:gdLst/>
            <a:ahLst/>
            <a:cxnLst/>
            <a:rect l="l" t="t" r="r" b="b"/>
            <a:pathLst>
              <a:path w="4166946" h="2547208">
                <a:moveTo>
                  <a:pt x="0" y="0"/>
                </a:moveTo>
                <a:lnTo>
                  <a:pt x="4166946" y="0"/>
                </a:lnTo>
                <a:lnTo>
                  <a:pt x="4166946" y="2547208"/>
                </a:lnTo>
                <a:lnTo>
                  <a:pt x="0" y="25472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351812" y="7673386"/>
            <a:ext cx="2936188" cy="2613614"/>
          </a:xfrm>
          <a:custGeom>
            <a:avLst/>
            <a:gdLst/>
            <a:ahLst/>
            <a:cxnLst/>
            <a:rect l="l" t="t" r="r" b="b"/>
            <a:pathLst>
              <a:path w="2936188" h="2613614">
                <a:moveTo>
                  <a:pt x="0" y="0"/>
                </a:moveTo>
                <a:lnTo>
                  <a:pt x="2936188" y="0"/>
                </a:lnTo>
                <a:lnTo>
                  <a:pt x="2936188" y="2613614"/>
                </a:lnTo>
                <a:lnTo>
                  <a:pt x="0" y="26136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806348" y="-9525"/>
            <a:ext cx="3491176" cy="2688062"/>
          </a:xfrm>
          <a:custGeom>
            <a:avLst/>
            <a:gdLst/>
            <a:ahLst/>
            <a:cxnLst/>
            <a:rect l="l" t="t" r="r" b="b"/>
            <a:pathLst>
              <a:path w="3491176" h="2688062">
                <a:moveTo>
                  <a:pt x="0" y="0"/>
                </a:moveTo>
                <a:lnTo>
                  <a:pt x="3491177" y="0"/>
                </a:lnTo>
                <a:lnTo>
                  <a:pt x="3491177" y="2688062"/>
                </a:lnTo>
                <a:lnTo>
                  <a:pt x="0" y="26880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4881124" y="492074"/>
            <a:ext cx="663678" cy="663678"/>
            <a:chOff x="0" y="0"/>
            <a:chExt cx="884904" cy="8849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84936" cy="884936"/>
            </a:xfrm>
            <a:custGeom>
              <a:avLst/>
              <a:gdLst/>
              <a:ahLst/>
              <a:cxnLst/>
              <a:rect l="l" t="t" r="r" b="b"/>
              <a:pathLst>
                <a:path w="884936" h="884936">
                  <a:moveTo>
                    <a:pt x="0" y="442468"/>
                  </a:moveTo>
                  <a:cubicBezTo>
                    <a:pt x="0" y="198120"/>
                    <a:pt x="198120" y="0"/>
                    <a:pt x="442468" y="0"/>
                  </a:cubicBezTo>
                  <a:cubicBezTo>
                    <a:pt x="686816" y="0"/>
                    <a:pt x="884936" y="198120"/>
                    <a:pt x="884936" y="442468"/>
                  </a:cubicBezTo>
                  <a:cubicBezTo>
                    <a:pt x="884936" y="686816"/>
                    <a:pt x="686816" y="884936"/>
                    <a:pt x="442468" y="884936"/>
                  </a:cubicBezTo>
                  <a:cubicBezTo>
                    <a:pt x="198120" y="884936"/>
                    <a:pt x="0" y="686816"/>
                    <a:pt x="0" y="442468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563274" y="9463088"/>
            <a:ext cx="1713174" cy="762255"/>
          </a:xfrm>
          <a:custGeom>
            <a:avLst/>
            <a:gdLst/>
            <a:ahLst/>
            <a:cxnLst/>
            <a:rect l="l" t="t" r="r" b="b"/>
            <a:pathLst>
              <a:path w="1713174" h="762255">
                <a:moveTo>
                  <a:pt x="0" y="0"/>
                </a:moveTo>
                <a:lnTo>
                  <a:pt x="1713174" y="0"/>
                </a:lnTo>
                <a:lnTo>
                  <a:pt x="1713174" y="762254"/>
                </a:lnTo>
                <a:lnTo>
                  <a:pt x="0" y="7622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05915" y="3362960"/>
            <a:ext cx="14561820" cy="36931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altLang="zh-CN" sz="12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Efficient Training</a:t>
            </a:r>
            <a:endParaRPr lang="en-US" altLang="zh-CN" sz="12000">
              <a:solidFill>
                <a:srgbClr val="356A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ts val="14400"/>
              </a:lnSpc>
            </a:pPr>
            <a:r>
              <a:rPr lang="zh-CN" altLang="en-US" sz="12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论文</a:t>
            </a:r>
            <a:r>
              <a:rPr lang="zh-CN" altLang="en-US" sz="12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总结</a:t>
            </a:r>
            <a:endParaRPr lang="zh-CN" altLang="en-US" sz="12000">
              <a:solidFill>
                <a:srgbClr val="356A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7352170" y="2226470"/>
            <a:ext cx="439840" cy="439840"/>
            <a:chOff x="0" y="0"/>
            <a:chExt cx="586454" cy="58645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86486" cy="586486"/>
            </a:xfrm>
            <a:custGeom>
              <a:avLst/>
              <a:gdLst/>
              <a:ahLst/>
              <a:cxnLst/>
              <a:rect l="l" t="t" r="r" b="b"/>
              <a:pathLst>
                <a:path w="586486" h="586486">
                  <a:moveTo>
                    <a:pt x="0" y="293243"/>
                  </a:moveTo>
                  <a:cubicBezTo>
                    <a:pt x="0" y="131318"/>
                    <a:pt x="131318" y="0"/>
                    <a:pt x="293243" y="0"/>
                  </a:cubicBezTo>
                  <a:cubicBezTo>
                    <a:pt x="455168" y="0"/>
                    <a:pt x="586486" y="131318"/>
                    <a:pt x="586486" y="293243"/>
                  </a:cubicBezTo>
                  <a:cubicBezTo>
                    <a:pt x="586486" y="455168"/>
                    <a:pt x="455168" y="586486"/>
                    <a:pt x="293243" y="586486"/>
                  </a:cubicBezTo>
                  <a:cubicBezTo>
                    <a:pt x="131318" y="586486"/>
                    <a:pt x="0" y="455168"/>
                    <a:pt x="0" y="293243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5597742" y="8893346"/>
            <a:ext cx="569742" cy="569742"/>
            <a:chOff x="0" y="0"/>
            <a:chExt cx="759656" cy="75965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59714" cy="759714"/>
            </a:xfrm>
            <a:custGeom>
              <a:avLst/>
              <a:gdLst/>
              <a:ahLst/>
              <a:cxnLst/>
              <a:rect l="l" t="t" r="r" b="b"/>
              <a:pathLst>
                <a:path w="759714" h="759714">
                  <a:moveTo>
                    <a:pt x="0" y="379857"/>
                  </a:moveTo>
                  <a:cubicBezTo>
                    <a:pt x="0" y="170053"/>
                    <a:pt x="170053" y="0"/>
                    <a:pt x="379857" y="0"/>
                  </a:cubicBezTo>
                  <a:cubicBezTo>
                    <a:pt x="589661" y="0"/>
                    <a:pt x="759714" y="170053"/>
                    <a:pt x="759714" y="379857"/>
                  </a:cubicBezTo>
                  <a:cubicBezTo>
                    <a:pt x="759714" y="589661"/>
                    <a:pt x="589661" y="759714"/>
                    <a:pt x="379857" y="759714"/>
                  </a:cubicBezTo>
                  <a:cubicBezTo>
                    <a:pt x="170053" y="759714"/>
                    <a:pt x="0" y="589661"/>
                    <a:pt x="0" y="379857"/>
                  </a:cubicBezTo>
                  <a:close/>
                  <a:moveTo>
                    <a:pt x="189865" y="379857"/>
                  </a:moveTo>
                  <a:cubicBezTo>
                    <a:pt x="189865" y="484759"/>
                    <a:pt x="274955" y="569722"/>
                    <a:pt x="379730" y="569722"/>
                  </a:cubicBezTo>
                  <a:cubicBezTo>
                    <a:pt x="484505" y="569722"/>
                    <a:pt x="569595" y="484632"/>
                    <a:pt x="569595" y="379857"/>
                  </a:cubicBezTo>
                  <a:cubicBezTo>
                    <a:pt x="569595" y="275082"/>
                    <a:pt x="484505" y="189992"/>
                    <a:pt x="379730" y="189992"/>
                  </a:cubicBezTo>
                  <a:cubicBezTo>
                    <a:pt x="274955" y="189992"/>
                    <a:pt x="189865" y="275082"/>
                    <a:pt x="189865" y="379857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492919" y="7834312"/>
            <a:ext cx="885825" cy="885825"/>
            <a:chOff x="0" y="0"/>
            <a:chExt cx="1181100" cy="11811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81100" cy="1181100"/>
            </a:xfrm>
            <a:custGeom>
              <a:avLst/>
              <a:gdLst/>
              <a:ahLst/>
              <a:cxnLst/>
              <a:rect l="l" t="t" r="r" b="b"/>
              <a:pathLst>
                <a:path w="1181100" h="1181100">
                  <a:moveTo>
                    <a:pt x="1181100" y="590550"/>
                  </a:moveTo>
                  <a:cubicBezTo>
                    <a:pt x="1181100" y="264414"/>
                    <a:pt x="916686" y="0"/>
                    <a:pt x="590550" y="0"/>
                  </a:cubicBezTo>
                  <a:cubicBezTo>
                    <a:pt x="264414" y="0"/>
                    <a:pt x="0" y="264414"/>
                    <a:pt x="0" y="590550"/>
                  </a:cubicBezTo>
                  <a:cubicBezTo>
                    <a:pt x="0" y="916686"/>
                    <a:pt x="264414" y="1181100"/>
                    <a:pt x="590550" y="1181100"/>
                  </a:cubicBezTo>
                  <a:cubicBezTo>
                    <a:pt x="916686" y="1181100"/>
                    <a:pt x="1181100" y="916686"/>
                    <a:pt x="1181100" y="590550"/>
                  </a:cubicBezTo>
                  <a:close/>
                </a:path>
              </a:pathLst>
            </a:custGeom>
            <a:solidFill>
              <a:srgbClr val="2C57D4"/>
            </a:solidFill>
          </p:spPr>
        </p:sp>
      </p:grpSp>
      <p:sp>
        <p:nvSpPr>
          <p:cNvPr id="190" name="Freeform 30"/>
          <p:cNvSpPr/>
          <p:nvPr>
            <p:custDataLst>
              <p:tags r:id="rId12"/>
            </p:custDataLst>
          </p:nvPr>
        </p:nvSpPr>
        <p:spPr>
          <a:xfrm>
            <a:off x="304888" y="24906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Summary</a:t>
            </a:r>
            <a:endParaRPr lang="en-US" altLang="zh-CN" sz="3600" b="1"/>
          </a:p>
        </p:txBody>
      </p:sp>
      <p:sp>
        <p:nvSpPr>
          <p:cNvPr id="190" name="Freeform 30"/>
          <p:cNvSpPr/>
          <p:nvPr>
            <p:custDataLst>
              <p:tags r:id="rId1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171700"/>
            <a:ext cx="12179935" cy="555117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12496800" y="4381500"/>
            <a:ext cx="52165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3000"/>
              <a:t>1. </a:t>
            </a:r>
            <a:r>
              <a:rPr lang="zh-CN" altLang="en-US" sz="3000"/>
              <a:t>灾难性遗忘</a:t>
            </a:r>
            <a:r>
              <a:rPr lang="zh-CN" altLang="en-US" sz="3000"/>
              <a:t>问题</a:t>
            </a:r>
            <a:endParaRPr lang="zh-CN" altLang="en-US" sz="3000"/>
          </a:p>
          <a:p>
            <a:pPr indent="0" fontAlgn="auto">
              <a:lnSpc>
                <a:spcPct val="150000"/>
              </a:lnSpc>
            </a:pPr>
            <a:r>
              <a:rPr lang="en-US" altLang="zh-CN" sz="3000"/>
              <a:t>2. </a:t>
            </a:r>
            <a:r>
              <a:rPr lang="en-US" altLang="zh-CN" sz="3000"/>
              <a:t>inner loop efficient training</a:t>
            </a:r>
            <a:endParaRPr lang="en-US" altLang="zh-CN" sz="3000"/>
          </a:p>
        </p:txBody>
      </p:sp>
      <p:sp>
        <p:nvSpPr>
          <p:cNvPr id="24" name="文本框 23"/>
          <p:cNvSpPr txBox="1"/>
          <p:nvPr/>
        </p:nvSpPr>
        <p:spPr>
          <a:xfrm>
            <a:off x="1371600" y="8496300"/>
            <a:ext cx="15124430" cy="867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3000"/>
              <a:t>思路：</a:t>
            </a:r>
            <a:r>
              <a:rPr lang="en-US" altLang="zh-CN" sz="3000"/>
              <a:t>self-edit</a:t>
            </a:r>
            <a:r>
              <a:rPr lang="zh-CN" altLang="en-US" sz="3000"/>
              <a:t>中加入对于训练参数的</a:t>
            </a:r>
            <a:r>
              <a:rPr lang="en-US" altLang="zh-CN" sz="3000"/>
              <a:t>constraint</a:t>
            </a:r>
            <a:r>
              <a:rPr lang="zh-CN" altLang="en-US" sz="3000"/>
              <a:t>指令，解决遗忘以及训练效率的</a:t>
            </a:r>
            <a:r>
              <a:rPr lang="zh-CN" altLang="en-US" sz="3000"/>
              <a:t>问题</a:t>
            </a:r>
            <a:endParaRPr lang="zh-CN" altLang="en-US" sz="3000"/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Summary</a:t>
            </a:r>
            <a:endParaRPr lang="en-US" altLang="zh-CN" sz="3600" b="1"/>
          </a:p>
        </p:txBody>
      </p:sp>
      <p:sp>
        <p:nvSpPr>
          <p:cNvPr id="190" name="Freeform 30"/>
          <p:cNvSpPr/>
          <p:nvPr>
            <p:custDataLst>
              <p:tags r:id="rId1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552700"/>
            <a:ext cx="14127480" cy="551307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Freeform 35"/>
          <p:cNvSpPr/>
          <p:nvPr>
            <p:custDataLst>
              <p:tags r:id="rId1"/>
            </p:custDataLst>
          </p:nvPr>
        </p:nvSpPr>
        <p:spPr>
          <a:xfrm>
            <a:off x="0" y="1"/>
            <a:ext cx="3624132" cy="2858674"/>
          </a:xfrm>
          <a:custGeom>
            <a:avLst/>
            <a:gdLst/>
            <a:ahLst/>
            <a:cxnLst/>
            <a:rect l="l" t="t" r="r" b="b"/>
            <a:pathLst>
              <a:path w="3624132" h="2858674">
                <a:moveTo>
                  <a:pt x="0" y="0"/>
                </a:moveTo>
                <a:lnTo>
                  <a:pt x="3624132" y="0"/>
                </a:lnTo>
                <a:lnTo>
                  <a:pt x="3624132" y="2858675"/>
                </a:lnTo>
                <a:lnTo>
                  <a:pt x="0" y="2858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" name="Group 2"/>
          <p:cNvGrpSpPr/>
          <p:nvPr/>
        </p:nvGrpSpPr>
        <p:grpSpPr>
          <a:xfrm>
            <a:off x="13120137" y="4702694"/>
            <a:ext cx="881613" cy="881613"/>
            <a:chOff x="0" y="0"/>
            <a:chExt cx="1175484" cy="11754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5512" cy="1175512"/>
            </a:xfrm>
            <a:custGeom>
              <a:avLst/>
              <a:gdLst/>
              <a:ahLst/>
              <a:cxnLst/>
              <a:rect l="l" t="t" r="r" b="b"/>
              <a:pathLst>
                <a:path w="1175512" h="1175512">
                  <a:moveTo>
                    <a:pt x="0" y="587756"/>
                  </a:moveTo>
                  <a:cubicBezTo>
                    <a:pt x="0" y="263144"/>
                    <a:pt x="263144" y="0"/>
                    <a:pt x="587756" y="0"/>
                  </a:cubicBezTo>
                  <a:cubicBezTo>
                    <a:pt x="912368" y="0"/>
                    <a:pt x="1175512" y="263144"/>
                    <a:pt x="1175512" y="587756"/>
                  </a:cubicBezTo>
                  <a:cubicBezTo>
                    <a:pt x="1175512" y="912368"/>
                    <a:pt x="912368" y="1175512"/>
                    <a:pt x="587756" y="1175512"/>
                  </a:cubicBezTo>
                  <a:cubicBezTo>
                    <a:pt x="263144" y="1175512"/>
                    <a:pt x="0" y="912368"/>
                    <a:pt x="0" y="5877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0" y="7739793"/>
            <a:ext cx="4166946" cy="2547208"/>
          </a:xfrm>
          <a:custGeom>
            <a:avLst/>
            <a:gdLst/>
            <a:ahLst/>
            <a:cxnLst/>
            <a:rect l="l" t="t" r="r" b="b"/>
            <a:pathLst>
              <a:path w="4166946" h="2547208">
                <a:moveTo>
                  <a:pt x="0" y="0"/>
                </a:moveTo>
                <a:lnTo>
                  <a:pt x="4166946" y="0"/>
                </a:lnTo>
                <a:lnTo>
                  <a:pt x="4166946" y="2547208"/>
                </a:lnTo>
                <a:lnTo>
                  <a:pt x="0" y="25472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351812" y="7673386"/>
            <a:ext cx="2936188" cy="2613614"/>
          </a:xfrm>
          <a:custGeom>
            <a:avLst/>
            <a:gdLst/>
            <a:ahLst/>
            <a:cxnLst/>
            <a:rect l="l" t="t" r="r" b="b"/>
            <a:pathLst>
              <a:path w="2936188" h="2613614">
                <a:moveTo>
                  <a:pt x="0" y="0"/>
                </a:moveTo>
                <a:lnTo>
                  <a:pt x="2936188" y="0"/>
                </a:lnTo>
                <a:lnTo>
                  <a:pt x="2936188" y="2613614"/>
                </a:lnTo>
                <a:lnTo>
                  <a:pt x="0" y="26136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806348" y="-9525"/>
            <a:ext cx="3491176" cy="2688062"/>
          </a:xfrm>
          <a:custGeom>
            <a:avLst/>
            <a:gdLst/>
            <a:ahLst/>
            <a:cxnLst/>
            <a:rect l="l" t="t" r="r" b="b"/>
            <a:pathLst>
              <a:path w="3491176" h="2688062">
                <a:moveTo>
                  <a:pt x="0" y="0"/>
                </a:moveTo>
                <a:lnTo>
                  <a:pt x="3491177" y="0"/>
                </a:lnTo>
                <a:lnTo>
                  <a:pt x="3491177" y="2688062"/>
                </a:lnTo>
                <a:lnTo>
                  <a:pt x="0" y="26880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4881124" y="492074"/>
            <a:ext cx="663678" cy="663678"/>
            <a:chOff x="0" y="0"/>
            <a:chExt cx="884904" cy="8849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84936" cy="884936"/>
            </a:xfrm>
            <a:custGeom>
              <a:avLst/>
              <a:gdLst/>
              <a:ahLst/>
              <a:cxnLst/>
              <a:rect l="l" t="t" r="r" b="b"/>
              <a:pathLst>
                <a:path w="884936" h="884936">
                  <a:moveTo>
                    <a:pt x="0" y="442468"/>
                  </a:moveTo>
                  <a:cubicBezTo>
                    <a:pt x="0" y="198120"/>
                    <a:pt x="198120" y="0"/>
                    <a:pt x="442468" y="0"/>
                  </a:cubicBezTo>
                  <a:cubicBezTo>
                    <a:pt x="686816" y="0"/>
                    <a:pt x="884936" y="198120"/>
                    <a:pt x="884936" y="442468"/>
                  </a:cubicBezTo>
                  <a:cubicBezTo>
                    <a:pt x="884936" y="686816"/>
                    <a:pt x="686816" y="884936"/>
                    <a:pt x="442468" y="884936"/>
                  </a:cubicBezTo>
                  <a:cubicBezTo>
                    <a:pt x="198120" y="884936"/>
                    <a:pt x="0" y="686816"/>
                    <a:pt x="0" y="442468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563274" y="9463088"/>
            <a:ext cx="1713174" cy="762255"/>
          </a:xfrm>
          <a:custGeom>
            <a:avLst/>
            <a:gdLst/>
            <a:ahLst/>
            <a:cxnLst/>
            <a:rect l="l" t="t" r="r" b="b"/>
            <a:pathLst>
              <a:path w="1713174" h="762255">
                <a:moveTo>
                  <a:pt x="0" y="0"/>
                </a:moveTo>
                <a:lnTo>
                  <a:pt x="1713174" y="0"/>
                </a:lnTo>
                <a:lnTo>
                  <a:pt x="1713174" y="762254"/>
                </a:lnTo>
                <a:lnTo>
                  <a:pt x="0" y="7622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05915" y="3362960"/>
            <a:ext cx="14561820" cy="1846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Low-Rank Weight</a:t>
            </a:r>
            <a:endParaRPr lang="en-US" sz="12000">
              <a:solidFill>
                <a:srgbClr val="356A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7352170" y="2226470"/>
            <a:ext cx="439840" cy="439840"/>
            <a:chOff x="0" y="0"/>
            <a:chExt cx="586454" cy="58645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86486" cy="586486"/>
            </a:xfrm>
            <a:custGeom>
              <a:avLst/>
              <a:gdLst/>
              <a:ahLst/>
              <a:cxnLst/>
              <a:rect l="l" t="t" r="r" b="b"/>
              <a:pathLst>
                <a:path w="586486" h="586486">
                  <a:moveTo>
                    <a:pt x="0" y="293243"/>
                  </a:moveTo>
                  <a:cubicBezTo>
                    <a:pt x="0" y="131318"/>
                    <a:pt x="131318" y="0"/>
                    <a:pt x="293243" y="0"/>
                  </a:cubicBezTo>
                  <a:cubicBezTo>
                    <a:pt x="455168" y="0"/>
                    <a:pt x="586486" y="131318"/>
                    <a:pt x="586486" y="293243"/>
                  </a:cubicBezTo>
                  <a:cubicBezTo>
                    <a:pt x="586486" y="455168"/>
                    <a:pt x="455168" y="586486"/>
                    <a:pt x="293243" y="586486"/>
                  </a:cubicBezTo>
                  <a:cubicBezTo>
                    <a:pt x="131318" y="586486"/>
                    <a:pt x="0" y="455168"/>
                    <a:pt x="0" y="293243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5597742" y="8893346"/>
            <a:ext cx="569742" cy="569742"/>
            <a:chOff x="0" y="0"/>
            <a:chExt cx="759656" cy="75965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59714" cy="759714"/>
            </a:xfrm>
            <a:custGeom>
              <a:avLst/>
              <a:gdLst/>
              <a:ahLst/>
              <a:cxnLst/>
              <a:rect l="l" t="t" r="r" b="b"/>
              <a:pathLst>
                <a:path w="759714" h="759714">
                  <a:moveTo>
                    <a:pt x="0" y="379857"/>
                  </a:moveTo>
                  <a:cubicBezTo>
                    <a:pt x="0" y="170053"/>
                    <a:pt x="170053" y="0"/>
                    <a:pt x="379857" y="0"/>
                  </a:cubicBezTo>
                  <a:cubicBezTo>
                    <a:pt x="589661" y="0"/>
                    <a:pt x="759714" y="170053"/>
                    <a:pt x="759714" y="379857"/>
                  </a:cubicBezTo>
                  <a:cubicBezTo>
                    <a:pt x="759714" y="589661"/>
                    <a:pt x="589661" y="759714"/>
                    <a:pt x="379857" y="759714"/>
                  </a:cubicBezTo>
                  <a:cubicBezTo>
                    <a:pt x="170053" y="759714"/>
                    <a:pt x="0" y="589661"/>
                    <a:pt x="0" y="379857"/>
                  </a:cubicBezTo>
                  <a:close/>
                  <a:moveTo>
                    <a:pt x="189865" y="379857"/>
                  </a:moveTo>
                  <a:cubicBezTo>
                    <a:pt x="189865" y="484759"/>
                    <a:pt x="274955" y="569722"/>
                    <a:pt x="379730" y="569722"/>
                  </a:cubicBezTo>
                  <a:cubicBezTo>
                    <a:pt x="484505" y="569722"/>
                    <a:pt x="569595" y="484632"/>
                    <a:pt x="569595" y="379857"/>
                  </a:cubicBezTo>
                  <a:cubicBezTo>
                    <a:pt x="569595" y="275082"/>
                    <a:pt x="484505" y="189992"/>
                    <a:pt x="379730" y="189992"/>
                  </a:cubicBezTo>
                  <a:cubicBezTo>
                    <a:pt x="274955" y="189992"/>
                    <a:pt x="189865" y="275082"/>
                    <a:pt x="189865" y="379857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492919" y="7834312"/>
            <a:ext cx="885825" cy="885825"/>
            <a:chOff x="0" y="0"/>
            <a:chExt cx="1181100" cy="11811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81100" cy="1181100"/>
            </a:xfrm>
            <a:custGeom>
              <a:avLst/>
              <a:gdLst/>
              <a:ahLst/>
              <a:cxnLst/>
              <a:rect l="l" t="t" r="r" b="b"/>
              <a:pathLst>
                <a:path w="1181100" h="1181100">
                  <a:moveTo>
                    <a:pt x="1181100" y="590550"/>
                  </a:moveTo>
                  <a:cubicBezTo>
                    <a:pt x="1181100" y="264414"/>
                    <a:pt x="916686" y="0"/>
                    <a:pt x="590550" y="0"/>
                  </a:cubicBezTo>
                  <a:cubicBezTo>
                    <a:pt x="264414" y="0"/>
                    <a:pt x="0" y="264414"/>
                    <a:pt x="0" y="590550"/>
                  </a:cubicBezTo>
                  <a:cubicBezTo>
                    <a:pt x="0" y="916686"/>
                    <a:pt x="264414" y="1181100"/>
                    <a:pt x="590550" y="1181100"/>
                  </a:cubicBezTo>
                  <a:cubicBezTo>
                    <a:pt x="916686" y="1181100"/>
                    <a:pt x="1181100" y="916686"/>
                    <a:pt x="1181100" y="590550"/>
                  </a:cubicBezTo>
                  <a:close/>
                </a:path>
              </a:pathLst>
            </a:custGeom>
            <a:solidFill>
              <a:srgbClr val="2C57D4"/>
            </a:solidFill>
          </p:spPr>
        </p:sp>
      </p:grpSp>
      <p:sp>
        <p:nvSpPr>
          <p:cNvPr id="190" name="Freeform 30"/>
          <p:cNvSpPr/>
          <p:nvPr>
            <p:custDataLst>
              <p:tags r:id="rId12"/>
            </p:custDataLst>
          </p:nvPr>
        </p:nvSpPr>
        <p:spPr>
          <a:xfrm>
            <a:off x="304888" y="24906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LISA</a:t>
            </a:r>
            <a:endParaRPr lang="en-US" altLang="zh-CN" sz="3600" b="1"/>
          </a:p>
        </p:txBody>
      </p:sp>
      <p:sp>
        <p:nvSpPr>
          <p:cNvPr id="2" name="文本框 1"/>
          <p:cNvSpPr txBox="1"/>
          <p:nvPr/>
        </p:nvSpPr>
        <p:spPr>
          <a:xfrm>
            <a:off x="518160" y="1381125"/>
            <a:ext cx="13435013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3000"/>
              <a:t>Motivation</a:t>
            </a:r>
            <a:r>
              <a:rPr lang="zh-CN" altLang="en-US" sz="3000"/>
              <a:t>：全参数微调内存开销巨大，而</a:t>
            </a:r>
            <a:r>
              <a:rPr lang="en-US" altLang="zh-CN" sz="3000"/>
              <a:t> LoRA </a:t>
            </a:r>
            <a:r>
              <a:rPr lang="zh-CN" altLang="en-US" sz="3000"/>
              <a:t>虽然高效，但由于将更新限制在低秩子空间内，其性能往往达不到全参数微调的水平</a:t>
            </a:r>
            <a:r>
              <a:rPr lang="en-US" altLang="zh-CN" sz="3000"/>
              <a:t> </a:t>
            </a:r>
            <a:r>
              <a:rPr lang="zh-CN" altLang="en-US" sz="3000"/>
              <a:t>。</a:t>
            </a:r>
            <a:endParaRPr lang="zh-CN" altLang="en-US" sz="30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" y="2953703"/>
            <a:ext cx="13235940" cy="7048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23" y="3877628"/>
            <a:ext cx="13430250" cy="49720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40093" y="9359265"/>
            <a:ext cx="157553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R. Pan, X. Liu, S. Diao, R. Pi, J. Zhang, C. Han, and T. Zhang. Lisa: layerwise importance sampling for memory efficient large language model fine-tuning. Advances in Neural Information Processing Systems, 37:57018–57049, 2024.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0" name="Freeform 30"/>
          <p:cNvSpPr/>
          <p:nvPr>
            <p:custDataLst>
              <p:tags r:id="rId3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LISA</a:t>
            </a:r>
            <a:endParaRPr lang="en-US" altLang="zh-CN" sz="3600" b="1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128" y="1974533"/>
            <a:ext cx="14847570" cy="33718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6860" y="5736908"/>
            <a:ext cx="5026343" cy="42852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28" y="6356985"/>
            <a:ext cx="12006263" cy="3290888"/>
          </a:xfrm>
          <a:prstGeom prst="rect">
            <a:avLst/>
          </a:prstGeom>
        </p:spPr>
      </p:pic>
      <p:sp>
        <p:nvSpPr>
          <p:cNvPr id="190" name="Freeform 30"/>
          <p:cNvSpPr/>
          <p:nvPr>
            <p:custDataLst>
              <p:tags r:id="rId4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LISA</a:t>
            </a:r>
            <a:endParaRPr lang="en-US" altLang="zh-CN" sz="36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900" y="2051685"/>
            <a:ext cx="6903720" cy="61836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760" y="2417445"/>
            <a:ext cx="6846570" cy="5817870"/>
          </a:xfrm>
          <a:prstGeom prst="rect">
            <a:avLst/>
          </a:prstGeom>
        </p:spPr>
      </p:pic>
      <p:sp>
        <p:nvSpPr>
          <p:cNvPr id="190" name="Freeform 30"/>
          <p:cNvSpPr/>
          <p:nvPr>
            <p:custDataLst>
              <p:tags r:id="rId3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LISA</a:t>
            </a:r>
            <a:endParaRPr lang="en-US" altLang="zh-CN" sz="3600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753" y="1526858"/>
            <a:ext cx="14698980" cy="56578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983" y="7729538"/>
            <a:ext cx="14733270" cy="2148840"/>
          </a:xfrm>
          <a:prstGeom prst="rect">
            <a:avLst/>
          </a:prstGeom>
        </p:spPr>
      </p:pic>
      <p:sp>
        <p:nvSpPr>
          <p:cNvPr id="190" name="Freeform 30"/>
          <p:cNvSpPr/>
          <p:nvPr>
            <p:custDataLst>
              <p:tags r:id="rId3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MISA</a:t>
            </a:r>
            <a:endParaRPr lang="en-US" altLang="zh-CN" sz="3600" b="1"/>
          </a:p>
        </p:txBody>
      </p:sp>
      <p:sp>
        <p:nvSpPr>
          <p:cNvPr id="3" name="文本框 2"/>
          <p:cNvSpPr txBox="1"/>
          <p:nvPr/>
        </p:nvSpPr>
        <p:spPr>
          <a:xfrm>
            <a:off x="518160" y="1381125"/>
            <a:ext cx="12524423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3000"/>
              <a:t>Motivation</a:t>
            </a:r>
            <a:r>
              <a:rPr lang="zh-CN" altLang="en-US" sz="3000"/>
              <a:t>：</a:t>
            </a:r>
            <a:r>
              <a:rPr lang="en-US" altLang="zh-CN" sz="3000"/>
              <a:t>LISA </a:t>
            </a:r>
            <a:r>
              <a:rPr lang="zh-CN" altLang="en-US" sz="3000"/>
              <a:t>的采样粒度太粗（以层为单位），忽略了层内不同模块（如</a:t>
            </a:r>
            <a:r>
              <a:rPr lang="en-US" altLang="zh-CN" sz="3000"/>
              <a:t> Attention </a:t>
            </a:r>
            <a:r>
              <a:rPr lang="zh-CN" altLang="en-US" sz="3000"/>
              <a:t>和</a:t>
            </a:r>
            <a:r>
              <a:rPr lang="en-US" altLang="zh-CN" sz="3000"/>
              <a:t> FFN</a:t>
            </a:r>
            <a:r>
              <a:rPr lang="zh-CN" altLang="en-US" sz="3000"/>
              <a:t>）的重要性差异，且均匀采样过于启发式</a:t>
            </a:r>
            <a:r>
              <a:rPr lang="en-US" altLang="zh-CN" sz="3000"/>
              <a:t> </a:t>
            </a:r>
            <a:r>
              <a:rPr lang="zh-CN" altLang="en-US" sz="3000"/>
              <a:t>。于是提出采取</a:t>
            </a:r>
            <a:r>
              <a:rPr lang="en-US" altLang="zh-CN" sz="3000"/>
              <a:t>Block</a:t>
            </a:r>
            <a:r>
              <a:rPr lang="zh-CN" altLang="en-US" sz="3000"/>
              <a:t>或者叫</a:t>
            </a:r>
            <a:r>
              <a:rPr lang="en-US" altLang="zh-CN" sz="3000"/>
              <a:t>Module</a:t>
            </a:r>
            <a:r>
              <a:rPr lang="zh-CN" altLang="en-US" sz="3000"/>
              <a:t>级别的重要性采样。</a:t>
            </a:r>
            <a:endParaRPr lang="zh-CN" altLang="en-US" sz="30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7655" y="3724275"/>
            <a:ext cx="7839075" cy="5115878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40093" y="9359265"/>
            <a:ext cx="157553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MISA: Memory-Efficient LLMs Optimization with Module-wise Importance Sampling.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0" name="Freeform 30"/>
          <p:cNvSpPr/>
          <p:nvPr>
            <p:custDataLst>
              <p:tags r:id="rId2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MISA</a:t>
            </a:r>
            <a:endParaRPr lang="en-US" altLang="zh-CN" sz="36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7325" y="1382078"/>
            <a:ext cx="13304520" cy="8572500"/>
          </a:xfrm>
          <a:prstGeom prst="rect">
            <a:avLst/>
          </a:prstGeom>
        </p:spPr>
      </p:pic>
      <p:sp>
        <p:nvSpPr>
          <p:cNvPr id="190" name="Freeform 30"/>
          <p:cNvSpPr/>
          <p:nvPr>
            <p:custDataLst>
              <p:tags r:id="rId2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MISA</a:t>
            </a:r>
            <a:endParaRPr lang="en-US" altLang="zh-CN" sz="3600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71650"/>
            <a:ext cx="13361670" cy="33718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917883"/>
            <a:ext cx="13315950" cy="3486150"/>
          </a:xfrm>
          <a:prstGeom prst="rect">
            <a:avLst/>
          </a:prstGeom>
        </p:spPr>
      </p:pic>
      <p:sp>
        <p:nvSpPr>
          <p:cNvPr id="190" name="Freeform 30"/>
          <p:cNvSpPr/>
          <p:nvPr>
            <p:custDataLst>
              <p:tags r:id="rId3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MISA</a:t>
            </a:r>
            <a:endParaRPr lang="en-US" altLang="zh-CN" sz="36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470" y="2446020"/>
            <a:ext cx="13350240" cy="5612130"/>
          </a:xfrm>
          <a:prstGeom prst="rect">
            <a:avLst/>
          </a:prstGeom>
        </p:spPr>
      </p:pic>
      <p:sp>
        <p:nvSpPr>
          <p:cNvPr id="190" name="Freeform 30"/>
          <p:cNvSpPr/>
          <p:nvPr>
            <p:custDataLst>
              <p:tags r:id="rId2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MISA</a:t>
            </a:r>
            <a:endParaRPr lang="en-US" altLang="zh-CN" sz="3600" b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2209800"/>
            <a:ext cx="12618720" cy="6515100"/>
          </a:xfrm>
          <a:prstGeom prst="rect">
            <a:avLst/>
          </a:prstGeom>
        </p:spPr>
      </p:pic>
      <p:sp>
        <p:nvSpPr>
          <p:cNvPr id="190" name="Freeform 30"/>
          <p:cNvSpPr/>
          <p:nvPr>
            <p:custDataLst>
              <p:tags r:id="rId2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Freeform 35"/>
          <p:cNvSpPr/>
          <p:nvPr>
            <p:custDataLst>
              <p:tags r:id="rId1"/>
            </p:custDataLst>
          </p:nvPr>
        </p:nvSpPr>
        <p:spPr>
          <a:xfrm>
            <a:off x="0" y="1"/>
            <a:ext cx="3624132" cy="2858674"/>
          </a:xfrm>
          <a:custGeom>
            <a:avLst/>
            <a:gdLst/>
            <a:ahLst/>
            <a:cxnLst/>
            <a:rect l="l" t="t" r="r" b="b"/>
            <a:pathLst>
              <a:path w="3624132" h="2858674">
                <a:moveTo>
                  <a:pt x="0" y="0"/>
                </a:moveTo>
                <a:lnTo>
                  <a:pt x="3624132" y="0"/>
                </a:lnTo>
                <a:lnTo>
                  <a:pt x="3624132" y="2858675"/>
                </a:lnTo>
                <a:lnTo>
                  <a:pt x="0" y="2858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" name="Group 2"/>
          <p:cNvGrpSpPr/>
          <p:nvPr/>
        </p:nvGrpSpPr>
        <p:grpSpPr>
          <a:xfrm>
            <a:off x="13120137" y="4702694"/>
            <a:ext cx="881613" cy="881613"/>
            <a:chOff x="0" y="0"/>
            <a:chExt cx="1175484" cy="11754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5512" cy="1175512"/>
            </a:xfrm>
            <a:custGeom>
              <a:avLst/>
              <a:gdLst/>
              <a:ahLst/>
              <a:cxnLst/>
              <a:rect l="l" t="t" r="r" b="b"/>
              <a:pathLst>
                <a:path w="1175512" h="1175512">
                  <a:moveTo>
                    <a:pt x="0" y="587756"/>
                  </a:moveTo>
                  <a:cubicBezTo>
                    <a:pt x="0" y="263144"/>
                    <a:pt x="263144" y="0"/>
                    <a:pt x="587756" y="0"/>
                  </a:cubicBezTo>
                  <a:cubicBezTo>
                    <a:pt x="912368" y="0"/>
                    <a:pt x="1175512" y="263144"/>
                    <a:pt x="1175512" y="587756"/>
                  </a:cubicBezTo>
                  <a:cubicBezTo>
                    <a:pt x="1175512" y="912368"/>
                    <a:pt x="912368" y="1175512"/>
                    <a:pt x="587756" y="1175512"/>
                  </a:cubicBezTo>
                  <a:cubicBezTo>
                    <a:pt x="263144" y="1175512"/>
                    <a:pt x="0" y="912368"/>
                    <a:pt x="0" y="5877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0" y="7739793"/>
            <a:ext cx="4166946" cy="2547208"/>
          </a:xfrm>
          <a:custGeom>
            <a:avLst/>
            <a:gdLst/>
            <a:ahLst/>
            <a:cxnLst/>
            <a:rect l="l" t="t" r="r" b="b"/>
            <a:pathLst>
              <a:path w="4166946" h="2547208">
                <a:moveTo>
                  <a:pt x="0" y="0"/>
                </a:moveTo>
                <a:lnTo>
                  <a:pt x="4166946" y="0"/>
                </a:lnTo>
                <a:lnTo>
                  <a:pt x="4166946" y="2547208"/>
                </a:lnTo>
                <a:lnTo>
                  <a:pt x="0" y="25472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351812" y="7673386"/>
            <a:ext cx="2936188" cy="2613614"/>
          </a:xfrm>
          <a:custGeom>
            <a:avLst/>
            <a:gdLst/>
            <a:ahLst/>
            <a:cxnLst/>
            <a:rect l="l" t="t" r="r" b="b"/>
            <a:pathLst>
              <a:path w="2936188" h="2613614">
                <a:moveTo>
                  <a:pt x="0" y="0"/>
                </a:moveTo>
                <a:lnTo>
                  <a:pt x="2936188" y="0"/>
                </a:lnTo>
                <a:lnTo>
                  <a:pt x="2936188" y="2613614"/>
                </a:lnTo>
                <a:lnTo>
                  <a:pt x="0" y="26136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806348" y="-9525"/>
            <a:ext cx="3491176" cy="2688062"/>
          </a:xfrm>
          <a:custGeom>
            <a:avLst/>
            <a:gdLst/>
            <a:ahLst/>
            <a:cxnLst/>
            <a:rect l="l" t="t" r="r" b="b"/>
            <a:pathLst>
              <a:path w="3491176" h="2688062">
                <a:moveTo>
                  <a:pt x="0" y="0"/>
                </a:moveTo>
                <a:lnTo>
                  <a:pt x="3491177" y="0"/>
                </a:lnTo>
                <a:lnTo>
                  <a:pt x="3491177" y="2688062"/>
                </a:lnTo>
                <a:lnTo>
                  <a:pt x="0" y="26880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4881124" y="492074"/>
            <a:ext cx="663678" cy="663678"/>
            <a:chOff x="0" y="0"/>
            <a:chExt cx="884904" cy="8849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84936" cy="884936"/>
            </a:xfrm>
            <a:custGeom>
              <a:avLst/>
              <a:gdLst/>
              <a:ahLst/>
              <a:cxnLst/>
              <a:rect l="l" t="t" r="r" b="b"/>
              <a:pathLst>
                <a:path w="884936" h="884936">
                  <a:moveTo>
                    <a:pt x="0" y="442468"/>
                  </a:moveTo>
                  <a:cubicBezTo>
                    <a:pt x="0" y="198120"/>
                    <a:pt x="198120" y="0"/>
                    <a:pt x="442468" y="0"/>
                  </a:cubicBezTo>
                  <a:cubicBezTo>
                    <a:pt x="686816" y="0"/>
                    <a:pt x="884936" y="198120"/>
                    <a:pt x="884936" y="442468"/>
                  </a:cubicBezTo>
                  <a:cubicBezTo>
                    <a:pt x="884936" y="686816"/>
                    <a:pt x="686816" y="884936"/>
                    <a:pt x="442468" y="884936"/>
                  </a:cubicBezTo>
                  <a:cubicBezTo>
                    <a:pt x="198120" y="884936"/>
                    <a:pt x="0" y="686816"/>
                    <a:pt x="0" y="442468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563274" y="9463088"/>
            <a:ext cx="1713174" cy="762255"/>
          </a:xfrm>
          <a:custGeom>
            <a:avLst/>
            <a:gdLst/>
            <a:ahLst/>
            <a:cxnLst/>
            <a:rect l="l" t="t" r="r" b="b"/>
            <a:pathLst>
              <a:path w="1713174" h="762255">
                <a:moveTo>
                  <a:pt x="0" y="0"/>
                </a:moveTo>
                <a:lnTo>
                  <a:pt x="1713174" y="0"/>
                </a:lnTo>
                <a:lnTo>
                  <a:pt x="1713174" y="762254"/>
                </a:lnTo>
                <a:lnTo>
                  <a:pt x="0" y="7622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05915" y="3362960"/>
            <a:ext cx="14561820" cy="1846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Low-Rank Gradient</a:t>
            </a:r>
            <a:endParaRPr lang="en-US" sz="12000">
              <a:solidFill>
                <a:srgbClr val="356A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7352170" y="2226470"/>
            <a:ext cx="439840" cy="439840"/>
            <a:chOff x="0" y="0"/>
            <a:chExt cx="586454" cy="58645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86486" cy="586486"/>
            </a:xfrm>
            <a:custGeom>
              <a:avLst/>
              <a:gdLst/>
              <a:ahLst/>
              <a:cxnLst/>
              <a:rect l="l" t="t" r="r" b="b"/>
              <a:pathLst>
                <a:path w="586486" h="586486">
                  <a:moveTo>
                    <a:pt x="0" y="293243"/>
                  </a:moveTo>
                  <a:cubicBezTo>
                    <a:pt x="0" y="131318"/>
                    <a:pt x="131318" y="0"/>
                    <a:pt x="293243" y="0"/>
                  </a:cubicBezTo>
                  <a:cubicBezTo>
                    <a:pt x="455168" y="0"/>
                    <a:pt x="586486" y="131318"/>
                    <a:pt x="586486" y="293243"/>
                  </a:cubicBezTo>
                  <a:cubicBezTo>
                    <a:pt x="586486" y="455168"/>
                    <a:pt x="455168" y="586486"/>
                    <a:pt x="293243" y="586486"/>
                  </a:cubicBezTo>
                  <a:cubicBezTo>
                    <a:pt x="131318" y="586486"/>
                    <a:pt x="0" y="455168"/>
                    <a:pt x="0" y="293243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5597742" y="8893346"/>
            <a:ext cx="569742" cy="569742"/>
            <a:chOff x="0" y="0"/>
            <a:chExt cx="759656" cy="75965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59714" cy="759714"/>
            </a:xfrm>
            <a:custGeom>
              <a:avLst/>
              <a:gdLst/>
              <a:ahLst/>
              <a:cxnLst/>
              <a:rect l="l" t="t" r="r" b="b"/>
              <a:pathLst>
                <a:path w="759714" h="759714">
                  <a:moveTo>
                    <a:pt x="0" y="379857"/>
                  </a:moveTo>
                  <a:cubicBezTo>
                    <a:pt x="0" y="170053"/>
                    <a:pt x="170053" y="0"/>
                    <a:pt x="379857" y="0"/>
                  </a:cubicBezTo>
                  <a:cubicBezTo>
                    <a:pt x="589661" y="0"/>
                    <a:pt x="759714" y="170053"/>
                    <a:pt x="759714" y="379857"/>
                  </a:cubicBezTo>
                  <a:cubicBezTo>
                    <a:pt x="759714" y="589661"/>
                    <a:pt x="589661" y="759714"/>
                    <a:pt x="379857" y="759714"/>
                  </a:cubicBezTo>
                  <a:cubicBezTo>
                    <a:pt x="170053" y="759714"/>
                    <a:pt x="0" y="589661"/>
                    <a:pt x="0" y="379857"/>
                  </a:cubicBezTo>
                  <a:close/>
                  <a:moveTo>
                    <a:pt x="189865" y="379857"/>
                  </a:moveTo>
                  <a:cubicBezTo>
                    <a:pt x="189865" y="484759"/>
                    <a:pt x="274955" y="569722"/>
                    <a:pt x="379730" y="569722"/>
                  </a:cubicBezTo>
                  <a:cubicBezTo>
                    <a:pt x="484505" y="569722"/>
                    <a:pt x="569595" y="484632"/>
                    <a:pt x="569595" y="379857"/>
                  </a:cubicBezTo>
                  <a:cubicBezTo>
                    <a:pt x="569595" y="275082"/>
                    <a:pt x="484505" y="189992"/>
                    <a:pt x="379730" y="189992"/>
                  </a:cubicBezTo>
                  <a:cubicBezTo>
                    <a:pt x="274955" y="189992"/>
                    <a:pt x="189865" y="275082"/>
                    <a:pt x="189865" y="379857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492919" y="7834312"/>
            <a:ext cx="885825" cy="885825"/>
            <a:chOff x="0" y="0"/>
            <a:chExt cx="1181100" cy="11811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81100" cy="1181100"/>
            </a:xfrm>
            <a:custGeom>
              <a:avLst/>
              <a:gdLst/>
              <a:ahLst/>
              <a:cxnLst/>
              <a:rect l="l" t="t" r="r" b="b"/>
              <a:pathLst>
                <a:path w="1181100" h="1181100">
                  <a:moveTo>
                    <a:pt x="1181100" y="590550"/>
                  </a:moveTo>
                  <a:cubicBezTo>
                    <a:pt x="1181100" y="264414"/>
                    <a:pt x="916686" y="0"/>
                    <a:pt x="590550" y="0"/>
                  </a:cubicBezTo>
                  <a:cubicBezTo>
                    <a:pt x="264414" y="0"/>
                    <a:pt x="0" y="264414"/>
                    <a:pt x="0" y="590550"/>
                  </a:cubicBezTo>
                  <a:cubicBezTo>
                    <a:pt x="0" y="916686"/>
                    <a:pt x="264414" y="1181100"/>
                    <a:pt x="590550" y="1181100"/>
                  </a:cubicBezTo>
                  <a:cubicBezTo>
                    <a:pt x="916686" y="1181100"/>
                    <a:pt x="1181100" y="916686"/>
                    <a:pt x="1181100" y="590550"/>
                  </a:cubicBezTo>
                  <a:close/>
                </a:path>
              </a:pathLst>
            </a:custGeom>
            <a:solidFill>
              <a:srgbClr val="2C57D4"/>
            </a:solidFill>
          </p:spPr>
        </p:sp>
      </p:grpSp>
      <p:sp>
        <p:nvSpPr>
          <p:cNvPr id="190" name="Freeform 30"/>
          <p:cNvSpPr/>
          <p:nvPr>
            <p:custDataLst>
              <p:tags r:id="rId12"/>
            </p:custDataLst>
          </p:nvPr>
        </p:nvSpPr>
        <p:spPr>
          <a:xfrm>
            <a:off x="304888" y="24906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GaLore</a:t>
            </a:r>
            <a:endParaRPr lang="en-US" altLang="zh-CN" sz="3600" b="1"/>
          </a:p>
        </p:txBody>
      </p:sp>
      <p:sp>
        <p:nvSpPr>
          <p:cNvPr id="3" name="文本框 2"/>
          <p:cNvSpPr txBox="1"/>
          <p:nvPr/>
        </p:nvSpPr>
        <p:spPr>
          <a:xfrm>
            <a:off x="518160" y="1381125"/>
            <a:ext cx="14563725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3000"/>
              <a:t>Motivation</a:t>
            </a:r>
            <a:r>
              <a:rPr lang="zh-CN" altLang="en-US" sz="3000"/>
              <a:t>：不再选择性更新参数，而是通过低秩投影压缩梯度，从而压缩优化器内存。训练</a:t>
            </a:r>
            <a:r>
              <a:rPr lang="en-US" altLang="zh-CN" sz="3000"/>
              <a:t> LLM </a:t>
            </a:r>
            <a:r>
              <a:rPr lang="zh-CN" altLang="en-US" sz="3000"/>
              <a:t>的内存瓶颈主要在优化器状态（如</a:t>
            </a:r>
            <a:r>
              <a:rPr lang="en-US" altLang="zh-CN" sz="3000"/>
              <a:t> Adam </a:t>
            </a:r>
            <a:r>
              <a:rPr lang="zh-CN" altLang="en-US" sz="3000"/>
              <a:t>的动量和方差）。</a:t>
            </a:r>
            <a:r>
              <a:rPr lang="en-US" altLang="zh-CN" sz="3000"/>
              <a:t>LoRA</a:t>
            </a:r>
            <a:r>
              <a:rPr lang="zh-CN" altLang="en-US" sz="3000"/>
              <a:t>效果差可能由于参数矩阵本身不低秩，而梯度矩阵则具有近似低秩的性质（更新差异大）。</a:t>
            </a:r>
            <a:endParaRPr lang="zh-CN" altLang="en-US" sz="3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8390" y="3709035"/>
            <a:ext cx="6034088" cy="5390198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40093" y="9359265"/>
            <a:ext cx="157553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Jiawei Zhao, Zhenyu Zhang, Beidi Chen, Zhangyang Wang, Anima Anandkumar, and Yuandong Tian. Galore: Memory-efficient llm training by gradient low-rank projection. arXiv preprint arXiv:2403.03507, 2024.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5405" y="5291138"/>
            <a:ext cx="6126480" cy="971550"/>
          </a:xfrm>
          <a:prstGeom prst="rect">
            <a:avLst/>
          </a:prstGeom>
        </p:spPr>
      </p:pic>
      <p:sp>
        <p:nvSpPr>
          <p:cNvPr id="190" name="Freeform 30"/>
          <p:cNvSpPr/>
          <p:nvPr>
            <p:custDataLst>
              <p:tags r:id="rId3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custDataLst>
      <p:tags r:id="rId5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GaLore</a:t>
            </a:r>
            <a:endParaRPr lang="en-US" altLang="zh-CN" sz="3600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2400" y="1159193"/>
            <a:ext cx="7783830" cy="906113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477703" y="4076700"/>
            <a:ext cx="2811780" cy="2933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700"/>
          </a:p>
        </p:txBody>
      </p:sp>
      <p:sp>
        <p:nvSpPr>
          <p:cNvPr id="190" name="Freeform 30"/>
          <p:cNvSpPr/>
          <p:nvPr>
            <p:custDataLst>
              <p:tags r:id="rId2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GaLore</a:t>
            </a:r>
            <a:endParaRPr lang="en-US" altLang="zh-CN" sz="3600" b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0158" y="2908935"/>
            <a:ext cx="8035290" cy="60121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" y="3434715"/>
            <a:ext cx="8115300" cy="5486400"/>
          </a:xfrm>
          <a:prstGeom prst="rect">
            <a:avLst/>
          </a:prstGeom>
        </p:spPr>
      </p:pic>
      <p:sp>
        <p:nvSpPr>
          <p:cNvPr id="190" name="Freeform 30"/>
          <p:cNvSpPr/>
          <p:nvPr>
            <p:custDataLst>
              <p:tags r:id="rId3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custDataLst>
      <p:tags r:id="rId5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268" y="1994535"/>
            <a:ext cx="16344900" cy="76581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GaLore</a:t>
            </a:r>
            <a:endParaRPr lang="en-US" altLang="zh-CN" sz="3600" b="1"/>
          </a:p>
        </p:txBody>
      </p:sp>
      <p:sp>
        <p:nvSpPr>
          <p:cNvPr id="190" name="Freeform 30"/>
          <p:cNvSpPr/>
          <p:nvPr>
            <p:custDataLst>
              <p:tags r:id="rId2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GaLore2</a:t>
            </a:r>
            <a:endParaRPr lang="en-US" altLang="zh-CN" sz="3600" b="1"/>
          </a:p>
        </p:txBody>
      </p:sp>
      <p:sp>
        <p:nvSpPr>
          <p:cNvPr id="3" name="文本框 2"/>
          <p:cNvSpPr txBox="1"/>
          <p:nvPr/>
        </p:nvSpPr>
        <p:spPr>
          <a:xfrm>
            <a:off x="518160" y="1381125"/>
            <a:ext cx="12524423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3000"/>
              <a:t>Motivation</a:t>
            </a:r>
            <a:r>
              <a:rPr lang="zh-CN" altLang="en-US" sz="3000"/>
              <a:t>：工程化改进</a:t>
            </a:r>
            <a:r>
              <a:rPr lang="en-US" altLang="zh-CN" sz="3000"/>
              <a:t>SVD</a:t>
            </a:r>
            <a:r>
              <a:rPr lang="zh-CN" altLang="en-US" sz="3000"/>
              <a:t>环节，使</a:t>
            </a:r>
            <a:r>
              <a:rPr lang="en-US" altLang="zh-CN" sz="3000"/>
              <a:t>GaLore</a:t>
            </a:r>
            <a:r>
              <a:rPr lang="zh-CN" altLang="en-US" sz="3000"/>
              <a:t>技术可应用于工业级大模型</a:t>
            </a:r>
            <a:r>
              <a:rPr lang="en-US" altLang="zh-CN" sz="3000"/>
              <a:t>PT</a:t>
            </a:r>
            <a:r>
              <a:rPr lang="zh-CN" altLang="en-US" sz="3000"/>
              <a:t>和</a:t>
            </a:r>
            <a:r>
              <a:rPr lang="en-US" altLang="zh-CN" sz="3000"/>
              <a:t>CPT</a:t>
            </a:r>
            <a:r>
              <a:rPr lang="zh-CN" altLang="en-US" sz="3000"/>
              <a:t>。</a:t>
            </a:r>
            <a:endParaRPr lang="zh-CN" altLang="en-US" sz="3000"/>
          </a:p>
          <a:p>
            <a:pPr indent="0" fontAlgn="auto">
              <a:lnSpc>
                <a:spcPct val="150000"/>
              </a:lnSpc>
            </a:pPr>
            <a:r>
              <a:rPr lang="en-US" altLang="zh-CN" sz="3000"/>
              <a:t>1. Fast random SVD</a:t>
            </a:r>
            <a:endParaRPr lang="en-US" altLang="zh-CN" sz="3000"/>
          </a:p>
          <a:p>
            <a:pPr indent="0" fontAlgn="auto">
              <a:lnSpc>
                <a:spcPct val="150000"/>
              </a:lnSpc>
            </a:pPr>
            <a:r>
              <a:rPr lang="en-US" altLang="zh-CN" sz="3000"/>
              <a:t>2. FSDP</a:t>
            </a:r>
            <a:endParaRPr lang="en-US" altLang="zh-CN" sz="3000"/>
          </a:p>
        </p:txBody>
      </p:sp>
      <p:sp>
        <p:nvSpPr>
          <p:cNvPr id="10" name="文本框 9"/>
          <p:cNvSpPr txBox="1"/>
          <p:nvPr/>
        </p:nvSpPr>
        <p:spPr>
          <a:xfrm>
            <a:off x="740093" y="9359265"/>
            <a:ext cx="157553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GaLore 2: Large-Scale LLM Pre-Training by Gradient Low-Rank Projection.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7013" y="3649980"/>
            <a:ext cx="11974830" cy="5508308"/>
          </a:xfrm>
          <a:prstGeom prst="rect">
            <a:avLst/>
          </a:prstGeom>
        </p:spPr>
      </p:pic>
      <p:sp>
        <p:nvSpPr>
          <p:cNvPr id="190" name="Freeform 30"/>
          <p:cNvSpPr/>
          <p:nvPr>
            <p:custDataLst>
              <p:tags r:id="rId2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GaLore2</a:t>
            </a:r>
            <a:endParaRPr lang="en-US" altLang="zh-CN" sz="3600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553" y="3625215"/>
            <a:ext cx="17919383" cy="4276725"/>
          </a:xfrm>
          <a:prstGeom prst="rect">
            <a:avLst/>
          </a:prstGeom>
        </p:spPr>
      </p:pic>
      <p:sp>
        <p:nvSpPr>
          <p:cNvPr id="190" name="Freeform 30"/>
          <p:cNvSpPr/>
          <p:nvPr>
            <p:custDataLst>
              <p:tags r:id="rId2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custDataLst>
      <p:tags r:id="rId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GaLore2</a:t>
            </a:r>
            <a:endParaRPr lang="en-US" altLang="zh-CN" sz="3600" b="1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4775" y="1343025"/>
            <a:ext cx="10458450" cy="7600950"/>
          </a:xfrm>
          <a:prstGeom prst="rect">
            <a:avLst/>
          </a:prstGeom>
        </p:spPr>
      </p:pic>
      <p:sp>
        <p:nvSpPr>
          <p:cNvPr id="190" name="Freeform 30"/>
          <p:cNvSpPr/>
          <p:nvPr>
            <p:custDataLst>
              <p:tags r:id="rId2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custDataLst>
      <p:tags r:id="rId4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Online Subspace Descent</a:t>
            </a:r>
            <a:endParaRPr lang="en-US" altLang="zh-CN" sz="3600" b="1"/>
          </a:p>
        </p:txBody>
      </p:sp>
      <p:sp>
        <p:nvSpPr>
          <p:cNvPr id="2" name="文本框 1"/>
          <p:cNvSpPr txBox="1"/>
          <p:nvPr/>
        </p:nvSpPr>
        <p:spPr>
          <a:xfrm>
            <a:off x="518160" y="1381125"/>
            <a:ext cx="13435013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3000"/>
              <a:t>Motivation</a:t>
            </a:r>
            <a:r>
              <a:rPr lang="zh-CN" altLang="en-US" sz="3000"/>
              <a:t>：</a:t>
            </a:r>
            <a:r>
              <a:rPr lang="en-US" altLang="zh-CN" sz="3000"/>
              <a:t>GaLore</a:t>
            </a:r>
            <a:r>
              <a:rPr lang="zh-CN" altLang="en-US" sz="3000"/>
              <a:t>系列方法</a:t>
            </a:r>
            <a:r>
              <a:rPr lang="en-US" altLang="zh-CN" sz="3000"/>
              <a:t>SVD</a:t>
            </a:r>
            <a:r>
              <a:rPr lang="zh-CN" altLang="en-US" sz="3000"/>
              <a:t>的计算是周期性的，不是连续的，迭代更新会存在滞后性和不一致性；再者计算一次全权重的</a:t>
            </a:r>
            <a:r>
              <a:rPr lang="en-US" altLang="zh-CN" sz="3000"/>
              <a:t>SVD</a:t>
            </a:r>
            <a:r>
              <a:rPr lang="zh-CN" altLang="en-US" sz="3000"/>
              <a:t>太慢。</a:t>
            </a:r>
            <a:endParaRPr lang="zh-CN" altLang="en-US" sz="3000"/>
          </a:p>
        </p:txBody>
      </p:sp>
      <p:sp>
        <p:nvSpPr>
          <p:cNvPr id="10" name="文本框 9"/>
          <p:cNvSpPr txBox="1"/>
          <p:nvPr/>
        </p:nvSpPr>
        <p:spPr>
          <a:xfrm>
            <a:off x="740093" y="9359265"/>
            <a:ext cx="157553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Memory-Efficient LLM Training with Online Subspace Descent. Advances in Neural Information Processing Systems, 2025.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0333" y="3521393"/>
            <a:ext cx="11292840" cy="4789170"/>
          </a:xfrm>
          <a:prstGeom prst="rect">
            <a:avLst/>
          </a:prstGeom>
        </p:spPr>
      </p:pic>
      <p:sp>
        <p:nvSpPr>
          <p:cNvPr id="190" name="Freeform 30"/>
          <p:cNvSpPr/>
          <p:nvPr>
            <p:custDataLst>
              <p:tags r:id="rId2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custDataLst>
      <p:tags r:id="rId4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Online Subspace Descent</a:t>
            </a:r>
            <a:endParaRPr lang="en-US" altLang="zh-CN" sz="3600" b="1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3190" y="1513523"/>
            <a:ext cx="11487150" cy="4972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043" y="7019925"/>
            <a:ext cx="10458450" cy="4000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933" y="7594283"/>
            <a:ext cx="8503920" cy="85725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998470" y="6739890"/>
            <a:ext cx="11149013" cy="1760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7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3190" y="8754428"/>
            <a:ext cx="11258550" cy="1268730"/>
          </a:xfrm>
          <a:prstGeom prst="rect">
            <a:avLst/>
          </a:prstGeom>
        </p:spPr>
      </p:pic>
      <p:sp>
        <p:nvSpPr>
          <p:cNvPr id="190" name="Freeform 30"/>
          <p:cNvSpPr/>
          <p:nvPr>
            <p:custDataLst>
              <p:tags r:id="rId5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  <p:custDataLst>
      <p:tags r:id="rId7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Online Subspace Descent</a:t>
            </a:r>
            <a:endParaRPr lang="en-US" altLang="zh-CN" sz="36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5055" y="1905953"/>
            <a:ext cx="11189970" cy="37261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055" y="5862638"/>
            <a:ext cx="11132820" cy="3040380"/>
          </a:xfrm>
          <a:prstGeom prst="rect">
            <a:avLst/>
          </a:prstGeom>
        </p:spPr>
      </p:pic>
      <p:sp>
        <p:nvSpPr>
          <p:cNvPr id="190" name="Freeform 30"/>
          <p:cNvSpPr/>
          <p:nvPr>
            <p:custDataLst>
              <p:tags r:id="rId3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custDataLst>
      <p:tags r:id="rId5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Online Subspace Descent</a:t>
            </a:r>
            <a:endParaRPr lang="en-US" altLang="zh-CN" sz="3600" b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7463" y="2286953"/>
            <a:ext cx="11304270" cy="21717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463" y="6117908"/>
            <a:ext cx="11601450" cy="2217420"/>
          </a:xfrm>
          <a:prstGeom prst="rect">
            <a:avLst/>
          </a:prstGeom>
        </p:spPr>
      </p:pic>
      <p:sp>
        <p:nvSpPr>
          <p:cNvPr id="190" name="Freeform 30"/>
          <p:cNvSpPr/>
          <p:nvPr>
            <p:custDataLst>
              <p:tags r:id="rId3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custDataLst>
      <p:tags r:id="rId5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Fira</a:t>
            </a:r>
            <a:endParaRPr lang="en-US" altLang="zh-CN" sz="3600" b="1"/>
          </a:p>
        </p:txBody>
      </p:sp>
      <p:sp>
        <p:nvSpPr>
          <p:cNvPr id="2" name="文本框 1"/>
          <p:cNvSpPr txBox="1"/>
          <p:nvPr/>
        </p:nvSpPr>
        <p:spPr>
          <a:xfrm>
            <a:off x="518160" y="1381125"/>
            <a:ext cx="13435013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3000"/>
              <a:t>Motivation</a:t>
            </a:r>
            <a:r>
              <a:rPr lang="zh-CN" altLang="en-US" sz="3000"/>
              <a:t>：</a:t>
            </a:r>
            <a:r>
              <a:rPr lang="zh-CN" altLang="en-US" sz="3000">
                <a:sym typeface="+mn-ea"/>
              </a:rPr>
              <a:t>由于投影操作</a:t>
            </a:r>
            <a:r>
              <a:rPr lang="en-US" altLang="zh-CN" sz="3000">
                <a:sym typeface="+mn-ea"/>
              </a:rPr>
              <a:t>PP</a:t>
            </a:r>
            <a:r>
              <a:rPr lang="en-US" altLang="zh-CN" sz="3000" baseline="30000">
                <a:sym typeface="+mn-ea"/>
              </a:rPr>
              <a:t>T</a:t>
            </a:r>
            <a:r>
              <a:rPr lang="en-US" altLang="zh-CN" sz="3000">
                <a:sym typeface="+mn-ea"/>
              </a:rPr>
              <a:t>G</a:t>
            </a:r>
            <a:r>
              <a:rPr lang="zh-CN" altLang="en-US" sz="3000">
                <a:sym typeface="+mn-ea"/>
              </a:rPr>
              <a:t>丢弃了正交补空间的信息，导致梯度估计是有偏的。这种偏差在训练初期或处理复杂任务时，会导致模型收敛到局部最优，或者无法达到全参数微调的精度。</a:t>
            </a:r>
            <a:endParaRPr lang="zh-CN" altLang="en-US" sz="3000"/>
          </a:p>
        </p:txBody>
      </p:sp>
      <p:sp>
        <p:nvSpPr>
          <p:cNvPr id="10" name="文本框 9"/>
          <p:cNvSpPr txBox="1"/>
          <p:nvPr/>
        </p:nvSpPr>
        <p:spPr>
          <a:xfrm>
            <a:off x="740093" y="9359265"/>
            <a:ext cx="157553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Fira: Can We Achieve Full-rank Training of LLMs Under Low-rank Constraint? Advances in Neural Information Processing Systems, 2025.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9755" y="3951923"/>
            <a:ext cx="12801600" cy="371475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899410" y="6173153"/>
            <a:ext cx="1628775" cy="4143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700"/>
          </a:p>
        </p:txBody>
      </p:sp>
      <p:sp>
        <p:nvSpPr>
          <p:cNvPr id="7" name="矩形 6"/>
          <p:cNvSpPr/>
          <p:nvPr/>
        </p:nvSpPr>
        <p:spPr>
          <a:xfrm>
            <a:off x="4718685" y="6916103"/>
            <a:ext cx="779145" cy="3867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700"/>
          </a:p>
        </p:txBody>
      </p:sp>
      <p:sp>
        <p:nvSpPr>
          <p:cNvPr id="190" name="Freeform 30"/>
          <p:cNvSpPr/>
          <p:nvPr>
            <p:custDataLst>
              <p:tags r:id="rId2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custDataLst>
      <p:tags r:id="rId4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Fira</a:t>
            </a:r>
            <a:endParaRPr lang="en-US" altLang="zh-CN" sz="3600" b="1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9673" y="4372928"/>
            <a:ext cx="7143750" cy="446913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198" y="1994535"/>
            <a:ext cx="13430250" cy="1543050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14243685" y="2827020"/>
            <a:ext cx="880110" cy="571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700"/>
          </a:p>
        </p:txBody>
      </p:sp>
      <p:sp>
        <p:nvSpPr>
          <p:cNvPr id="190" name="Freeform 30"/>
          <p:cNvSpPr/>
          <p:nvPr>
            <p:custDataLst>
              <p:tags r:id="rId3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custDataLst>
      <p:tags r:id="rId5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Fira</a:t>
            </a:r>
            <a:endParaRPr lang="en-US" altLang="zh-CN" sz="3600" b="1"/>
          </a:p>
        </p:txBody>
      </p:sp>
      <p:sp>
        <p:nvSpPr>
          <p:cNvPr id="2" name="文本框 1"/>
          <p:cNvSpPr txBox="1"/>
          <p:nvPr/>
        </p:nvSpPr>
        <p:spPr>
          <a:xfrm>
            <a:off x="3480435" y="1455420"/>
            <a:ext cx="1366838" cy="75533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sz="3000"/>
              <a:t>Adam</a:t>
            </a:r>
            <a:endParaRPr lang="en-US" sz="3000"/>
          </a:p>
        </p:txBody>
      </p:sp>
      <p:grpSp>
        <p:nvGrpSpPr>
          <p:cNvPr id="11" name="组合 10"/>
          <p:cNvGrpSpPr/>
          <p:nvPr/>
        </p:nvGrpSpPr>
        <p:grpSpPr>
          <a:xfrm>
            <a:off x="6467475" y="1639253"/>
            <a:ext cx="4857750" cy="2674620"/>
            <a:chOff x="5640" y="3049"/>
            <a:chExt cx="5100" cy="2808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640" y="3649"/>
              <a:ext cx="5100" cy="2208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63" y="3049"/>
              <a:ext cx="3672" cy="600"/>
            </a:xfrm>
            <a:prstGeom prst="rect">
              <a:avLst/>
            </a:prstGeom>
          </p:spPr>
        </p:pic>
      </p:grpSp>
      <p:sp>
        <p:nvSpPr>
          <p:cNvPr id="12" name="矩形 11"/>
          <p:cNvSpPr/>
          <p:nvPr/>
        </p:nvSpPr>
        <p:spPr>
          <a:xfrm>
            <a:off x="10074593" y="2782253"/>
            <a:ext cx="580073" cy="5362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70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748" y="4572000"/>
            <a:ext cx="3691890" cy="571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3823" y="5365433"/>
            <a:ext cx="1817370" cy="41148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480435" y="4403408"/>
            <a:ext cx="1752600" cy="75533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sz="3000"/>
              <a:t>GaLore</a:t>
            </a:r>
            <a:endParaRPr lang="en-US" sz="3000"/>
          </a:p>
        </p:txBody>
      </p:sp>
      <p:sp>
        <p:nvSpPr>
          <p:cNvPr id="17" name="文本框 16"/>
          <p:cNvSpPr txBox="1"/>
          <p:nvPr/>
        </p:nvSpPr>
        <p:spPr>
          <a:xfrm>
            <a:off x="3480435" y="6362700"/>
            <a:ext cx="2323148" cy="75533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sz="3000"/>
              <a:t>GaLore-add</a:t>
            </a:r>
            <a:endParaRPr lang="en-US" sz="300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475" y="6592253"/>
            <a:ext cx="6103620" cy="52578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7475" y="7626668"/>
            <a:ext cx="7006590" cy="51435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3480435" y="7385685"/>
            <a:ext cx="2323148" cy="75533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sz="3000"/>
              <a:t>Fira</a:t>
            </a:r>
            <a:endParaRPr lang="en-US" sz="3000"/>
          </a:p>
        </p:txBody>
      </p:sp>
      <p:sp>
        <p:nvSpPr>
          <p:cNvPr id="5" name="矩形 4"/>
          <p:cNvSpPr/>
          <p:nvPr/>
        </p:nvSpPr>
        <p:spPr>
          <a:xfrm>
            <a:off x="9494520" y="3919538"/>
            <a:ext cx="1274445" cy="5362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700"/>
          </a:p>
        </p:txBody>
      </p:sp>
      <p:sp>
        <p:nvSpPr>
          <p:cNvPr id="7" name="文本框 6"/>
          <p:cNvSpPr txBox="1"/>
          <p:nvPr/>
        </p:nvSpPr>
        <p:spPr>
          <a:xfrm>
            <a:off x="2242185" y="2283143"/>
            <a:ext cx="3843338" cy="996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2100"/>
              <a:t>动量</a:t>
            </a:r>
            <a:r>
              <a:rPr lang="en-US" altLang="zh-CN" sz="2100"/>
              <a:t> + </a:t>
            </a:r>
            <a:r>
              <a:rPr lang="zh-CN" altLang="en-US" sz="2100"/>
              <a:t>自适应学习率</a:t>
            </a:r>
            <a:endParaRPr lang="zh-CN" altLang="en-US" sz="2100"/>
          </a:p>
        </p:txBody>
      </p:sp>
      <p:sp>
        <p:nvSpPr>
          <p:cNvPr id="8" name="矩形 7"/>
          <p:cNvSpPr/>
          <p:nvPr/>
        </p:nvSpPr>
        <p:spPr>
          <a:xfrm>
            <a:off x="10434638" y="6591300"/>
            <a:ext cx="1968818" cy="5829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700"/>
          </a:p>
        </p:txBody>
      </p:sp>
      <p:sp>
        <p:nvSpPr>
          <p:cNvPr id="20" name="文本框 19"/>
          <p:cNvSpPr txBox="1"/>
          <p:nvPr/>
        </p:nvSpPr>
        <p:spPr>
          <a:xfrm>
            <a:off x="9810750" y="5903595"/>
            <a:ext cx="3462338" cy="68865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2100"/>
              <a:t>丢失项使用</a:t>
            </a:r>
            <a:r>
              <a:rPr lang="en-US" altLang="zh-CN" sz="2100"/>
              <a:t>SGD</a:t>
            </a:r>
            <a:r>
              <a:rPr lang="zh-CN" altLang="en-US" sz="2100"/>
              <a:t>进行补偿</a:t>
            </a:r>
            <a:endParaRPr lang="zh-CN" altLang="en-US" sz="2100"/>
          </a:p>
        </p:txBody>
      </p:sp>
      <p:sp>
        <p:nvSpPr>
          <p:cNvPr id="22" name="矩形 21"/>
          <p:cNvSpPr/>
          <p:nvPr/>
        </p:nvSpPr>
        <p:spPr>
          <a:xfrm>
            <a:off x="10654665" y="7626668"/>
            <a:ext cx="904875" cy="5829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700"/>
          </a:p>
        </p:txBody>
      </p:sp>
      <p:sp>
        <p:nvSpPr>
          <p:cNvPr id="23" name="文本框 22"/>
          <p:cNvSpPr txBox="1"/>
          <p:nvPr/>
        </p:nvSpPr>
        <p:spPr>
          <a:xfrm>
            <a:off x="9465945" y="8312468"/>
            <a:ext cx="3462338" cy="68865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2100"/>
              <a:t>学习率自适应因子</a:t>
            </a:r>
            <a:endParaRPr lang="zh-CN" altLang="en-US" sz="2100"/>
          </a:p>
        </p:txBody>
      </p:sp>
      <p:sp>
        <p:nvSpPr>
          <p:cNvPr id="190" name="Freeform 30"/>
          <p:cNvSpPr/>
          <p:nvPr>
            <p:custDataLst>
              <p:tags r:id="rId7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  <p:custDataLst>
      <p:tags r:id="rId9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Fira</a:t>
            </a:r>
            <a:endParaRPr lang="en-US" altLang="zh-CN" sz="3600" b="1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338" y="3886200"/>
            <a:ext cx="6789420" cy="572643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9660" y="3669983"/>
            <a:ext cx="8401050" cy="518922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7543" y="2040255"/>
            <a:ext cx="6183630" cy="1143000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9545955" y="2383155"/>
            <a:ext cx="3628073" cy="457200"/>
            <a:chOff x="10703" y="2502"/>
            <a:chExt cx="3809" cy="480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656" y="2502"/>
              <a:ext cx="2856" cy="480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703" y="2586"/>
              <a:ext cx="840" cy="396"/>
            </a:xfrm>
            <a:prstGeom prst="rect">
              <a:avLst/>
            </a:prstGeom>
          </p:spPr>
        </p:pic>
      </p:grpSp>
      <p:sp>
        <p:nvSpPr>
          <p:cNvPr id="190" name="Freeform 30"/>
          <p:cNvSpPr/>
          <p:nvPr>
            <p:custDataLst>
              <p:tags r:id="rId6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  <p:custDataLst>
      <p:tags r:id="rId8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Fira</a:t>
            </a:r>
            <a:endParaRPr lang="en-US" altLang="zh-CN" sz="3600" b="1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4093" y="1528763"/>
            <a:ext cx="11475720" cy="8572500"/>
          </a:xfrm>
          <a:prstGeom prst="rect">
            <a:avLst/>
          </a:prstGeom>
        </p:spPr>
      </p:pic>
      <p:sp>
        <p:nvSpPr>
          <p:cNvPr id="190" name="Freeform 30"/>
          <p:cNvSpPr/>
          <p:nvPr>
            <p:custDataLst>
              <p:tags r:id="rId2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custDataLst>
      <p:tags r:id="rId4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Fira</a:t>
            </a:r>
            <a:endParaRPr lang="en-US" altLang="zh-CN" sz="36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2603" y="2343150"/>
            <a:ext cx="13384530" cy="5600700"/>
          </a:xfrm>
          <a:prstGeom prst="rect">
            <a:avLst/>
          </a:prstGeom>
        </p:spPr>
      </p:pic>
      <p:sp>
        <p:nvSpPr>
          <p:cNvPr id="190" name="Freeform 30"/>
          <p:cNvSpPr/>
          <p:nvPr>
            <p:custDataLst>
              <p:tags r:id="rId2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custDataLst>
      <p:tags r:id="rId4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Fira</a:t>
            </a:r>
            <a:endParaRPr lang="en-US" altLang="zh-CN" sz="3600" b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0238" y="1768793"/>
            <a:ext cx="5292090" cy="42176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150" y="6112193"/>
            <a:ext cx="11544300" cy="3771900"/>
          </a:xfrm>
          <a:prstGeom prst="rect">
            <a:avLst/>
          </a:prstGeom>
        </p:spPr>
      </p:pic>
      <p:sp>
        <p:nvSpPr>
          <p:cNvPr id="190" name="Freeform 30"/>
          <p:cNvSpPr/>
          <p:nvPr>
            <p:custDataLst>
              <p:tags r:id="rId3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custDataLst>
      <p:tags r:id="rId5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GUM</a:t>
            </a:r>
            <a:endParaRPr lang="en-US" altLang="zh-CN" sz="3600" b="1"/>
          </a:p>
        </p:txBody>
      </p:sp>
      <p:sp>
        <p:nvSpPr>
          <p:cNvPr id="3" name="文本框 2"/>
          <p:cNvSpPr txBox="1"/>
          <p:nvPr/>
        </p:nvSpPr>
        <p:spPr>
          <a:xfrm>
            <a:off x="518160" y="1381125"/>
            <a:ext cx="12524423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3000"/>
              <a:t>Motivation</a:t>
            </a:r>
            <a:r>
              <a:rPr lang="zh-CN" altLang="en-US" sz="3000"/>
              <a:t>：与</a:t>
            </a:r>
            <a:r>
              <a:rPr lang="en-US" altLang="zh-CN" sz="3000"/>
              <a:t>Fira</a:t>
            </a:r>
            <a:r>
              <a:rPr lang="zh-CN" altLang="en-US" sz="3000"/>
              <a:t>一致</a:t>
            </a:r>
            <a:endParaRPr lang="zh-CN" altLang="en-US" sz="3000"/>
          </a:p>
        </p:txBody>
      </p:sp>
      <p:sp>
        <p:nvSpPr>
          <p:cNvPr id="12" name="文本框 11"/>
          <p:cNvSpPr txBox="1"/>
          <p:nvPr/>
        </p:nvSpPr>
        <p:spPr>
          <a:xfrm>
            <a:off x="740093" y="9359265"/>
            <a:ext cx="157553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Unbiased Gradient Low-Rank Projection. Rejected by ICLR 2026.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9755" y="3951923"/>
            <a:ext cx="12801600" cy="371475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899410" y="6173153"/>
            <a:ext cx="1628775" cy="4143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700"/>
          </a:p>
        </p:txBody>
      </p:sp>
      <p:sp>
        <p:nvSpPr>
          <p:cNvPr id="7" name="矩形 6"/>
          <p:cNvSpPr/>
          <p:nvPr/>
        </p:nvSpPr>
        <p:spPr>
          <a:xfrm>
            <a:off x="4718685" y="6916103"/>
            <a:ext cx="779145" cy="3867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700"/>
          </a:p>
        </p:txBody>
      </p:sp>
      <p:sp>
        <p:nvSpPr>
          <p:cNvPr id="190" name="Freeform 30"/>
          <p:cNvSpPr/>
          <p:nvPr>
            <p:custDataLst>
              <p:tags r:id="rId2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custDataLst>
      <p:tags r:id="rId4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GUM</a:t>
            </a:r>
            <a:endParaRPr lang="en-US" altLang="zh-CN" sz="36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3520" y="1895475"/>
            <a:ext cx="12744450" cy="51435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665" y="7205663"/>
            <a:ext cx="5561648" cy="19869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935" y="7970520"/>
            <a:ext cx="3200400" cy="457200"/>
          </a:xfrm>
          <a:prstGeom prst="rect">
            <a:avLst/>
          </a:prstGeom>
        </p:spPr>
      </p:pic>
      <p:sp>
        <p:nvSpPr>
          <p:cNvPr id="10" name="右箭头 9"/>
          <p:cNvSpPr/>
          <p:nvPr/>
        </p:nvSpPr>
        <p:spPr>
          <a:xfrm>
            <a:off x="6765608" y="7834313"/>
            <a:ext cx="1261110" cy="623888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700"/>
          </a:p>
        </p:txBody>
      </p:sp>
      <p:sp>
        <p:nvSpPr>
          <p:cNvPr id="190" name="Freeform 30"/>
          <p:cNvSpPr/>
          <p:nvPr>
            <p:custDataLst>
              <p:tags r:id="rId4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  <p:custDataLst>
      <p:tags r:id="rId6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GUM</a:t>
            </a:r>
            <a:endParaRPr lang="en-US" altLang="zh-CN" sz="3600" b="1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7845" y="1804035"/>
            <a:ext cx="12801600" cy="5772150"/>
          </a:xfrm>
          <a:prstGeom prst="rect">
            <a:avLst/>
          </a:prstGeom>
        </p:spPr>
      </p:pic>
      <p:sp>
        <p:nvSpPr>
          <p:cNvPr id="190" name="Freeform 30"/>
          <p:cNvSpPr/>
          <p:nvPr>
            <p:custDataLst>
              <p:tags r:id="rId2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custDataLst>
      <p:tags r:id="rId4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GUM</a:t>
            </a:r>
            <a:endParaRPr lang="en-US" altLang="zh-CN" sz="3600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3840" y="2105978"/>
            <a:ext cx="7658100" cy="6583680"/>
          </a:xfrm>
          <a:prstGeom prst="rect">
            <a:avLst/>
          </a:prstGeom>
        </p:spPr>
      </p:pic>
      <p:sp>
        <p:nvSpPr>
          <p:cNvPr id="190" name="Freeform 30"/>
          <p:cNvSpPr/>
          <p:nvPr>
            <p:custDataLst>
              <p:tags r:id="rId2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custDataLst>
      <p:tags r:id="rId4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GUM</a:t>
            </a:r>
            <a:endParaRPr lang="en-US" altLang="zh-CN" sz="36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8825" y="1250633"/>
            <a:ext cx="12813030" cy="8778240"/>
          </a:xfrm>
          <a:prstGeom prst="rect">
            <a:avLst/>
          </a:prstGeom>
        </p:spPr>
      </p:pic>
      <p:sp>
        <p:nvSpPr>
          <p:cNvPr id="190" name="Freeform 30"/>
          <p:cNvSpPr/>
          <p:nvPr>
            <p:custDataLst>
              <p:tags r:id="rId2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custDataLst>
      <p:tags r:id="rId4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GUM</a:t>
            </a:r>
            <a:endParaRPr lang="en-US" altLang="zh-CN" sz="3600" b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6380" y="1851660"/>
            <a:ext cx="13808393" cy="7263765"/>
          </a:xfrm>
          <a:prstGeom prst="rect">
            <a:avLst/>
          </a:prstGeom>
        </p:spPr>
      </p:pic>
      <p:sp>
        <p:nvSpPr>
          <p:cNvPr id="190" name="Freeform 30"/>
          <p:cNvSpPr/>
          <p:nvPr>
            <p:custDataLst>
              <p:tags r:id="rId2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custDataLst>
      <p:tags r:id="rId4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Freeform 35"/>
          <p:cNvSpPr/>
          <p:nvPr>
            <p:custDataLst>
              <p:tags r:id="rId1"/>
            </p:custDataLst>
          </p:nvPr>
        </p:nvSpPr>
        <p:spPr>
          <a:xfrm>
            <a:off x="0" y="1"/>
            <a:ext cx="3624132" cy="2858674"/>
          </a:xfrm>
          <a:custGeom>
            <a:avLst/>
            <a:gdLst/>
            <a:ahLst/>
            <a:cxnLst/>
            <a:rect l="l" t="t" r="r" b="b"/>
            <a:pathLst>
              <a:path w="3624132" h="2858674">
                <a:moveTo>
                  <a:pt x="0" y="0"/>
                </a:moveTo>
                <a:lnTo>
                  <a:pt x="3624132" y="0"/>
                </a:lnTo>
                <a:lnTo>
                  <a:pt x="3624132" y="2858675"/>
                </a:lnTo>
                <a:lnTo>
                  <a:pt x="0" y="2858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" name="Group 2"/>
          <p:cNvGrpSpPr/>
          <p:nvPr/>
        </p:nvGrpSpPr>
        <p:grpSpPr>
          <a:xfrm>
            <a:off x="13120137" y="4702694"/>
            <a:ext cx="881613" cy="881613"/>
            <a:chOff x="0" y="0"/>
            <a:chExt cx="1175484" cy="11754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5512" cy="1175512"/>
            </a:xfrm>
            <a:custGeom>
              <a:avLst/>
              <a:gdLst/>
              <a:ahLst/>
              <a:cxnLst/>
              <a:rect l="l" t="t" r="r" b="b"/>
              <a:pathLst>
                <a:path w="1175512" h="1175512">
                  <a:moveTo>
                    <a:pt x="0" y="587756"/>
                  </a:moveTo>
                  <a:cubicBezTo>
                    <a:pt x="0" y="263144"/>
                    <a:pt x="263144" y="0"/>
                    <a:pt x="587756" y="0"/>
                  </a:cubicBezTo>
                  <a:cubicBezTo>
                    <a:pt x="912368" y="0"/>
                    <a:pt x="1175512" y="263144"/>
                    <a:pt x="1175512" y="587756"/>
                  </a:cubicBezTo>
                  <a:cubicBezTo>
                    <a:pt x="1175512" y="912368"/>
                    <a:pt x="912368" y="1175512"/>
                    <a:pt x="587756" y="1175512"/>
                  </a:cubicBezTo>
                  <a:cubicBezTo>
                    <a:pt x="263144" y="1175512"/>
                    <a:pt x="0" y="912368"/>
                    <a:pt x="0" y="5877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0" y="7739793"/>
            <a:ext cx="4166946" cy="2547208"/>
          </a:xfrm>
          <a:custGeom>
            <a:avLst/>
            <a:gdLst/>
            <a:ahLst/>
            <a:cxnLst/>
            <a:rect l="l" t="t" r="r" b="b"/>
            <a:pathLst>
              <a:path w="4166946" h="2547208">
                <a:moveTo>
                  <a:pt x="0" y="0"/>
                </a:moveTo>
                <a:lnTo>
                  <a:pt x="4166946" y="0"/>
                </a:lnTo>
                <a:lnTo>
                  <a:pt x="4166946" y="2547208"/>
                </a:lnTo>
                <a:lnTo>
                  <a:pt x="0" y="25472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351812" y="7673386"/>
            <a:ext cx="2936188" cy="2613614"/>
          </a:xfrm>
          <a:custGeom>
            <a:avLst/>
            <a:gdLst/>
            <a:ahLst/>
            <a:cxnLst/>
            <a:rect l="l" t="t" r="r" b="b"/>
            <a:pathLst>
              <a:path w="2936188" h="2613614">
                <a:moveTo>
                  <a:pt x="0" y="0"/>
                </a:moveTo>
                <a:lnTo>
                  <a:pt x="2936188" y="0"/>
                </a:lnTo>
                <a:lnTo>
                  <a:pt x="2936188" y="2613614"/>
                </a:lnTo>
                <a:lnTo>
                  <a:pt x="0" y="26136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806348" y="-9525"/>
            <a:ext cx="3491176" cy="2688062"/>
          </a:xfrm>
          <a:custGeom>
            <a:avLst/>
            <a:gdLst/>
            <a:ahLst/>
            <a:cxnLst/>
            <a:rect l="l" t="t" r="r" b="b"/>
            <a:pathLst>
              <a:path w="3491176" h="2688062">
                <a:moveTo>
                  <a:pt x="0" y="0"/>
                </a:moveTo>
                <a:lnTo>
                  <a:pt x="3491177" y="0"/>
                </a:lnTo>
                <a:lnTo>
                  <a:pt x="3491177" y="2688062"/>
                </a:lnTo>
                <a:lnTo>
                  <a:pt x="0" y="26880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4881124" y="492074"/>
            <a:ext cx="663678" cy="663678"/>
            <a:chOff x="0" y="0"/>
            <a:chExt cx="884904" cy="8849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84936" cy="884936"/>
            </a:xfrm>
            <a:custGeom>
              <a:avLst/>
              <a:gdLst/>
              <a:ahLst/>
              <a:cxnLst/>
              <a:rect l="l" t="t" r="r" b="b"/>
              <a:pathLst>
                <a:path w="884936" h="884936">
                  <a:moveTo>
                    <a:pt x="0" y="442468"/>
                  </a:moveTo>
                  <a:cubicBezTo>
                    <a:pt x="0" y="198120"/>
                    <a:pt x="198120" y="0"/>
                    <a:pt x="442468" y="0"/>
                  </a:cubicBezTo>
                  <a:cubicBezTo>
                    <a:pt x="686816" y="0"/>
                    <a:pt x="884936" y="198120"/>
                    <a:pt x="884936" y="442468"/>
                  </a:cubicBezTo>
                  <a:cubicBezTo>
                    <a:pt x="884936" y="686816"/>
                    <a:pt x="686816" y="884936"/>
                    <a:pt x="442468" y="884936"/>
                  </a:cubicBezTo>
                  <a:cubicBezTo>
                    <a:pt x="198120" y="884936"/>
                    <a:pt x="0" y="686816"/>
                    <a:pt x="0" y="442468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563274" y="9463088"/>
            <a:ext cx="1713174" cy="762255"/>
          </a:xfrm>
          <a:custGeom>
            <a:avLst/>
            <a:gdLst/>
            <a:ahLst/>
            <a:cxnLst/>
            <a:rect l="l" t="t" r="r" b="b"/>
            <a:pathLst>
              <a:path w="1713174" h="762255">
                <a:moveTo>
                  <a:pt x="0" y="0"/>
                </a:moveTo>
                <a:lnTo>
                  <a:pt x="1713174" y="0"/>
                </a:lnTo>
                <a:lnTo>
                  <a:pt x="1713174" y="762254"/>
                </a:lnTo>
                <a:lnTo>
                  <a:pt x="0" y="7622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05915" y="3362960"/>
            <a:ext cx="14561820" cy="1846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400"/>
              </a:lnSpc>
            </a:pPr>
            <a:r>
              <a:rPr lang="zh-CN" altLang="en-US" sz="12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工作计划与</a:t>
            </a:r>
            <a:r>
              <a:rPr lang="zh-CN" altLang="en-US" sz="12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总结</a:t>
            </a:r>
            <a:endParaRPr lang="zh-CN" altLang="en-US" sz="12000">
              <a:solidFill>
                <a:srgbClr val="356A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7352170" y="2226470"/>
            <a:ext cx="439840" cy="439840"/>
            <a:chOff x="0" y="0"/>
            <a:chExt cx="586454" cy="58645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86486" cy="586486"/>
            </a:xfrm>
            <a:custGeom>
              <a:avLst/>
              <a:gdLst/>
              <a:ahLst/>
              <a:cxnLst/>
              <a:rect l="l" t="t" r="r" b="b"/>
              <a:pathLst>
                <a:path w="586486" h="586486">
                  <a:moveTo>
                    <a:pt x="0" y="293243"/>
                  </a:moveTo>
                  <a:cubicBezTo>
                    <a:pt x="0" y="131318"/>
                    <a:pt x="131318" y="0"/>
                    <a:pt x="293243" y="0"/>
                  </a:cubicBezTo>
                  <a:cubicBezTo>
                    <a:pt x="455168" y="0"/>
                    <a:pt x="586486" y="131318"/>
                    <a:pt x="586486" y="293243"/>
                  </a:cubicBezTo>
                  <a:cubicBezTo>
                    <a:pt x="586486" y="455168"/>
                    <a:pt x="455168" y="586486"/>
                    <a:pt x="293243" y="586486"/>
                  </a:cubicBezTo>
                  <a:cubicBezTo>
                    <a:pt x="131318" y="586486"/>
                    <a:pt x="0" y="455168"/>
                    <a:pt x="0" y="293243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5597742" y="8893346"/>
            <a:ext cx="569742" cy="569742"/>
            <a:chOff x="0" y="0"/>
            <a:chExt cx="759656" cy="75965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59714" cy="759714"/>
            </a:xfrm>
            <a:custGeom>
              <a:avLst/>
              <a:gdLst/>
              <a:ahLst/>
              <a:cxnLst/>
              <a:rect l="l" t="t" r="r" b="b"/>
              <a:pathLst>
                <a:path w="759714" h="759714">
                  <a:moveTo>
                    <a:pt x="0" y="379857"/>
                  </a:moveTo>
                  <a:cubicBezTo>
                    <a:pt x="0" y="170053"/>
                    <a:pt x="170053" y="0"/>
                    <a:pt x="379857" y="0"/>
                  </a:cubicBezTo>
                  <a:cubicBezTo>
                    <a:pt x="589661" y="0"/>
                    <a:pt x="759714" y="170053"/>
                    <a:pt x="759714" y="379857"/>
                  </a:cubicBezTo>
                  <a:cubicBezTo>
                    <a:pt x="759714" y="589661"/>
                    <a:pt x="589661" y="759714"/>
                    <a:pt x="379857" y="759714"/>
                  </a:cubicBezTo>
                  <a:cubicBezTo>
                    <a:pt x="170053" y="759714"/>
                    <a:pt x="0" y="589661"/>
                    <a:pt x="0" y="379857"/>
                  </a:cubicBezTo>
                  <a:close/>
                  <a:moveTo>
                    <a:pt x="189865" y="379857"/>
                  </a:moveTo>
                  <a:cubicBezTo>
                    <a:pt x="189865" y="484759"/>
                    <a:pt x="274955" y="569722"/>
                    <a:pt x="379730" y="569722"/>
                  </a:cubicBezTo>
                  <a:cubicBezTo>
                    <a:pt x="484505" y="569722"/>
                    <a:pt x="569595" y="484632"/>
                    <a:pt x="569595" y="379857"/>
                  </a:cubicBezTo>
                  <a:cubicBezTo>
                    <a:pt x="569595" y="275082"/>
                    <a:pt x="484505" y="189992"/>
                    <a:pt x="379730" y="189992"/>
                  </a:cubicBezTo>
                  <a:cubicBezTo>
                    <a:pt x="274955" y="189992"/>
                    <a:pt x="189865" y="275082"/>
                    <a:pt x="189865" y="379857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492919" y="7834312"/>
            <a:ext cx="885825" cy="885825"/>
            <a:chOff x="0" y="0"/>
            <a:chExt cx="1181100" cy="11811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81100" cy="1181100"/>
            </a:xfrm>
            <a:custGeom>
              <a:avLst/>
              <a:gdLst/>
              <a:ahLst/>
              <a:cxnLst/>
              <a:rect l="l" t="t" r="r" b="b"/>
              <a:pathLst>
                <a:path w="1181100" h="1181100">
                  <a:moveTo>
                    <a:pt x="1181100" y="590550"/>
                  </a:moveTo>
                  <a:cubicBezTo>
                    <a:pt x="1181100" y="264414"/>
                    <a:pt x="916686" y="0"/>
                    <a:pt x="590550" y="0"/>
                  </a:cubicBezTo>
                  <a:cubicBezTo>
                    <a:pt x="264414" y="0"/>
                    <a:pt x="0" y="264414"/>
                    <a:pt x="0" y="590550"/>
                  </a:cubicBezTo>
                  <a:cubicBezTo>
                    <a:pt x="0" y="916686"/>
                    <a:pt x="264414" y="1181100"/>
                    <a:pt x="590550" y="1181100"/>
                  </a:cubicBezTo>
                  <a:cubicBezTo>
                    <a:pt x="916686" y="1181100"/>
                    <a:pt x="1181100" y="916686"/>
                    <a:pt x="1181100" y="590550"/>
                  </a:cubicBezTo>
                  <a:close/>
                </a:path>
              </a:pathLst>
            </a:custGeom>
            <a:solidFill>
              <a:srgbClr val="2C57D4"/>
            </a:solidFill>
          </p:spPr>
        </p:sp>
      </p:grpSp>
      <p:sp>
        <p:nvSpPr>
          <p:cNvPr id="190" name="Freeform 30"/>
          <p:cNvSpPr/>
          <p:nvPr>
            <p:custDataLst>
              <p:tags r:id="rId12"/>
            </p:custDataLst>
          </p:nvPr>
        </p:nvSpPr>
        <p:spPr>
          <a:xfrm>
            <a:off x="304888" y="24906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>
            <a:off x="0" y="9463088"/>
            <a:ext cx="1713174" cy="762255"/>
          </a:xfrm>
          <a:custGeom>
            <a:avLst/>
            <a:gdLst/>
            <a:ahLst/>
            <a:cxnLst/>
            <a:rect l="l" t="t" r="r" b="b"/>
            <a:pathLst>
              <a:path w="1713174" h="762255">
                <a:moveTo>
                  <a:pt x="0" y="0"/>
                </a:moveTo>
                <a:lnTo>
                  <a:pt x="1713174" y="0"/>
                </a:lnTo>
                <a:lnTo>
                  <a:pt x="1713174" y="762254"/>
                </a:lnTo>
                <a:lnTo>
                  <a:pt x="0" y="76225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30"/>
          <p:cNvSpPr txBox="1"/>
          <p:nvPr>
            <p:custDataLst>
              <p:tags r:id="rId3"/>
            </p:custDataLst>
          </p:nvPr>
        </p:nvSpPr>
        <p:spPr>
          <a:xfrm>
            <a:off x="609600" y="1028700"/>
            <a:ext cx="15503525" cy="553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zh-CN" altLang="en-US" sz="3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手头工作</a:t>
            </a:r>
            <a:r>
              <a:rPr lang="zh-CN" altLang="en-US" sz="3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总结</a:t>
            </a:r>
            <a:endParaRPr lang="zh-CN" altLang="en-US" sz="3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30"/>
          <p:cNvSpPr txBox="1"/>
          <p:nvPr>
            <p:custDataLst>
              <p:tags r:id="rId4"/>
            </p:custDataLst>
          </p:nvPr>
        </p:nvSpPr>
        <p:spPr>
          <a:xfrm>
            <a:off x="609600" y="1943100"/>
            <a:ext cx="15503525" cy="2215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任务：</a:t>
            </a:r>
            <a:endParaRPr lang="en-US" altLang="zh-CN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线性代数、矩阵论课程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学习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2. white-transformer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与扩散模型中的低维几何结构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研究方向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入门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3. self-adapting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方向工作（沈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老师）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TextBox 30"/>
          <p:cNvSpPr txBox="1"/>
          <p:nvPr>
            <p:custDataLst>
              <p:tags r:id="rId5"/>
            </p:custDataLst>
          </p:nvPr>
        </p:nvSpPr>
        <p:spPr>
          <a:xfrm>
            <a:off x="609600" y="4519295"/>
            <a:ext cx="15503525" cy="2769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完成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情况：</a:t>
            </a:r>
            <a:endParaRPr lang="en-US" altLang="zh-CN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线性代数课程差两章学习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完成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2. white-transformer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方向阅读了几篇经典论文，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到下次论文分分享进行交流。扩散模型方向暂时还没开始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看。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3.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目前已经完成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docker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环境搭建与机器的配置，准备进行实验复现。论文阅读方向在跟进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LoRA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技术之外的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Efficient CPT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的方法，寻找工业级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efficient training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与灾难性遗忘的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结合点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30"/>
          <p:cNvSpPr/>
          <p:nvPr>
            <p:custDataLst>
              <p:tags r:id="rId6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>
            <a:off x="0" y="9463088"/>
            <a:ext cx="1713174" cy="762255"/>
          </a:xfrm>
          <a:custGeom>
            <a:avLst/>
            <a:gdLst/>
            <a:ahLst/>
            <a:cxnLst/>
            <a:rect l="l" t="t" r="r" b="b"/>
            <a:pathLst>
              <a:path w="1713174" h="762255">
                <a:moveTo>
                  <a:pt x="0" y="0"/>
                </a:moveTo>
                <a:lnTo>
                  <a:pt x="1713174" y="0"/>
                </a:lnTo>
                <a:lnTo>
                  <a:pt x="1713174" y="762254"/>
                </a:lnTo>
                <a:lnTo>
                  <a:pt x="0" y="76225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30"/>
          <p:cNvSpPr txBox="1"/>
          <p:nvPr>
            <p:custDataLst>
              <p:tags r:id="rId3"/>
            </p:custDataLst>
          </p:nvPr>
        </p:nvSpPr>
        <p:spPr>
          <a:xfrm>
            <a:off x="609600" y="1028700"/>
            <a:ext cx="15503525" cy="553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altLang="zh-CN" sz="3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2026</a:t>
            </a:r>
            <a:r>
              <a:rPr lang="zh-CN" altLang="en-US" sz="3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工作</a:t>
            </a:r>
            <a:r>
              <a:rPr lang="zh-CN" altLang="en-US" sz="3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计划</a:t>
            </a:r>
            <a:endParaRPr lang="zh-CN" altLang="en-US" sz="3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0"/>
          <p:cNvSpPr txBox="1"/>
          <p:nvPr>
            <p:custDataLst>
              <p:tags r:id="rId4"/>
            </p:custDataLst>
          </p:nvPr>
        </p:nvSpPr>
        <p:spPr>
          <a:xfrm>
            <a:off x="609600" y="3124200"/>
            <a:ext cx="15503525" cy="553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TextBox 30"/>
          <p:cNvSpPr txBox="1"/>
          <p:nvPr>
            <p:custDataLst>
              <p:tags r:id="rId5"/>
            </p:custDataLst>
          </p:nvPr>
        </p:nvSpPr>
        <p:spPr>
          <a:xfrm>
            <a:off x="609600" y="1852295"/>
            <a:ext cx="15503525" cy="72021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基础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方面：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完成线性代数，矩阵论，最优化理论的课程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学习。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完成李老师翻译的教材的关键章节的阅读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学习。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研究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方面：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完成白盒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transformer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diffusion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几何结构方向的入门，包括文献阅读、问题与方法总结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等。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完成主研究方向内进一步的探索工作。</a:t>
            </a:r>
            <a:endParaRPr lang="en-US" altLang="zh-CN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3.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按照之前的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思路完成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self-adapting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方向的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1~2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工作。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coding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方面：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完成主研究方向的最流行的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code base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熟悉。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通过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self-adapting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的项目掌握最新的学术圈大模型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CPT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的技术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代码。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30"/>
          <p:cNvSpPr/>
          <p:nvPr>
            <p:custDataLst>
              <p:tags r:id="rId6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80.xml><?xml version="1.0" encoding="utf-8"?>
<p:tagLst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81.xml><?xml version="1.0" encoding="utf-8"?>
<p:tagLst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84.xml><?xml version="1.0" encoding="utf-8"?>
<p:tagLst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85.xml><?xml version="1.0" encoding="utf-8"?>
<p:tagLst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COMMONDATA" val="eyJoZGlkIjoiZTNiMmJjMGUyMDNhMGI0MjllZTc4OTE3ODRjOTBjMWQ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2402</Words>
  <Application>WPS 演示</Application>
  <PresentationFormat>自定义</PresentationFormat>
  <Paragraphs>158</Paragraphs>
  <Slides>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49" baseType="lpstr">
      <vt:lpstr>Arial</vt:lpstr>
      <vt:lpstr>宋体</vt:lpstr>
      <vt:lpstr>Wingdings</vt:lpstr>
      <vt:lpstr>微软雅黑</vt:lpstr>
      <vt:lpstr>Times New Roman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蓝色简约商业计划书演示文稿</dc:title>
  <dc:creator>唐玉婵</dc:creator>
  <cp:lastModifiedBy>是她</cp:lastModifiedBy>
  <cp:revision>46</cp:revision>
  <dcterms:created xsi:type="dcterms:W3CDTF">2006-08-16T00:00:00Z</dcterms:created>
  <dcterms:modified xsi:type="dcterms:W3CDTF">2026-03-20T01:14:23Z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A1735CF52F6D4D80BA44C61B7048A70D_12</vt:lpwstr>
  </property>
  <property fmtid="{D5CDD505-2E9C-101B-9397-08002B2CF9AE}" pid="3" name="KSOProductBuildVer">
    <vt:lpwstr>2052-12.1.0.25225</vt:lpwstr>
  </property>
</Properties>
</file>