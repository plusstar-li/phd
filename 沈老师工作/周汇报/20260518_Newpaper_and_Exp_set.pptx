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317" r:id="rId3"/>
    <p:sldId id="316" r:id="rId4"/>
    <p:sldId id="332" r:id="rId5"/>
    <p:sldId id="333" r:id="rId6"/>
    <p:sldId id="334" r:id="rId7"/>
    <p:sldId id="335" r:id="rId9"/>
    <p:sldId id="337" r:id="rId10"/>
    <p:sldId id="336" r:id="rId11"/>
    <p:sldId id="338" r:id="rId12"/>
    <p:sldId id="339" r:id="rId13"/>
    <p:sldId id="340" r:id="rId14"/>
    <p:sldId id="331" r:id="rId15"/>
    <p:sldId id="341" r:id="rId16"/>
    <p:sldId id="342" r:id="rId17"/>
    <p:sldId id="318" r:id="rId18"/>
    <p:sldId id="319" r:id="rId19"/>
    <p:sldId id="320" r:id="rId20"/>
    <p:sldId id="321" r:id="rId21"/>
    <p:sldId id="322" r:id="rId22"/>
    <p:sldId id="323" r:id="rId23"/>
    <p:sldId id="324" r:id="rId24"/>
    <p:sldId id="325" r:id="rId25"/>
    <p:sldId id="326" r:id="rId26"/>
    <p:sldId id="327" r:id="rId27"/>
    <p:sldId id="328" r:id="rId28"/>
    <p:sldId id="329" r:id="rId29"/>
    <p:sldId id="330" r:id="rId30"/>
    <p:sldId id="283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6"/>
        <p:guide pos="383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6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7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8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9.xml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70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1.xml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2.xml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3.xml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4.xml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5.xml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6.xml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7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8.xml"/><Relationship Id="rId2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9.xml"/><Relationship Id="rId2" Type="http://schemas.openxmlformats.org/officeDocument/2006/relationships/image" Target="../media/image2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0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1.xml"/><Relationship Id="rId2" Type="http://schemas.openxmlformats.org/officeDocument/2006/relationships/image" Target="../media/image23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2.xml"/><Relationship Id="rId2" Type="http://schemas.openxmlformats.org/officeDocument/2006/relationships/image" Target="../media/image24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3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4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5.xml"/><Relationship Id="rId2" Type="http://schemas.openxmlformats.org/officeDocument/2006/relationships/image" Target="../media/image27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6.xml"/><Relationship Id="rId2" Type="http://schemas.openxmlformats.org/officeDocument/2006/relationships/image" Target="../media/image28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7.xml"/><Relationship Id="rId2" Type="http://schemas.openxmlformats.org/officeDocument/2006/relationships/image" Target="../media/image29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8.xml"/><Relationship Id="rId2" Type="http://schemas.openxmlformats.org/officeDocument/2006/relationships/image" Target="../media/image30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9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0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Summary</a:t>
            </a:r>
            <a:endParaRPr lang="en-US" altLang="zh-CN" sz="2400" b="1"/>
          </a:p>
        </p:txBody>
      </p:sp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45440" y="920750"/>
            <a:ext cx="83496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2000"/>
              <a:t>1. </a:t>
            </a:r>
            <a:r>
              <a:rPr lang="zh-CN" altLang="en-US" sz="2000"/>
              <a:t>完成</a:t>
            </a:r>
            <a:r>
              <a:rPr lang="en-US" altLang="zh-CN" sz="2000"/>
              <a:t>SEAL</a:t>
            </a:r>
            <a:r>
              <a:rPr lang="zh-CN" altLang="en-US" sz="2000"/>
              <a:t>实验的再次环境搭建和实验</a:t>
            </a:r>
            <a:r>
              <a:rPr lang="zh-CN" altLang="en-US" sz="2000"/>
              <a:t>复现。</a:t>
            </a:r>
            <a:endParaRPr lang="zh-CN" altLang="en-US" sz="2000"/>
          </a:p>
          <a:p>
            <a:pPr indent="0" fontAlgn="auto">
              <a:lnSpc>
                <a:spcPct val="150000"/>
              </a:lnSpc>
            </a:pPr>
            <a:r>
              <a:rPr lang="en-US" altLang="zh-CN" sz="2000"/>
              <a:t>2. </a:t>
            </a:r>
            <a:r>
              <a:rPr lang="zh-CN" altLang="en-US" sz="2000"/>
              <a:t>回顾</a:t>
            </a:r>
            <a:r>
              <a:rPr lang="zh-CN" altLang="en-US" sz="2000">
                <a:sym typeface="+mn-ea"/>
              </a:rPr>
              <a:t>复习了一下之前阅读论文的</a:t>
            </a:r>
            <a:r>
              <a:rPr lang="zh-CN" altLang="en-US" sz="2000">
                <a:sym typeface="+mn-ea"/>
              </a:rPr>
              <a:t>内容。</a:t>
            </a:r>
            <a:endParaRPr lang="zh-CN" altLang="en-US" sz="2000"/>
          </a:p>
          <a:p>
            <a:pPr indent="0" fontAlgn="auto">
              <a:lnSpc>
                <a:spcPct val="150000"/>
              </a:lnSpc>
            </a:pPr>
            <a:r>
              <a:rPr lang="en-US" altLang="zh-CN" sz="2000"/>
              <a:t>3. </a:t>
            </a:r>
            <a:r>
              <a:rPr lang="zh-CN" altLang="en-US" sz="2000">
                <a:sym typeface="+mn-ea"/>
              </a:rPr>
              <a:t>阅读了</a:t>
            </a:r>
            <a:r>
              <a:rPr lang="en-US" altLang="zh-CN" sz="2000">
                <a:sym typeface="+mn-ea"/>
              </a:rPr>
              <a:t>GORP</a:t>
            </a:r>
            <a:r>
              <a:rPr lang="zh-CN" altLang="en-US" sz="2000">
                <a:sym typeface="+mn-ea"/>
              </a:rPr>
              <a:t>和自进化领域最新的论文。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9241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Continual Gradient Low-Rank Projection Fine-Tuning for LLMs</a:t>
            </a:r>
            <a:endParaRPr lang="en-US" altLang="zh-CN" sz="2400" b="1"/>
          </a:p>
        </p:txBody>
      </p:sp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45440" y="920750"/>
            <a:ext cx="895667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2000"/>
              <a:t>Motivation</a:t>
            </a:r>
            <a:r>
              <a:rPr lang="zh-CN" altLang="en-US" sz="2000"/>
              <a:t>：现有的梯度投影法（如 </a:t>
            </a:r>
            <a:r>
              <a:rPr lang="en-US" altLang="zh-CN" sz="2000"/>
              <a:t>O-LORA </a:t>
            </a:r>
            <a:r>
              <a:rPr lang="zh-CN" altLang="en-US" sz="2000"/>
              <a:t>等）通过对参数施加显式的正交正则化约束来防止旧任务梯度冲突 。这极难捕捉跨任务的共享特征，而且任务规模增大是正交空间变小，容易导致后续任务训练</a:t>
            </a:r>
            <a:r>
              <a:rPr lang="zh-CN" altLang="en-US" sz="2000"/>
              <a:t>崩溃 。</a:t>
            </a:r>
            <a:endParaRPr lang="zh-CN" altLang="en-US" sz="20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10" y="3006725"/>
            <a:ext cx="4462780" cy="35972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9241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Continual Gradient Low-Rank Projection Fine-Tuning for LLMs</a:t>
            </a:r>
            <a:endParaRPr lang="en-US" altLang="zh-CN" sz="24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160780"/>
            <a:ext cx="11734800" cy="51358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9241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Continual Gradient Low-Rank Projection Fine-Tuning for LLMs</a:t>
            </a:r>
            <a:endParaRPr lang="en-US" altLang="zh-CN" sz="2400" b="1"/>
          </a:p>
        </p:txBody>
      </p:sp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415" y="1149985"/>
            <a:ext cx="3589020" cy="52959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081010" y="2493010"/>
            <a:ext cx="24707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S</a:t>
            </a:r>
            <a:r>
              <a:rPr lang="zh-CN" altLang="en-US">
                <a:solidFill>
                  <a:srgbClr val="FF0000"/>
                </a:solidFill>
              </a:rPr>
              <a:t>可以看作历史任务的元特征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9241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Continual Gradient Low-Rank Projection Fine-Tuning for LLMs</a:t>
            </a:r>
            <a:endParaRPr lang="en-US" altLang="zh-CN" sz="2400" b="1"/>
          </a:p>
        </p:txBody>
      </p:sp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0" y="1034415"/>
            <a:ext cx="4899660" cy="19812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15" y="3429000"/>
            <a:ext cx="4876800" cy="20497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100" y="1619250"/>
            <a:ext cx="4907280" cy="4572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4855" y="2715260"/>
            <a:ext cx="4953000" cy="36957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5737225" y="2631440"/>
            <a:ext cx="5473065" cy="394906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921125" y="6141720"/>
            <a:ext cx="2089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FF0000"/>
                </a:solidFill>
              </a:rPr>
              <a:t>同</a:t>
            </a:r>
            <a:r>
              <a:rPr lang="en-US" altLang="zh-CN">
                <a:solidFill>
                  <a:srgbClr val="FF0000"/>
                </a:solidFill>
              </a:rPr>
              <a:t>GaLore</a:t>
            </a:r>
            <a:endParaRPr lang="en-US" altLang="zh-CN">
              <a:solidFill>
                <a:srgbClr val="FF0000"/>
              </a:solidFill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9241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Continual Gradient Low-Rank Projection Fine-Tuning for LLMs</a:t>
            </a:r>
            <a:endParaRPr lang="en-US" altLang="zh-CN" sz="2400" b="1"/>
          </a:p>
        </p:txBody>
      </p:sp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150" y="772795"/>
            <a:ext cx="2887980" cy="61188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9241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Continual Gradient Low-Rank Projection Fine-Tuning for LLMs</a:t>
            </a:r>
            <a:endParaRPr lang="en-US" altLang="zh-CN" sz="2400" b="1"/>
          </a:p>
        </p:txBody>
      </p:sp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740" y="986790"/>
            <a:ext cx="8755380" cy="56692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9241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Continual Gradient Low-Rank Projection Fine-Tuning for LLMs</a:t>
            </a:r>
            <a:endParaRPr lang="en-US" altLang="zh-CN" sz="2400" b="1"/>
          </a:p>
        </p:txBody>
      </p:sp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85" y="2312670"/>
            <a:ext cx="5934710" cy="32353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2088515"/>
            <a:ext cx="4419600" cy="40309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9241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Continual Gradient Low-Rank Projection Fine-Tuning for LLMs</a:t>
            </a:r>
            <a:endParaRPr lang="en-US" altLang="zh-CN" sz="2400" b="1"/>
          </a:p>
        </p:txBody>
      </p:sp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390" y="914400"/>
            <a:ext cx="8999220" cy="57912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9241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Continual Gradient Low-Rank Projection Fine-Tuning for LLMs</a:t>
            </a:r>
            <a:endParaRPr lang="en-US" altLang="zh-CN" sz="2400" b="1"/>
          </a:p>
        </p:txBody>
      </p:sp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780" y="1393825"/>
            <a:ext cx="5647055" cy="509778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539480" y="2597150"/>
            <a:ext cx="2089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FF0000"/>
                </a:solidFill>
              </a:rPr>
              <a:t>这里</a:t>
            </a:r>
            <a:r>
              <a:rPr lang="en-US" altLang="zh-CN">
                <a:solidFill>
                  <a:srgbClr val="FF0000"/>
                </a:solidFill>
              </a:rPr>
              <a:t>B</a:t>
            </a:r>
            <a:r>
              <a:rPr lang="zh-CN" altLang="en-US">
                <a:solidFill>
                  <a:srgbClr val="FF0000"/>
                </a:solidFill>
              </a:rPr>
              <a:t>是</a:t>
            </a:r>
            <a:r>
              <a:rPr lang="en-US" altLang="zh-CN">
                <a:solidFill>
                  <a:srgbClr val="FF0000"/>
                </a:solidFill>
              </a:rPr>
              <a:t>O-LoRA</a:t>
            </a:r>
            <a:endParaRPr lang="en-US" altLang="zh-CN">
              <a:solidFill>
                <a:srgbClr val="FF0000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9241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Continual Gradient Low-Rank Projection Fine-Tuning for LLMs</a:t>
            </a:r>
            <a:endParaRPr lang="en-US" altLang="zh-CN" sz="2400" b="1"/>
          </a:p>
        </p:txBody>
      </p:sp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525" y="1346835"/>
            <a:ext cx="6383655" cy="49707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84766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Search over Self-Edit Strategies for LLM Adaptation</a:t>
            </a:r>
            <a:endParaRPr lang="en-US" altLang="zh-CN" sz="2400" b="1"/>
          </a:p>
        </p:txBody>
      </p:sp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185" y="2433320"/>
            <a:ext cx="5181600" cy="36576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45440" y="920750"/>
            <a:ext cx="89566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2000"/>
              <a:t>Motivation</a:t>
            </a:r>
            <a:r>
              <a:rPr lang="zh-CN" altLang="en-US" sz="2000"/>
              <a:t>：</a:t>
            </a:r>
            <a:r>
              <a:rPr lang="en-US" altLang="zh-CN" sz="2000"/>
              <a:t>GaLore</a:t>
            </a:r>
            <a:r>
              <a:rPr lang="zh-CN" altLang="en-US" sz="2000"/>
              <a:t>系列方法</a:t>
            </a:r>
            <a:r>
              <a:rPr lang="en-US" altLang="zh-CN" sz="2000"/>
              <a:t>SVD</a:t>
            </a:r>
            <a:r>
              <a:rPr lang="zh-CN" altLang="en-US" sz="2000"/>
              <a:t>的计算是周期性的，不是连续的，迭代更新会存在滞后性和不一致性；再者计算一次全权重的</a:t>
            </a:r>
            <a:r>
              <a:rPr lang="en-US" altLang="zh-CN" sz="2000"/>
              <a:t>SVD</a:t>
            </a:r>
            <a:r>
              <a:rPr lang="zh-CN" altLang="en-US" sz="2000"/>
              <a:t>太慢。</a:t>
            </a:r>
            <a:endParaRPr lang="zh-CN" altLang="en-US" sz="2000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84766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Search over Self-Edit Strategies for LLM Adaptation</a:t>
            </a:r>
            <a:endParaRPr lang="en-US" altLang="zh-CN" sz="2400" b="1"/>
          </a:p>
        </p:txBody>
      </p:sp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165" y="1573530"/>
            <a:ext cx="5372100" cy="44958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84766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Search over Self-Edit Strategies for LLM Adaptation</a:t>
            </a:r>
            <a:endParaRPr lang="en-US" altLang="zh-CN" sz="2400" b="1"/>
          </a:p>
        </p:txBody>
      </p:sp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355" y="2912110"/>
            <a:ext cx="9067800" cy="20040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84766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Search over Self-Edit Strategies for LLM Adaptation</a:t>
            </a:r>
            <a:endParaRPr lang="en-US" altLang="zh-CN" sz="2400" b="1"/>
          </a:p>
        </p:txBody>
      </p:sp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365" y="945515"/>
            <a:ext cx="9372600" cy="26212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675" y="3566795"/>
            <a:ext cx="8983980" cy="32232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84766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Search over Self-Edit Strategies for LLM Adaptation</a:t>
            </a:r>
            <a:endParaRPr lang="en-US" altLang="zh-CN" sz="2400" b="1"/>
          </a:p>
        </p:txBody>
      </p:sp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b="31985"/>
          <a:stretch>
            <a:fillRect/>
          </a:stretch>
        </p:blipFill>
        <p:spPr>
          <a:xfrm>
            <a:off x="1172845" y="2470785"/>
            <a:ext cx="8716645" cy="30632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84766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Search over Self-Edit Strategies for LLM Adaptation</a:t>
            </a:r>
            <a:endParaRPr lang="en-US" altLang="zh-CN" sz="2400" b="1"/>
          </a:p>
        </p:txBody>
      </p:sp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805" y="772795"/>
            <a:ext cx="8825865" cy="588391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84766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EVOLVER: SELF-EVOLVING LLM AGENTS THROUGH</a:t>
            </a:r>
            <a:endParaRPr lang="en-US" altLang="zh-CN" sz="2400" b="1"/>
          </a:p>
          <a:p>
            <a:r>
              <a:rPr lang="en-US" altLang="zh-CN" sz="2400" b="1"/>
              <a:t>AN EXPERIENCE-DRIVEN LIFECYCLE</a:t>
            </a:r>
            <a:endParaRPr lang="en-US" altLang="zh-CN" sz="2400" b="1"/>
          </a:p>
        </p:txBody>
      </p:sp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45440" y="1142365"/>
            <a:ext cx="961517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2000"/>
              <a:t>Motivation</a:t>
            </a:r>
            <a:r>
              <a:rPr lang="zh-CN" altLang="en-US" sz="2000"/>
              <a:t>：</a:t>
            </a:r>
            <a:endParaRPr lang="zh-CN" altLang="en-US" sz="2000"/>
          </a:p>
          <a:p>
            <a:pPr indent="0" fontAlgn="auto">
              <a:lnSpc>
                <a:spcPct val="150000"/>
              </a:lnSpc>
            </a:pPr>
            <a:r>
              <a:rPr lang="en-US" altLang="zh-CN" sz="2000"/>
              <a:t>1</a:t>
            </a:r>
            <a:r>
              <a:rPr lang="zh-CN" altLang="en-US" sz="2000"/>
              <a:t>）智能体将每次任务都视为独立的事件，无法从过去的成功中吸取经验，也无法在未来的任务中主动避免犯过的错误 。</a:t>
            </a:r>
            <a:endParaRPr lang="zh-CN" altLang="en-US" sz="2000"/>
          </a:p>
          <a:p>
            <a:pPr indent="0" fontAlgn="auto">
              <a:lnSpc>
                <a:spcPct val="150000"/>
              </a:lnSpc>
            </a:pPr>
            <a:r>
              <a:rPr lang="en-US" altLang="zh-CN" sz="2000"/>
              <a:t>2</a:t>
            </a:r>
            <a:r>
              <a:rPr lang="zh-CN" altLang="en-US" sz="2000"/>
              <a:t>）现有研究让智能体保存原始对话上下文或者通过一个更强大的外部“教师模型”来帮它做反思</a:t>
            </a:r>
            <a:r>
              <a:rPr lang="en-US" altLang="zh-CN" sz="2000"/>
              <a:t>，</a:t>
            </a:r>
            <a:r>
              <a:rPr lang="zh-CN" altLang="en-US" sz="2000"/>
              <a:t>但这要么导致模型只会机械模仿、缺乏抽象泛化能力，要么过于依赖外部模型，无法改变智能体本身的内在策略。</a:t>
            </a:r>
            <a:endParaRPr lang="zh-CN" altLang="en-US" sz="2000"/>
          </a:p>
          <a:p>
            <a:pPr indent="0" fontAlgn="auto">
              <a:lnSpc>
                <a:spcPct val="150000"/>
              </a:lnSpc>
            </a:pPr>
            <a:r>
              <a:rPr lang="en-US" altLang="zh-CN" sz="2000"/>
              <a:t>3</a:t>
            </a:r>
            <a:r>
              <a:rPr lang="zh-CN" altLang="en-US" sz="2000"/>
              <a:t>）部分工程实践通过挂载历史数据或者其他来源数据的</a:t>
            </a:r>
            <a:r>
              <a:rPr lang="en-US" altLang="zh-CN" sz="2000"/>
              <a:t>RAG</a:t>
            </a:r>
            <a:r>
              <a:rPr lang="zh-CN" altLang="en-US" sz="2000"/>
              <a:t>来扩充知识，但是这仍然无法利用模型自身的</a:t>
            </a:r>
            <a:r>
              <a:rPr lang="en-US" altLang="zh-CN" sz="2000"/>
              <a:t>“</a:t>
            </a:r>
            <a:r>
              <a:rPr lang="zh-CN" altLang="en-US" sz="2000"/>
              <a:t>解题思路</a:t>
            </a:r>
            <a:r>
              <a:rPr lang="en-US" altLang="zh-CN" sz="2000"/>
              <a:t>”</a:t>
            </a:r>
            <a:r>
              <a:rPr lang="zh-CN" altLang="en-US" sz="2000"/>
              <a:t>或者</a:t>
            </a:r>
            <a:r>
              <a:rPr lang="en-US" altLang="zh-CN" sz="2000"/>
              <a:t>“</a:t>
            </a:r>
            <a:r>
              <a:rPr lang="zh-CN" altLang="en-US" sz="2000"/>
              <a:t>解题流程</a:t>
            </a:r>
            <a:r>
              <a:rPr lang="en-US" altLang="zh-CN" sz="2000"/>
              <a:t>”</a:t>
            </a:r>
            <a:r>
              <a:rPr lang="zh-CN" altLang="en-US" sz="2000"/>
              <a:t>中学习，而且知识</a:t>
            </a:r>
            <a:r>
              <a:rPr lang="zh-CN" altLang="en-US" sz="2000"/>
              <a:t>同样无法抽象</a:t>
            </a:r>
            <a:r>
              <a:rPr lang="zh-CN" altLang="en-US" sz="2000"/>
              <a:t>泛化。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84766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EVOLVER: SELF-EVOLVING LLM AGENTS THROUGH</a:t>
            </a:r>
            <a:endParaRPr lang="en-US" altLang="zh-CN" sz="2400" b="1"/>
          </a:p>
          <a:p>
            <a:r>
              <a:rPr lang="en-US" altLang="zh-CN" sz="2400" b="1"/>
              <a:t>AN EXPERIENCE-DRIVEN LIFECYCLE</a:t>
            </a:r>
            <a:endParaRPr lang="en-US" altLang="zh-CN" sz="2400" b="1"/>
          </a:p>
        </p:txBody>
      </p:sp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225" y="1059180"/>
            <a:ext cx="7810500" cy="57988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84766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EVOLVER: SELF-EVOLVING LLM AGENTS THROUGH</a:t>
            </a:r>
            <a:endParaRPr lang="en-US" altLang="zh-CN" sz="2400" b="1"/>
          </a:p>
          <a:p>
            <a:r>
              <a:rPr lang="en-US" altLang="zh-CN" sz="2400" b="1"/>
              <a:t>AN EXPERIENCE-DRIVEN LIFECYCLE</a:t>
            </a:r>
            <a:endParaRPr lang="en-US" altLang="zh-CN" sz="2400" b="1"/>
          </a:p>
        </p:txBody>
      </p:sp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r="6842"/>
          <a:stretch>
            <a:fillRect/>
          </a:stretch>
        </p:blipFill>
        <p:spPr>
          <a:xfrm>
            <a:off x="594360" y="1854835"/>
            <a:ext cx="10115550" cy="46405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84766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EVOLVER: SELF-EVOLVING LLM AGENTS THROUGH</a:t>
            </a:r>
            <a:endParaRPr lang="en-US" altLang="zh-CN" sz="2400" b="1"/>
          </a:p>
          <a:p>
            <a:r>
              <a:rPr lang="en-US" altLang="zh-CN" sz="2400" b="1"/>
              <a:t>AN EXPERIENCE-DRIVEN LIFECYCLE</a:t>
            </a:r>
            <a:endParaRPr lang="en-US" altLang="zh-CN" sz="2400" b="1"/>
          </a:p>
        </p:txBody>
      </p:sp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45440" y="1142365"/>
            <a:ext cx="961517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1. Offline Experience Self-Distillation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zh-CN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2. Online Interaction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3. Policy Evolution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84766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EVOLVER: SELF-EVOLVING LLM AGENTS THROUGH</a:t>
            </a:r>
            <a:endParaRPr lang="en-US" altLang="zh-CN" sz="2400" b="1"/>
          </a:p>
          <a:p>
            <a:r>
              <a:rPr lang="en-US" altLang="zh-CN" sz="2400" b="1"/>
              <a:t>AN EXPERIENCE-DRIVEN LIFECYCLE</a:t>
            </a:r>
            <a:endParaRPr lang="en-US" altLang="zh-CN" sz="2400" b="1"/>
          </a:p>
        </p:txBody>
      </p:sp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45440" y="1142365"/>
            <a:ext cx="7402195" cy="4846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1. Offline Experience Self-Distillation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/>
              <a:t> </a:t>
            </a:r>
            <a:r>
              <a:rPr lang="zh-CN" altLang="en-US"/>
              <a:t>双重原则提取：从成功轨迹中提取指导原则</a:t>
            </a:r>
            <a:r>
              <a:rPr lang="en-US" altLang="zh-CN"/>
              <a:t>；</a:t>
            </a:r>
            <a:r>
              <a:rPr lang="zh-CN" altLang="en-US"/>
              <a:t>从失败轨迹中提取警示原则</a:t>
            </a:r>
            <a:r>
              <a:rPr lang="en-US" altLang="zh-CN"/>
              <a:t> 。  </a:t>
            </a:r>
            <a:endParaRPr lang="en-US" altLang="zh-CN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结构化表示：每个原则都由一句话的“自然语言描述”和一组“结构化的三元组（主语、谓语、宾语）”组成 。  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去重与融合：利用模型进行语义等价性检查 。如果是全新经验则作为新条目加入；如果是已有经验，则将新轨迹合并至旧原则下，以此丰富证据链并防止数据冗余 。  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动态评分与剪枝（质量控制）：每个原则都会记录其历史的“使用次数”和“成功次数”并进行动态打分，定期清理掉低于阈值、表现不佳或过于模糊的“劣质原则” 。  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2420" y="2033270"/>
            <a:ext cx="4259580" cy="44577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8930" y="5988685"/>
            <a:ext cx="2354580" cy="647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84766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EVOLVER: SELF-EVOLVING LLM AGENTS THROUGH</a:t>
            </a:r>
            <a:endParaRPr lang="en-US" altLang="zh-CN" sz="2400" b="1"/>
          </a:p>
          <a:p>
            <a:r>
              <a:rPr lang="en-US" altLang="zh-CN" sz="2400" b="1"/>
              <a:t>AN EXPERIENCE-DRIVEN LIFECYCLE</a:t>
            </a:r>
            <a:endParaRPr lang="en-US" altLang="zh-CN" sz="2400" b="1"/>
          </a:p>
        </p:txBody>
      </p:sp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45440" y="1142365"/>
            <a:ext cx="983996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2. Online Interaction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/>
              <a:t> </a:t>
            </a:r>
            <a:r>
              <a:rPr lang="zh-CN" altLang="en-US"/>
              <a:t>在实际解题时，智能体不仅能调用外部知识库（&lt;</a:t>
            </a:r>
            <a:r>
              <a:rPr lang="en-US" altLang="zh-CN"/>
              <a:t>search_knowledge&gt;），</a:t>
            </a:r>
            <a:r>
              <a:rPr lang="zh-CN" altLang="en-US"/>
              <a:t>还可以随时发起 &lt;</a:t>
            </a:r>
            <a:r>
              <a:rPr lang="en-US" altLang="zh-CN"/>
              <a:t>search_experience&gt; </a:t>
            </a:r>
            <a:r>
              <a:rPr lang="zh-CN" altLang="en-US"/>
              <a:t>动作用于检索自己的经验库 。 检索出来的原则充当了启发式策略向导 。</a:t>
            </a:r>
            <a:r>
              <a:rPr lang="zh-CN" altLang="en-US">
                <a:solidFill>
                  <a:schemeClr val="accent1"/>
                </a:solidFill>
              </a:rPr>
              <a:t>例如，当它检索到一条原则说“对于对比类问题，在得出结论前必须收集齐两个对比项的数据”，这个经验就会直接改变它接下来的内部思考（&lt;</a:t>
            </a:r>
            <a:r>
              <a:rPr lang="en-US" altLang="zh-CN">
                <a:solidFill>
                  <a:schemeClr val="accent1"/>
                </a:solidFill>
              </a:rPr>
              <a:t>think&gt;）</a:t>
            </a:r>
            <a:r>
              <a:rPr lang="zh-CN" altLang="en-US">
                <a:solidFill>
                  <a:schemeClr val="accent1"/>
                </a:solidFill>
              </a:rPr>
              <a:t>和搜寻工具的决策，从而避免踩坑 。 </a:t>
            </a:r>
            <a:r>
              <a:rPr lang="zh-CN" altLang="en-US"/>
              <a:t> 因为有优秀原则的指导，在线阶段产生的新互动轨迹质量更高，能够为下一轮离线反思提供更具价值的数据 。 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135" y="4280535"/>
            <a:ext cx="5867400" cy="22479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84766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EVOLVER: SELF-EVOLVING LLM AGENTS THROUGH</a:t>
            </a:r>
            <a:endParaRPr lang="en-US" altLang="zh-CN" sz="2400" b="1"/>
          </a:p>
          <a:p>
            <a:r>
              <a:rPr lang="en-US" altLang="zh-CN" sz="2400" b="1"/>
              <a:t>AN EXPERIENCE-DRIVEN LIFECYCLE</a:t>
            </a:r>
            <a:endParaRPr lang="en-US" altLang="zh-CN" sz="2400" b="1"/>
          </a:p>
        </p:txBody>
      </p:sp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45440" y="1142365"/>
            <a:ext cx="9839960" cy="1522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3. Policy Evolution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这是闭环的核心。系统收集在线阶段的轨迹数据，利用</a:t>
            </a:r>
            <a:r>
              <a:rPr lang="en-US" altLang="zh-CN"/>
              <a:t>RL</a:t>
            </a:r>
            <a:r>
              <a:rPr lang="zh-CN" altLang="en-US"/>
              <a:t>来真正更新大模型的</a:t>
            </a:r>
            <a:r>
              <a:rPr lang="en-US"/>
              <a:t>Weight</a:t>
            </a:r>
            <a:r>
              <a:rPr lang="en-US" altLang="zh-CN"/>
              <a:t>，</a:t>
            </a:r>
            <a:r>
              <a:rPr lang="zh-CN" altLang="en-US"/>
              <a:t>将外部经验内化为模型自身的本能 。</a:t>
            </a:r>
            <a:r>
              <a:rPr lang="zh-CN" altLang="en-US" sz="2000"/>
              <a:t> </a:t>
            </a:r>
            <a:endParaRPr lang="zh-CN" altLang="en-US" sz="2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835" y="2664460"/>
            <a:ext cx="9128760" cy="37871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84766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EVOLVER: SELF-EVOLVING LLM AGENTS THROUGH</a:t>
            </a:r>
            <a:endParaRPr lang="en-US" altLang="zh-CN" sz="2400" b="1"/>
          </a:p>
          <a:p>
            <a:r>
              <a:rPr lang="en-US" altLang="zh-CN" sz="2400" b="1"/>
              <a:t>AN EXPERIENCE-DRIVEN LIFECYCLE</a:t>
            </a:r>
            <a:endParaRPr lang="en-US" altLang="zh-CN" sz="2400" b="1"/>
          </a:p>
        </p:txBody>
      </p:sp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310" y="1080770"/>
            <a:ext cx="7221220" cy="57124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84766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EVOLVER: SELF-EVOLVING LLM AGENTS THROUGH</a:t>
            </a:r>
            <a:endParaRPr lang="en-US" altLang="zh-CN" sz="2400" b="1"/>
          </a:p>
          <a:p>
            <a:r>
              <a:rPr lang="en-US" altLang="zh-CN" sz="2400" b="1"/>
              <a:t>AN EXPERIENCE-DRIVEN LIFECYCLE</a:t>
            </a:r>
            <a:endParaRPr lang="en-US" altLang="zh-CN" sz="2400" b="1"/>
          </a:p>
        </p:txBody>
      </p:sp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80" y="2071370"/>
            <a:ext cx="7620000" cy="31623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84766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EVOLVER: SELF-EVOLVING LLM AGENTS THROUGH</a:t>
            </a:r>
            <a:endParaRPr lang="en-US" altLang="zh-CN" sz="2400" b="1"/>
          </a:p>
          <a:p>
            <a:r>
              <a:rPr lang="en-US" altLang="zh-CN" sz="2400" b="1"/>
              <a:t>AN EXPERIENCE-DRIVEN LIFECYCLE</a:t>
            </a:r>
            <a:endParaRPr lang="en-US" altLang="zh-CN" sz="2400" b="1"/>
          </a:p>
        </p:txBody>
      </p:sp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700" y="1308100"/>
            <a:ext cx="7696200" cy="3124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8420" y="4702810"/>
            <a:ext cx="5410200" cy="17602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下周工作</a:t>
            </a:r>
            <a:endParaRPr lang="zh-CN" altLang="en-US" sz="2400" b="1"/>
          </a:p>
        </p:txBody>
      </p:sp>
      <p:sp>
        <p:nvSpPr>
          <p:cNvPr id="3" name="文本框 2"/>
          <p:cNvSpPr txBox="1"/>
          <p:nvPr/>
        </p:nvSpPr>
        <p:spPr>
          <a:xfrm>
            <a:off x="345440" y="920750"/>
            <a:ext cx="83496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2000"/>
              <a:t>1. </a:t>
            </a:r>
            <a:r>
              <a:rPr lang="zh-CN" altLang="en-US" sz="2000"/>
              <a:t>完成代码迁移工作。（</a:t>
            </a:r>
            <a:r>
              <a:rPr lang="en-US" altLang="zh-CN" sz="2000"/>
              <a:t>autodl</a:t>
            </a:r>
            <a:r>
              <a:rPr lang="zh-CN" altLang="en-US" sz="2000"/>
              <a:t>平台）</a:t>
            </a:r>
            <a:endParaRPr lang="zh-CN" altLang="en-US" sz="2000"/>
          </a:p>
          <a:p>
            <a:pPr indent="0" fontAlgn="auto">
              <a:lnSpc>
                <a:spcPct val="150000"/>
              </a:lnSpc>
            </a:pPr>
            <a:r>
              <a:rPr lang="en-US" altLang="zh-CN" sz="2000"/>
              <a:t>2. </a:t>
            </a:r>
            <a:r>
              <a:rPr lang="zh-CN" altLang="en-US" sz="2000"/>
              <a:t>完成</a:t>
            </a:r>
            <a:r>
              <a:rPr lang="en-US" altLang="zh-CN" sz="2000"/>
              <a:t>RL + </a:t>
            </a:r>
            <a:r>
              <a:rPr lang="zh-CN" altLang="en-US" sz="2000"/>
              <a:t>历史任务验证损失</a:t>
            </a:r>
            <a:r>
              <a:rPr lang="en-US" altLang="zh-CN" sz="2000"/>
              <a:t> </a:t>
            </a:r>
            <a:r>
              <a:rPr lang="zh-CN" altLang="en-US" sz="2000"/>
              <a:t>方案的设计</a:t>
            </a:r>
            <a:r>
              <a:rPr lang="zh-CN" altLang="en-US" sz="2000"/>
              <a:t>和实验</a:t>
            </a:r>
            <a:r>
              <a:rPr lang="zh-CN" altLang="en-US" sz="2000"/>
              <a:t>代码。</a:t>
            </a:r>
            <a:endParaRPr lang="zh-CN" altLang="en-US" sz="2000"/>
          </a:p>
          <a:p>
            <a:pPr indent="0" fontAlgn="auto">
              <a:lnSpc>
                <a:spcPct val="150000"/>
              </a:lnSpc>
            </a:pPr>
            <a:r>
              <a:rPr lang="en-US" altLang="zh-CN" sz="2000"/>
              <a:t>3. </a:t>
            </a:r>
            <a:r>
              <a:rPr lang="zh-CN" altLang="en-US" sz="2000"/>
              <a:t>继续阅读</a:t>
            </a:r>
            <a:r>
              <a:rPr lang="zh-CN" altLang="en-US" sz="2000"/>
              <a:t>论文。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2893</Words>
  <Application>WPS 演示</Application>
  <PresentationFormat>宽屏</PresentationFormat>
  <Paragraphs>109</Paragraphs>
  <Slides>28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Arial</vt:lpstr>
      <vt:lpstr>宋体</vt:lpstr>
      <vt:lpstr>Wingdings</vt:lpstr>
      <vt:lpstr>Wingdings</vt:lpstr>
      <vt:lpstr>Times New Roman</vt:lpstr>
      <vt:lpstr>微软雅黑</vt:lpstr>
      <vt:lpstr>Arial Unicode MS</vt:lpstr>
      <vt:lpstr>Calibri</vt:lpstr>
      <vt:lpstr>Google Sans Text</vt:lpstr>
      <vt:lpstr>Segoe Print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是她</cp:lastModifiedBy>
  <cp:revision>222</cp:revision>
  <dcterms:created xsi:type="dcterms:W3CDTF">2019-06-19T02:08:00Z</dcterms:created>
  <dcterms:modified xsi:type="dcterms:W3CDTF">2026-05-19T02:49:35Z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CC4AC3AD79CA40C18E9B66A5156574DC_11</vt:lpwstr>
  </property>
</Properties>
</file>