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44" r:id="rId3"/>
    <p:sldId id="348" r:id="rId4"/>
    <p:sldId id="349" r:id="rId5"/>
    <p:sldId id="345" r:id="rId6"/>
    <p:sldId id="346" r:id="rId7"/>
    <p:sldId id="347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1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7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68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67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73.xml"/><Relationship Id="rId22" Type="http://schemas.openxmlformats.org/officeDocument/2006/relationships/image" Target="../media/image18.svg"/><Relationship Id="rId21" Type="http://schemas.openxmlformats.org/officeDocument/2006/relationships/image" Target="../media/image17.png"/><Relationship Id="rId20" Type="http://schemas.openxmlformats.org/officeDocument/2006/relationships/tags" Target="../tags/tag72.xml"/><Relationship Id="rId2" Type="http://schemas.openxmlformats.org/officeDocument/2006/relationships/tags" Target="../tags/tag66.xml"/><Relationship Id="rId19" Type="http://schemas.openxmlformats.org/officeDocument/2006/relationships/image" Target="../media/image16.svg"/><Relationship Id="rId18" Type="http://schemas.openxmlformats.org/officeDocument/2006/relationships/image" Target="../media/image15.png"/><Relationship Id="rId17" Type="http://schemas.openxmlformats.org/officeDocument/2006/relationships/tags" Target="../tags/tag71.xml"/><Relationship Id="rId16" Type="http://schemas.openxmlformats.org/officeDocument/2006/relationships/image" Target="../media/image14.svg"/><Relationship Id="rId15" Type="http://schemas.openxmlformats.org/officeDocument/2006/relationships/image" Target="../media/image13.png"/><Relationship Id="rId14" Type="http://schemas.openxmlformats.org/officeDocument/2006/relationships/tags" Target="../tags/tag70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69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5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Self-Adapting LoRA</a:t>
            </a:r>
            <a:endParaRPr lang="en-US" altLang="zh-CN" sz="2400" b="1"/>
          </a:p>
        </p:txBody>
      </p:sp>
      <p:pic>
        <p:nvPicPr>
          <p:cNvPr id="4" name="图片 3" descr="ai_picture_gen_1782154504024_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9" b="39"/>
          <a:stretch>
            <a:fillRect/>
          </a:stretch>
        </p:blipFill>
        <p:spPr>
          <a:xfrm>
            <a:off x="1744980" y="986155"/>
            <a:ext cx="8585835" cy="22015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980" y="3187700"/>
            <a:ext cx="9406890" cy="28321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Self-Adapting LoRA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95" y="1989455"/>
            <a:ext cx="8457565" cy="33585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问题</a:t>
            </a:r>
            <a:r>
              <a:rPr lang="zh-CN" altLang="en-US" sz="2400" b="1"/>
              <a:t>简述</a:t>
            </a:r>
            <a:endParaRPr lang="zh-CN" altLang="en-US" sz="2400" b="1"/>
          </a:p>
        </p:txBody>
      </p:sp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5" name="圆柱形 4"/>
          <p:cNvSpPr/>
          <p:nvPr/>
        </p:nvSpPr>
        <p:spPr>
          <a:xfrm>
            <a:off x="1223645" y="2334895"/>
            <a:ext cx="1143000" cy="1215390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Initial Dataset</a:t>
            </a:r>
            <a:endParaRPr lang="en-US" altLang="zh-CN"/>
          </a:p>
        </p:txBody>
      </p:sp>
      <p:pic>
        <p:nvPicPr>
          <p:cNvPr id="7" name="图片 6" descr="科学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4390" y="2635885"/>
            <a:ext cx="914400" cy="914400"/>
          </a:xfrm>
          <a:prstGeom prst="rect">
            <a:avLst/>
          </a:prstGeom>
        </p:spPr>
      </p:pic>
      <p:pic>
        <p:nvPicPr>
          <p:cNvPr id="8" name="图片 7" descr="文档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4315" y="2635885"/>
            <a:ext cx="914400" cy="914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192395" y="2267585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Self-edit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3228975" y="2267585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LLM</a:t>
            </a:r>
            <a:endParaRPr lang="en-US" altLang="zh-CN"/>
          </a:p>
        </p:txBody>
      </p:sp>
      <p:pic>
        <p:nvPicPr>
          <p:cNvPr id="13" name="图片 12" descr="科学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01840" y="2635885"/>
            <a:ext cx="914400" cy="9144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690995" y="2267585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Inner LLM</a:t>
            </a:r>
            <a:endParaRPr lang="en-US" altLang="zh-CN"/>
          </a:p>
        </p:txBody>
      </p:sp>
      <p:pic>
        <p:nvPicPr>
          <p:cNvPr id="15" name="图片 14" descr="评估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45930" y="2635885"/>
            <a:ext cx="914400" cy="9144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938260" y="2334895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Evaluation</a:t>
            </a:r>
            <a:endParaRPr lang="en-US" altLang="zh-CN"/>
          </a:p>
        </p:txBody>
      </p:sp>
      <p:sp>
        <p:nvSpPr>
          <p:cNvPr id="17" name="右箭头 16"/>
          <p:cNvSpPr/>
          <p:nvPr/>
        </p:nvSpPr>
        <p:spPr>
          <a:xfrm>
            <a:off x="4495165" y="2988945"/>
            <a:ext cx="612775" cy="2286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2616200" y="2988945"/>
            <a:ext cx="612775" cy="2286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6387465" y="2988945"/>
            <a:ext cx="612775" cy="2286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8375015" y="2988945"/>
            <a:ext cx="612775" cy="2286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3667125" y="1643380"/>
            <a:ext cx="6190615" cy="422910"/>
            <a:chOff x="5926" y="4049"/>
            <a:chExt cx="9749" cy="666"/>
          </a:xfrm>
          <a:solidFill>
            <a:schemeClr val="accent1"/>
          </a:solidFill>
        </p:grpSpPr>
        <p:sp>
          <p:nvSpPr>
            <p:cNvPr id="24" name="直角上箭头 23"/>
            <p:cNvSpPr/>
            <p:nvPr/>
          </p:nvSpPr>
          <p:spPr>
            <a:xfrm rot="10800000">
              <a:off x="5926" y="4061"/>
              <a:ext cx="9655" cy="654"/>
            </a:xfrm>
            <a:prstGeom prst="bentUpArrow">
              <a:avLst>
                <a:gd name="adj1" fmla="val 25000"/>
                <a:gd name="adj2" fmla="val 25000"/>
                <a:gd name="adj3" fmla="val 35168"/>
              </a:avLst>
            </a:prstGeom>
            <a:grpFill/>
            <a:ln w="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5669" y="4049"/>
              <a:ext cx="7" cy="662"/>
            </a:xfrm>
            <a:prstGeom prst="line">
              <a:avLst/>
            </a:prstGeom>
            <a:grpFill/>
            <a:ln w="101600" cmpd="sng">
              <a:solidFill>
                <a:schemeClr val="accent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7" name="图片 26" descr="任务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337945" y="4119880"/>
            <a:ext cx="914400" cy="914400"/>
          </a:xfrm>
          <a:prstGeom prst="rect">
            <a:avLst/>
          </a:prstGeom>
        </p:spPr>
      </p:pic>
      <p:sp>
        <p:nvSpPr>
          <p:cNvPr id="28" name="右箭头 27"/>
          <p:cNvSpPr/>
          <p:nvPr/>
        </p:nvSpPr>
        <p:spPr>
          <a:xfrm rot="19500000">
            <a:off x="2626360" y="4030980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61415" y="5143500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New task</a:t>
            </a:r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468630" y="958850"/>
            <a:ext cx="10300970" cy="2672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 rot="2460000">
            <a:off x="4495165" y="4044950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027295" y="1056640"/>
            <a:ext cx="1487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Outer Loop</a:t>
            </a:r>
            <a:endParaRPr lang="en-US" altLang="zh-CN"/>
          </a:p>
        </p:txBody>
      </p:sp>
      <p:pic>
        <p:nvPicPr>
          <p:cNvPr id="33" name="图片 32" descr="文档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19395" y="4119880"/>
            <a:ext cx="914400" cy="91440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197475" y="5143500"/>
            <a:ext cx="120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Self-edit</a:t>
            </a:r>
            <a:endParaRPr lang="en-US" altLang="zh-CN"/>
          </a:p>
        </p:txBody>
      </p:sp>
      <p:pic>
        <p:nvPicPr>
          <p:cNvPr id="35" name="图片 34" descr="科学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01840" y="4119880"/>
            <a:ext cx="914400" cy="9144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690995" y="5143500"/>
            <a:ext cx="1735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Envolved LLM</a:t>
            </a:r>
            <a:endParaRPr lang="en-US" altLang="zh-CN"/>
          </a:p>
        </p:txBody>
      </p:sp>
      <p:sp>
        <p:nvSpPr>
          <p:cNvPr id="37" name="右箭头 36"/>
          <p:cNvSpPr/>
          <p:nvPr/>
        </p:nvSpPr>
        <p:spPr>
          <a:xfrm>
            <a:off x="6387465" y="4472940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柱形 46"/>
          <p:cNvSpPr/>
          <p:nvPr/>
        </p:nvSpPr>
        <p:spPr>
          <a:xfrm>
            <a:off x="3308350" y="4788535"/>
            <a:ext cx="1143000" cy="1215390"/>
          </a:xfrm>
          <a:prstGeom prst="can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Task</a:t>
            </a:r>
            <a:endParaRPr lang="en-US" altLang="zh-CN"/>
          </a:p>
          <a:p>
            <a:pPr algn="ctr"/>
            <a:r>
              <a:rPr lang="en-US" altLang="zh-CN"/>
              <a:t>RAG</a:t>
            </a:r>
            <a:endParaRPr lang="en-US" altLang="zh-CN"/>
          </a:p>
        </p:txBody>
      </p:sp>
      <p:sp>
        <p:nvSpPr>
          <p:cNvPr id="48" name="右箭头 47"/>
          <p:cNvSpPr/>
          <p:nvPr/>
        </p:nvSpPr>
        <p:spPr>
          <a:xfrm rot="16200000">
            <a:off x="3565525" y="4130675"/>
            <a:ext cx="612775" cy="228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0" name="曲线连接符 49"/>
          <p:cNvCxnSpPr>
            <a:stCxn id="35" idx="0"/>
          </p:cNvCxnSpPr>
          <p:nvPr/>
        </p:nvCxnSpPr>
        <p:spPr>
          <a:xfrm rot="16200000" flipV="1">
            <a:off x="5609590" y="2170430"/>
            <a:ext cx="624840" cy="3274060"/>
          </a:xfrm>
          <a:prstGeom prst="curvedConnector2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曲线连接符 50"/>
          <p:cNvCxnSpPr>
            <a:stCxn id="27" idx="3"/>
            <a:endCxn id="47" idx="2"/>
          </p:cNvCxnSpPr>
          <p:nvPr/>
        </p:nvCxnSpPr>
        <p:spPr>
          <a:xfrm>
            <a:off x="2252345" y="4577080"/>
            <a:ext cx="1056005" cy="819150"/>
          </a:xfrm>
          <a:prstGeom prst="curvedConnector3">
            <a:avLst>
              <a:gd name="adj1" fmla="val 50030"/>
            </a:avLst>
          </a:prstGeom>
          <a:ln w="317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468630" y="3630930"/>
            <a:ext cx="10300970" cy="28657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027295" y="6128385"/>
            <a:ext cx="1487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CPT Loop</a:t>
            </a:r>
            <a:endParaRPr lang="en-US" altLang="zh-CN"/>
          </a:p>
        </p:txBody>
      </p:sp>
    </p:spTree>
    <p:custDataLst>
      <p:tags r:id="rId2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Baselines</a:t>
            </a:r>
            <a:endParaRPr lang="en-US" altLang="zh-CN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345440" y="920750"/>
            <a:ext cx="101047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Baseline 1: Sequential Vanilla SFT (</a:t>
            </a:r>
            <a:r>
              <a:rPr lang="zh-CN" altLang="en-US" sz="2000"/>
              <a:t>下界)： 无约束的常规 </a:t>
            </a:r>
            <a:r>
              <a:rPr lang="en-US" altLang="zh-CN" sz="2000"/>
              <a:t>SEAL </a:t>
            </a:r>
            <a:r>
              <a:rPr lang="zh-CN" altLang="en-US" sz="2000"/>
              <a:t>连续 </a:t>
            </a:r>
            <a:r>
              <a:rPr lang="en-US" altLang="zh-CN" sz="2000"/>
              <a:t>LoRA </a:t>
            </a:r>
            <a:r>
              <a:rPr lang="zh-CN" altLang="en-US" sz="2000"/>
              <a:t>微调并 </a:t>
            </a:r>
            <a:r>
              <a:rPr lang="en-US" altLang="zh-CN" sz="2000"/>
              <a:t>Merge，</a:t>
            </a:r>
            <a:r>
              <a:rPr lang="zh-CN" altLang="en-US" sz="2000"/>
              <a:t>用以复现生成能力崩溃。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Details</a:t>
            </a:r>
            <a:r>
              <a:rPr lang="zh-CN" altLang="en-US" sz="2000"/>
              <a:t>：直接复用</a:t>
            </a:r>
            <a:r>
              <a:rPr lang="en-US" altLang="zh-CN" sz="2000"/>
              <a:t>continual_self_edit_gen_forget</a:t>
            </a:r>
            <a:r>
              <a:rPr lang="zh-CN" altLang="en-US" sz="2000"/>
              <a:t>的</a:t>
            </a:r>
            <a:r>
              <a:rPr lang="en-US" altLang="zh-CN" sz="2000"/>
              <a:t>single passage</a:t>
            </a:r>
            <a:r>
              <a:rPr lang="zh-CN" altLang="en-US" sz="2000"/>
              <a:t>模式即可获得结果，但是要注意模型要使用进行过</a:t>
            </a:r>
            <a:r>
              <a:rPr lang="en-US" altLang="zh-CN" sz="2000"/>
              <a:t>RL</a:t>
            </a:r>
            <a:r>
              <a:rPr lang="zh-CN" altLang="en-US" sz="2000"/>
              <a:t>之后的模型，方便带有</a:t>
            </a:r>
            <a:r>
              <a:rPr lang="en-US" altLang="zh-CN" sz="2000"/>
              <a:t>self-edit</a:t>
            </a:r>
            <a:r>
              <a:rPr lang="zh-CN" altLang="en-US" sz="2000"/>
              <a:t>的生成</a:t>
            </a:r>
            <a:r>
              <a:rPr lang="en-US" altLang="zh-CN" sz="2000"/>
              <a:t>LoRA，</a:t>
            </a:r>
            <a:r>
              <a:rPr lang="zh-CN" altLang="en-US" sz="2000"/>
              <a:t>与后面的</a:t>
            </a:r>
            <a:r>
              <a:rPr lang="en-US" altLang="zh-CN" sz="2000"/>
              <a:t>baseline</a:t>
            </a:r>
            <a:r>
              <a:rPr lang="zh-CN" altLang="en-US" sz="2000"/>
              <a:t>以及最后要提出的方法做比较。为了统一，这里后续的模型统一使用</a:t>
            </a:r>
            <a:r>
              <a:rPr lang="en-US" altLang="zh-CN" sz="2000"/>
              <a:t>models/iter2</a:t>
            </a:r>
            <a:r>
              <a:rPr lang="zh-CN" altLang="en-US" sz="2000"/>
              <a:t>作为初始模型。（重新跑</a:t>
            </a:r>
            <a:r>
              <a:rPr lang="en-US" altLang="zh-CN" sz="2000"/>
              <a:t>RL</a:t>
            </a:r>
            <a:r>
              <a:rPr lang="zh-CN" altLang="en-US" sz="2000"/>
              <a:t>实验，因为原始</a:t>
            </a:r>
            <a:r>
              <a:rPr lang="en-US" altLang="zh-CN" sz="2000"/>
              <a:t>SEAL</a:t>
            </a:r>
            <a:r>
              <a:rPr lang="zh-CN" altLang="en-US" sz="2000"/>
              <a:t>的</a:t>
            </a:r>
            <a:r>
              <a:rPr lang="en-US" altLang="zh-CN" sz="2000"/>
              <a:t>outer LoRA</a:t>
            </a:r>
            <a:r>
              <a:rPr lang="zh-CN" altLang="en-US" sz="2000"/>
              <a:t>使用了全层</a:t>
            </a:r>
            <a:r>
              <a:rPr lang="en-US" altLang="zh-CN" sz="2000"/>
              <a:t>LoRA</a:t>
            </a:r>
            <a:r>
              <a:rPr lang="zh-CN" altLang="en-US" sz="2000"/>
              <a:t>，而</a:t>
            </a:r>
            <a:r>
              <a:rPr lang="en-US" altLang="zh-CN" sz="2000"/>
              <a:t>inner LoRA</a:t>
            </a:r>
            <a:r>
              <a:rPr lang="zh-CN" altLang="en-US" sz="2000"/>
              <a:t>只用了</a:t>
            </a:r>
            <a:r>
              <a:rPr lang="en-US" altLang="zh-CN" sz="2000"/>
              <a:t>Q</a:t>
            </a:r>
            <a:r>
              <a:rPr lang="zh-CN" altLang="en-US" sz="2000"/>
              <a:t>和</a:t>
            </a:r>
            <a:r>
              <a:rPr lang="en-US" altLang="zh-CN" sz="2000"/>
              <a:t>V</a:t>
            </a:r>
            <a:r>
              <a:rPr lang="zh-CN" altLang="en-US" sz="2000"/>
              <a:t>，无法对齐计算</a:t>
            </a:r>
            <a:r>
              <a:rPr lang="zh-CN" altLang="en-US" sz="2000"/>
              <a:t>正交损失）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0" y="4391660"/>
            <a:ext cx="10219690" cy="20110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Baselines</a:t>
            </a:r>
            <a:endParaRPr lang="en-US" altLang="zh-CN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45440" y="920750"/>
                <a:ext cx="10104755" cy="2399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algn="just" fontAlgn="auto">
                  <a:lnSpc>
                    <a:spcPct val="150000"/>
                  </a:lnSpc>
                </a:pPr>
                <a:r>
                  <a:rPr lang="en-US" altLang="zh-CN" sz="2000"/>
                  <a:t>Baseline 2: Standard O-LoRA： </a:t>
                </a:r>
                <a:r>
                  <a:rPr lang="zh-CN" altLang="en-US" sz="2000"/>
                  <a:t>在</a:t>
                </a:r>
                <a:r>
                  <a:rPr lang="en-US" altLang="zh-CN" sz="2000"/>
                  <a:t>SEAL</a:t>
                </a:r>
                <a:r>
                  <a:rPr lang="zh-CN" altLang="en-US" sz="2000"/>
                  <a:t>的基础上开启正交约束，但无视相似度，全局任务强制设定恒定正交系数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𝜆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 sz="2000"/>
                  <a:t>。</a:t>
                </a:r>
                <a:r>
                  <a:rPr lang="zh-CN" altLang="en-US" sz="2000"/>
                  <a:t>用以证明后期参数空间枯竭和相似任务无法充分训练的局限性。</a:t>
                </a:r>
                <a:endParaRPr lang="zh-CN" altLang="en-US" sz="2000"/>
              </a:p>
              <a:p>
                <a:pPr indent="0" algn="just" fontAlgn="auto">
                  <a:lnSpc>
                    <a:spcPct val="150000"/>
                  </a:lnSpc>
                </a:pPr>
                <a:r>
                  <a:rPr lang="en-US" altLang="zh-CN" sz="2000"/>
                  <a:t>Details</a:t>
                </a:r>
                <a:r>
                  <a:rPr lang="zh-CN" altLang="en-US" sz="2000"/>
                  <a:t>：在原</a:t>
                </a:r>
                <a:r>
                  <a:rPr lang="en-US" altLang="zh-CN" sz="2000"/>
                  <a:t>SEAL</a:t>
                </a:r>
                <a:r>
                  <a:rPr lang="zh-CN" altLang="en-US" sz="2000"/>
                  <a:t>内循环的训练中加入</a:t>
                </a:r>
                <a:r>
                  <a:rPr lang="en-US" altLang="zh-CN" sz="2000"/>
                  <a:t>O-LoRA</a:t>
                </a:r>
                <a:r>
                  <a:rPr lang="zh-CN" altLang="en-US" sz="2000"/>
                  <a:t>技术，并且要留出可以为不同任务添加系数的功能，虽然此条</a:t>
                </a:r>
                <a:r>
                  <a:rPr lang="en-US" altLang="zh-CN" sz="2000"/>
                  <a:t>baseline</a:t>
                </a:r>
                <a:r>
                  <a:rPr lang="zh-CN" altLang="en-US" sz="2000"/>
                  <a:t>中</a:t>
                </a:r>
                <a:r>
                  <a:rPr lang="en-US" altLang="zh-CN" sz="2000"/>
                  <a:t>lambda</a:t>
                </a:r>
                <a:r>
                  <a:rPr lang="zh-CN" altLang="en-US" sz="2000"/>
                  <a:t>固定为1.0。</a:t>
                </a:r>
                <a:endParaRPr lang="zh-CN" altLang="en-US" sz="200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40" y="920750"/>
                <a:ext cx="10104755" cy="23996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3931920"/>
            <a:ext cx="10124440" cy="19596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Baselines</a:t>
            </a:r>
            <a:endParaRPr lang="en-US" altLang="zh-CN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345440" y="920750"/>
            <a:ext cx="101047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Baseline 3: Embedding-based Adaptive O-LoRA (</a:t>
            </a:r>
            <a:r>
              <a:rPr lang="zh-CN" altLang="en-US" sz="2000"/>
              <a:t>最强竞争对手)： 同样采用两步法 </a:t>
            </a:r>
            <a:r>
              <a:rPr lang="en-US" altLang="zh-CN" sz="2000"/>
              <a:t>RAG，</a:t>
            </a:r>
            <a:r>
              <a:rPr lang="zh-CN" altLang="en-US" sz="2000"/>
              <a:t>但不让 </a:t>
            </a:r>
            <a:r>
              <a:rPr lang="en-US" altLang="zh-CN" sz="2000"/>
              <a:t>LLM </a:t>
            </a:r>
            <a:r>
              <a:rPr lang="zh-CN" altLang="en-US" sz="2000"/>
              <a:t>进行自省打分，而是直接使用外部 </a:t>
            </a:r>
            <a:r>
              <a:rPr lang="en-US" altLang="zh-CN" sz="2000"/>
              <a:t>Embedding </a:t>
            </a:r>
            <a:r>
              <a:rPr lang="zh-CN" altLang="en-US" sz="2000"/>
              <a:t>模型（</a:t>
            </a:r>
            <a:r>
              <a:rPr lang="en-US" altLang="zh-CN" sz="2000"/>
              <a:t>BGE）</a:t>
            </a:r>
            <a:r>
              <a:rPr lang="zh-CN" altLang="en-US" sz="2000"/>
              <a:t>计算文本余弦相似度作为相似度系数</a:t>
            </a:r>
            <a:r>
              <a:rPr lang="en-US" altLang="zh-CN" sz="2000"/>
              <a:t>。</a:t>
            </a:r>
            <a:r>
              <a:rPr lang="zh-CN" altLang="en-US" sz="2000"/>
              <a:t>用以证明“</a:t>
            </a:r>
            <a:r>
              <a:rPr lang="en-US" altLang="zh-CN" sz="2000"/>
              <a:t>LLM </a:t>
            </a:r>
            <a:r>
              <a:rPr lang="zh-CN" altLang="en-US" sz="2000"/>
              <a:t>知识级语义自省”显著优于“向量空间物理几何距离”。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Details</a:t>
            </a:r>
            <a:r>
              <a:rPr lang="zh-CN" altLang="en-US" sz="2000"/>
              <a:t>：构建</a:t>
            </a:r>
            <a:r>
              <a:rPr lang="en-US" altLang="zh-CN" sz="2000"/>
              <a:t>RAG，</a:t>
            </a:r>
            <a:r>
              <a:rPr lang="zh-CN" altLang="en-US" sz="2000"/>
              <a:t>在基础模型之上进行</a:t>
            </a:r>
            <a:r>
              <a:rPr lang="en-US" altLang="zh-CN" sz="2000"/>
              <a:t>SFT</a:t>
            </a:r>
            <a:r>
              <a:rPr lang="zh-CN" altLang="en-US" sz="2000"/>
              <a:t>的时候保存任务特定的表示以及任务</a:t>
            </a:r>
            <a:r>
              <a:rPr lang="en-US" altLang="zh-CN" sz="2000"/>
              <a:t>LoRA</a:t>
            </a:r>
            <a:r>
              <a:rPr lang="zh-CN" altLang="en-US" sz="2000"/>
              <a:t>的</a:t>
            </a:r>
            <a:r>
              <a:rPr lang="en-US" altLang="zh-CN" sz="2000"/>
              <a:t>A</a:t>
            </a:r>
            <a:r>
              <a:rPr lang="zh-CN" altLang="en-US" sz="2000"/>
              <a:t>矩阵参数进入知识库，然后在面临新任务的时候对历史人</a:t>
            </a:r>
            <a:r>
              <a:rPr lang="zh-CN" altLang="en-US" sz="2000"/>
              <a:t>任务做两步法</a:t>
            </a:r>
            <a:r>
              <a:rPr lang="en-US" altLang="zh-CN" sz="2000"/>
              <a:t>RAG</a:t>
            </a:r>
            <a:r>
              <a:rPr lang="zh-CN" altLang="en-US" sz="2000"/>
              <a:t>得到</a:t>
            </a:r>
            <a:r>
              <a:rPr lang="en-US" altLang="zh-CN" sz="2000"/>
              <a:t>self-edit</a:t>
            </a:r>
            <a:r>
              <a:rPr lang="zh-CN" altLang="en-US" sz="2000"/>
              <a:t>和</a:t>
            </a:r>
            <a:r>
              <a:rPr lang="en-US" altLang="zh-CN" sz="2000"/>
              <a:t>O-LoRA</a:t>
            </a:r>
            <a:r>
              <a:rPr lang="zh-CN" altLang="en-US" sz="2000"/>
              <a:t>参数（第二步的相似性参数由</a:t>
            </a:r>
            <a:r>
              <a:rPr lang="en-US" altLang="zh-CN" sz="2000"/>
              <a:t>GPT-4.1</a:t>
            </a:r>
            <a:r>
              <a:rPr lang="zh-CN" altLang="en-US" sz="2000"/>
              <a:t>来给出）。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263212569&quot;}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67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263212569&quot;}"/>
</p:tagLst>
</file>

<file path=ppt/tags/tag68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69.xml><?xml version="1.0" encoding="utf-8"?>
<p:tagLst xmlns:p="http://schemas.openxmlformats.org/presentationml/2006/main">
  <p:tag name="KSO_DOCER_RESOURCE_TRACE_INFO" val="{&quot;id&quot;:&quot;3476857&quot;,&quot;origin&quot;:0,&quot;type&quot;:&quot;icons&quot;,&quot;user&quot;:&quot;263212569&quot;}"/>
</p:tagLst>
</file>

<file path=ppt/tags/tag70.xml><?xml version="1.0" encoding="utf-8"?>
<p:tagLst xmlns:p="http://schemas.openxmlformats.org/presentationml/2006/main">
  <p:tag name="KSO_DOCER_RESOURCE_TRACE_INFO" val="{&quot;id&quot;:&quot;21563431&quot;,&quot;origin&quot;:0,&quot;type&quot;:&quot;icons&quot;,&quot;user&quot;:&quot;263212569&quot;}"/>
</p:tagLst>
</file>

<file path=ppt/tags/tag71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263212569&quot;}"/>
</p:tagLst>
</file>

<file path=ppt/tags/tag72.xml><?xml version="1.0" encoding="utf-8"?>
<p:tagLst xmlns:p="http://schemas.openxmlformats.org/presentationml/2006/main">
  <p:tag name="KSO_DOCER_RESOURCE_TRACE_INFO" val="{&quot;id&quot;:&quot;50063356&quot;,&quot;origin&quot;:0,&quot;type&quot;:&quot;icons&quot;,&quot;user&quot;:&quot;263212569&quot;}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63356,50059455,3476857,21563431,3504987],&quot;65&quot;:[20205081]}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resource_record_key" val="{&quot;10&quot;:[50063356,50059455,3476857,21563431,350498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945</Words>
  <Application>WPS 演示</Application>
  <PresentationFormat>宽屏</PresentationFormat>
  <Paragraphs>44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Cambria Math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243</cp:revision>
  <dcterms:created xsi:type="dcterms:W3CDTF">2019-06-19T02:08:00Z</dcterms:created>
  <dcterms:modified xsi:type="dcterms:W3CDTF">2026-06-23T04:17:16Z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CC4AC3AD79CA40C18E9B66A5156574DC_11</vt:lpwstr>
  </property>
</Properties>
</file>