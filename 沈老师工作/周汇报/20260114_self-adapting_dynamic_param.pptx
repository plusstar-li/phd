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1" r:id="rId3"/>
    <p:sldId id="259" r:id="rId4"/>
    <p:sldId id="260" r:id="rId5"/>
    <p:sldId id="268" r:id="rId6"/>
    <p:sldId id="261" r:id="rId7"/>
    <p:sldId id="263" r:id="rId8"/>
    <p:sldId id="269" r:id="rId9"/>
    <p:sldId id="262" r:id="rId10"/>
    <p:sldId id="264" r:id="rId11"/>
    <p:sldId id="274" r:id="rId12"/>
    <p:sldId id="267" r:id="rId14"/>
    <p:sldId id="272" r:id="rId15"/>
    <p:sldId id="265" r:id="rId16"/>
    <p:sldId id="273" r:id="rId17"/>
    <p:sldId id="270" r:id="rId18"/>
    <p:sldId id="256" r:id="rId19"/>
    <p:sldId id="26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9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4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8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26005" y="2512060"/>
            <a:ext cx="7539990" cy="18332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Self-Adapting Limitation</a:t>
            </a:r>
            <a:endParaRPr lang="en-US" altLang="zh-CN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5760" y="1467485"/>
            <a:ext cx="5018405" cy="50622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后期改进点</a:t>
            </a:r>
            <a:endParaRPr lang="zh-CN" altLang="en-US" sz="2400" b="1"/>
          </a:p>
        </p:txBody>
      </p:sp>
      <p:sp>
        <p:nvSpPr>
          <p:cNvPr id="8" name="文本框 7"/>
          <p:cNvSpPr txBox="1"/>
          <p:nvPr/>
        </p:nvSpPr>
        <p:spPr>
          <a:xfrm>
            <a:off x="345440" y="920750"/>
            <a:ext cx="3980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1. </a:t>
            </a:r>
            <a:r>
              <a:rPr lang="zh-CN" altLang="en-US" sz="2000" b="1"/>
              <a:t>连续</a:t>
            </a:r>
            <a:r>
              <a:rPr lang="en-US" altLang="zh-CN" sz="2000" b="1"/>
              <a:t>self-edit</a:t>
            </a:r>
            <a:r>
              <a:rPr lang="zh-CN" altLang="en-US" sz="2000" b="1"/>
              <a:t>后的遗忘</a:t>
            </a:r>
            <a:r>
              <a:rPr lang="zh-CN" altLang="en-US" sz="2000" b="1"/>
              <a:t>问题</a:t>
            </a:r>
            <a:endParaRPr lang="zh-CN" altLang="en-US" sz="2000" b="1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后期改进点</a:t>
            </a:r>
            <a:endParaRPr lang="zh-CN" altLang="en-US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925" y="2897505"/>
            <a:ext cx="8534400" cy="3086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45440" y="920750"/>
            <a:ext cx="3980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/>
              <a:t>2. Inner Loop</a:t>
            </a:r>
            <a:r>
              <a:rPr lang="zh-CN" altLang="en-US" sz="2000" b="1"/>
              <a:t>计算量</a:t>
            </a:r>
            <a:r>
              <a:rPr lang="zh-CN" altLang="en-US" sz="2000" b="1"/>
              <a:t>大</a:t>
            </a:r>
            <a:endParaRPr lang="zh-CN" altLang="en-US" sz="2000" b="1"/>
          </a:p>
        </p:txBody>
      </p:sp>
      <p:sp>
        <p:nvSpPr>
          <p:cNvPr id="7" name="文本框 6"/>
          <p:cNvSpPr txBox="1"/>
          <p:nvPr/>
        </p:nvSpPr>
        <p:spPr>
          <a:xfrm>
            <a:off x="415290" y="1482090"/>
            <a:ext cx="93846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 fontAlgn="auto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ym typeface="+mn-ea"/>
              </a:rPr>
              <a:t>在模型预训练阶段或者在</a:t>
            </a:r>
            <a:r>
              <a:rPr lang="en-US" altLang="zh-CN">
                <a:sym typeface="+mn-ea"/>
              </a:rPr>
              <a:t>CPT</a:t>
            </a:r>
            <a:r>
              <a:rPr lang="zh-CN" altLang="en-US">
                <a:sym typeface="+mn-ea"/>
              </a:rPr>
              <a:t>开始前对模型</a:t>
            </a:r>
            <a:r>
              <a:rPr lang="en-US" altLang="zh-CN">
                <a:sym typeface="+mn-ea"/>
              </a:rPr>
              <a:t>weight</a:t>
            </a:r>
            <a:r>
              <a:rPr lang="zh-CN" altLang="en-US">
                <a:sym typeface="+mn-ea"/>
              </a:rPr>
              <a:t>进行分析，利用</a:t>
            </a:r>
            <a:r>
              <a:rPr lang="en-US" altLang="zh-CN">
                <a:sym typeface="+mn-ea"/>
              </a:rPr>
              <a:t>Adapter</a:t>
            </a:r>
            <a:r>
              <a:rPr lang="zh-CN" altLang="en-US">
                <a:sym typeface="+mn-ea"/>
              </a:rPr>
              <a:t>技术仅更新少量任务敏感</a:t>
            </a:r>
            <a:r>
              <a:rPr lang="zh-CN" altLang="en-US">
                <a:sym typeface="+mn-ea"/>
              </a:rPr>
              <a:t>的参数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26005" y="2512060"/>
            <a:ext cx="7539990" cy="18332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400" b="1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MoE Adapter (LoRA)</a:t>
            </a:r>
            <a:endParaRPr lang="en-US" altLang="zh-CN" sz="4400" b="1"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00" y="1579245"/>
            <a:ext cx="10104120" cy="4762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SEMA: Self-Expansion of Pre-trained Models with Mixture of Adapters for Continual Learning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MoRAL: MoE Augmented LoRA for LLMs’ Lifelong Learning</a:t>
            </a:r>
            <a:endParaRPr lang="en-US" altLang="zh-CN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575" y="1219835"/>
            <a:ext cx="6181725" cy="399034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109595" y="5450840"/>
            <a:ext cx="4057015" cy="606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olidFill>
                  <a:srgbClr val="FF0000"/>
                </a:solidFill>
              </a:rPr>
              <a:t>能否由模型自己指定新任务需要调整的模型参数？</a:t>
            </a:r>
            <a:endParaRPr lang="zh-CN" altLang="en-US">
              <a:solidFill>
                <a:srgbClr val="FF0000"/>
              </a:solidFill>
            </a:endParaRPr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26005" y="2512060"/>
            <a:ext cx="7539990" cy="18332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en-US" altLang="zh-CN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Advanced MoE LoRA</a:t>
            </a:r>
            <a:endParaRPr lang="en-US" altLang="zh-CN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ELDER: Enhancing Lifelong Model Editing with Mixture-of-LoRA</a:t>
            </a:r>
            <a:endParaRPr lang="en-US" altLang="zh-CN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930" y="1740535"/>
            <a:ext cx="9608820" cy="4198620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H="1" flipV="1">
            <a:off x="8770620" y="4556125"/>
            <a:ext cx="1012190" cy="16046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8303260" y="6125210"/>
            <a:ext cx="361061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Token-level ——&gt; sentence-level</a:t>
            </a:r>
            <a:endParaRPr lang="en-US" altLang="zh-CN"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MiLoRA: Efficient Mixture of Low-Rank Adaptation for Large Language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Models Fine-tuning</a:t>
            </a:r>
            <a:endParaRPr lang="en-US" altLang="zh-CN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05" y="1482090"/>
            <a:ext cx="7259320" cy="52762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014970" y="2510790"/>
            <a:ext cx="4057015" cy="6064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Token-level ——&gt; Prompt-aware prompt router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InstructMoLE: Instruction-Guided Mixture of Low-rank Experts for Multi-Conditional Image Generation</a:t>
            </a:r>
            <a:endParaRPr lang="en-US" altLang="zh-CN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" y="1632585"/>
            <a:ext cx="8902065" cy="397319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3669030" y="1894205"/>
            <a:ext cx="852805" cy="491490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8508365" y="5114290"/>
            <a:ext cx="852805" cy="491490"/>
          </a:xfrm>
          <a:prstGeom prst="ellipse">
            <a:avLst/>
          </a:prstGeom>
          <a:noFill/>
          <a:ln w="952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Progressive LoRA for Multimodal Continual Instruction Tuning</a:t>
            </a:r>
            <a:endParaRPr lang="en-US" altLang="zh-CN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1693545"/>
            <a:ext cx="8572500" cy="469392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785" y="2371090"/>
            <a:ext cx="3225165" cy="9836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Dynamic Mixture of Curriculum LoRA Experts for Continual Multimodal Instruction Tuning</a:t>
            </a:r>
            <a:endParaRPr lang="en-US" altLang="zh-CN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55" y="1066800"/>
            <a:ext cx="9715500" cy="4114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05" y="5181600"/>
            <a:ext cx="3299460" cy="15195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5241925"/>
            <a:ext cx="4884420" cy="12192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Self-Evolving LLMs via Continual Instruction Tuning</a:t>
            </a:r>
            <a:endParaRPr lang="en-US" altLang="zh-CN"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85" y="1782445"/>
            <a:ext cx="9799320" cy="43357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86105" y="560070"/>
            <a:ext cx="938466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zh-CN">
                <a:sym typeface="+mn-ea"/>
              </a:rPr>
              <a:t>ADAPTIVE MINDS: EMPOWERING AGENTS WITH LORA-AS-TOOLS</a:t>
            </a:r>
            <a:endParaRPr lang="en-US" altLang="zh-CN"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510" y="1514475"/>
            <a:ext cx="7246620" cy="4610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26005" y="2512060"/>
            <a:ext cx="7539990" cy="183324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44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思路</a:t>
            </a:r>
            <a:endParaRPr lang="zh-CN" altLang="en-US" sz="44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思路</a:t>
            </a:r>
            <a:endParaRPr lang="zh-CN" altLang="en-US" sz="2400" b="1"/>
          </a:p>
        </p:txBody>
      </p:sp>
      <p:sp>
        <p:nvSpPr>
          <p:cNvPr id="5" name="文本框 4"/>
          <p:cNvSpPr txBox="1"/>
          <p:nvPr/>
        </p:nvSpPr>
        <p:spPr>
          <a:xfrm>
            <a:off x="345440" y="920750"/>
            <a:ext cx="39808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/>
              <a:t>统一的元学习</a:t>
            </a:r>
            <a:r>
              <a:rPr lang="zh-CN" altLang="en-US" sz="2000" b="1"/>
              <a:t>框架</a:t>
            </a:r>
            <a:endParaRPr lang="zh-CN" altLang="en-US" sz="2000" b="1"/>
          </a:p>
        </p:txBody>
      </p:sp>
      <p:sp>
        <p:nvSpPr>
          <p:cNvPr id="2" name="矩形 1"/>
          <p:cNvSpPr/>
          <p:nvPr/>
        </p:nvSpPr>
        <p:spPr>
          <a:xfrm>
            <a:off x="3990975" y="2506345"/>
            <a:ext cx="1864995" cy="5010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teacher</a:t>
            </a:r>
            <a:endParaRPr lang="en-US" altLang="zh-CN"/>
          </a:p>
        </p:txBody>
      </p:sp>
      <p:sp>
        <p:nvSpPr>
          <p:cNvPr id="3" name="椭圆 2"/>
          <p:cNvSpPr/>
          <p:nvPr/>
        </p:nvSpPr>
        <p:spPr>
          <a:xfrm>
            <a:off x="1584325" y="3295015"/>
            <a:ext cx="1132840" cy="60134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task</a:t>
            </a:r>
            <a:endParaRPr lang="en-US" altLang="zh-CN"/>
          </a:p>
        </p:txBody>
      </p:sp>
      <p:cxnSp>
        <p:nvCxnSpPr>
          <p:cNvPr id="7" name="直接箭头连接符 6"/>
          <p:cNvCxnSpPr>
            <a:stCxn id="3" idx="6"/>
            <a:endCxn id="2" idx="1"/>
          </p:cNvCxnSpPr>
          <p:nvPr/>
        </p:nvCxnSpPr>
        <p:spPr>
          <a:xfrm flipV="1">
            <a:off x="2717165" y="2757170"/>
            <a:ext cx="1273810" cy="8388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6904990" y="2355850"/>
            <a:ext cx="2175510" cy="7810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how to learn</a:t>
            </a:r>
            <a:endParaRPr lang="en-US" altLang="zh-CN"/>
          </a:p>
          <a:p>
            <a:pPr algn="ctr"/>
            <a:r>
              <a:rPr lang="en-US" altLang="zh-CN"/>
              <a:t>(self-edit)</a:t>
            </a:r>
            <a:endParaRPr lang="en-US" altLang="zh-CN"/>
          </a:p>
        </p:txBody>
      </p:sp>
      <p:cxnSp>
        <p:nvCxnSpPr>
          <p:cNvPr id="9" name="直接箭头连接符 8"/>
          <p:cNvCxnSpPr>
            <a:stCxn id="2" idx="3"/>
            <a:endCxn id="8" idx="2"/>
          </p:cNvCxnSpPr>
          <p:nvPr/>
        </p:nvCxnSpPr>
        <p:spPr>
          <a:xfrm flipV="1">
            <a:off x="5855970" y="2746375"/>
            <a:ext cx="1049020" cy="107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990975" y="4017010"/>
            <a:ext cx="1864995" cy="5010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student</a:t>
            </a:r>
            <a:endParaRPr lang="en-US" altLang="zh-CN"/>
          </a:p>
        </p:txBody>
      </p:sp>
      <p:cxnSp>
        <p:nvCxnSpPr>
          <p:cNvPr id="14" name="直接箭头连接符 13"/>
          <p:cNvCxnSpPr>
            <a:stCxn id="3" idx="6"/>
            <a:endCxn id="11" idx="1"/>
          </p:cNvCxnSpPr>
          <p:nvPr/>
        </p:nvCxnSpPr>
        <p:spPr>
          <a:xfrm>
            <a:off x="2717165" y="3596005"/>
            <a:ext cx="1273810" cy="67183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曲线连接符 14"/>
          <p:cNvCxnSpPr>
            <a:stCxn id="8" idx="6"/>
            <a:endCxn id="11" idx="1"/>
          </p:cNvCxnSpPr>
          <p:nvPr/>
        </p:nvCxnSpPr>
        <p:spPr>
          <a:xfrm flipH="1">
            <a:off x="3990975" y="2746375"/>
            <a:ext cx="5089525" cy="1521460"/>
          </a:xfrm>
          <a:prstGeom prst="curvedConnector5">
            <a:avLst>
              <a:gd name="adj1" fmla="val -4679"/>
              <a:gd name="adj2" fmla="val 48664"/>
              <a:gd name="adj3" fmla="val 104679"/>
            </a:avLst>
          </a:prstGeom>
          <a:ln>
            <a:tailEnd type="arrow" w="med" len="me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流程图: 决策 15"/>
          <p:cNvSpPr/>
          <p:nvPr/>
        </p:nvSpPr>
        <p:spPr>
          <a:xfrm>
            <a:off x="6798310" y="3896360"/>
            <a:ext cx="2576195" cy="741680"/>
          </a:xfrm>
          <a:prstGeom prst="flowChartDecision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evaluation</a:t>
            </a:r>
            <a:endParaRPr lang="en-US" altLang="zh-CN"/>
          </a:p>
        </p:txBody>
      </p:sp>
      <p:cxnSp>
        <p:nvCxnSpPr>
          <p:cNvPr id="17" name="直接箭头连接符 16"/>
          <p:cNvCxnSpPr>
            <a:stCxn id="11" idx="3"/>
            <a:endCxn id="16" idx="1"/>
          </p:cNvCxnSpPr>
          <p:nvPr/>
        </p:nvCxnSpPr>
        <p:spPr>
          <a:xfrm flipV="1">
            <a:off x="5855970" y="4267200"/>
            <a:ext cx="94234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16" idx="2"/>
            <a:endCxn id="11" idx="2"/>
          </p:cNvCxnSpPr>
          <p:nvPr/>
        </p:nvCxnSpPr>
        <p:spPr>
          <a:xfrm rot="5400000" flipH="1">
            <a:off x="6445250" y="2995930"/>
            <a:ext cx="120015" cy="3162935"/>
          </a:xfrm>
          <a:prstGeom prst="bentConnector3">
            <a:avLst>
              <a:gd name="adj1" fmla="val -198413"/>
            </a:avLst>
          </a:prstGeom>
          <a:ln>
            <a:tailEnd type="arrow" w="med" len="med"/>
          </a:ln>
        </p:spPr>
        <p:style>
          <a:lnRef idx="2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曲线连接符 19"/>
          <p:cNvCxnSpPr/>
          <p:nvPr/>
        </p:nvCxnSpPr>
        <p:spPr>
          <a:xfrm flipH="1" flipV="1">
            <a:off x="4923790" y="2506345"/>
            <a:ext cx="4450715" cy="1760855"/>
          </a:xfrm>
          <a:prstGeom prst="curvedConnector4">
            <a:avLst>
              <a:gd name="adj1" fmla="val -5350"/>
              <a:gd name="adj2" fmla="val 142553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5601970" y="5042535"/>
            <a:ext cx="1614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Inner Loop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5601970" y="1238885"/>
            <a:ext cx="1614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Outer Loop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思路</a:t>
            </a:r>
            <a:endParaRPr lang="zh-CN" altLang="en-US" sz="2400" b="1"/>
          </a:p>
        </p:txBody>
      </p:sp>
      <p:graphicFrame>
        <p:nvGraphicFramePr>
          <p:cNvPr id="21" name="表格 20"/>
          <p:cNvGraphicFramePr/>
          <p:nvPr>
            <p:custDataLst>
              <p:tags r:id="rId2"/>
            </p:custDataLst>
          </p:nvPr>
        </p:nvGraphicFramePr>
        <p:xfrm>
          <a:off x="836295" y="932180"/>
          <a:ext cx="9000490" cy="5265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5075"/>
                <a:gridCol w="1210310"/>
                <a:gridCol w="1922145"/>
                <a:gridCol w="1856800"/>
                <a:gridCol w="2776160"/>
              </a:tblGrid>
              <a:tr h="438785">
                <a:tc>
                  <a:txBody>
                    <a:bodyPr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论文方法</a:t>
                      </a:r>
                      <a:endParaRPr lang="zh-CN" altLang="en-US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router 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level</a:t>
                      </a:r>
                      <a:endParaRPr lang="en-US" altLang="zh-CN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Teacher (Outer Loop)</a:t>
                      </a:r>
                      <a:endParaRPr lang="en-US" altLang="zh-CN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Student (Inner Loop)</a:t>
                      </a:r>
                      <a:endParaRPr lang="en-US" altLang="zh-CN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"How to Learn" (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学习方案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/</a:t>
                      </a:r>
                      <a:r>
                        <a:rPr lang="zh-CN" altLang="en-US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指令</a:t>
                      </a:r>
                      <a:r>
                        <a:rPr lang="en-US" altLang="zh-CN" sz="14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4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MoRAL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Token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Token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级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Router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多个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LoRA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专家池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动态加权求和，分摊知识负载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ELDER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Senten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ce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Router (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语义感知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Mixture-of-LoRA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强制语义相似输入命中相同参数空间的约束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MiLoRA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Prompt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（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task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）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Prompt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级全局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Router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合并后的单一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LoRA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Prompt </a:t>
                      </a:r>
                      <a:r>
                        <a:rPr lang="zh-CN" altLang="en-US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感知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：一次性确定专家权重并线性合并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ProgLoRA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Task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任务评估器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(Task Evaluator)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渐进增长的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LoRA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块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任务感知分配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：按需长出新块，物理隔离知识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D-MoLE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Task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动态层级分配器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异构分布的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LoRA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专家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架构进化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：动态调整不同层的专家密度与模态比例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Adaptive Minds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Sentence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语义调度器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(LLM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充当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)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LoRA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插件工具箱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工具调用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：将任务路由至特定的专业领域适配器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InstructMoLE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Sentence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指令引导路由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(Global IGR)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DiT LoRA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专家团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全局指令对齐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：全图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Token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共享同一组专家指令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MoE-CL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Task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对抗性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Router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专属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+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共享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LoRA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专家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zh-CN" altLang="en-US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特征解耦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：通过对抗学习区分任务特有与通用特征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SEAL</a:t>
                      </a:r>
                      <a:endParaRPr lang="en-US" altLang="zh-CN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Fixed</a:t>
                      </a:r>
                      <a:endParaRPr lang="en-US" altLang="zh-CN" sz="11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Self-Edit </a:t>
                      </a:r>
                      <a:r>
                        <a:rPr lang="zh-CN" altLang="en-US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生成器 </a:t>
                      </a:r>
                      <a:r>
                        <a:rPr lang="en-US" altLang="zh-CN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(LLM)</a:t>
                      </a:r>
                      <a:endParaRPr lang="en-US" altLang="zh-CN" sz="11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LoRA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self-edit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：生成数据对、超参数及更新指令</a:t>
                      </a:r>
                      <a:endParaRPr lang="zh-CN" altLang="en-US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  <a:tr h="438785"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zh-CN" altLang="en-US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新方法</a:t>
                      </a:r>
                      <a:endParaRPr lang="zh-CN" altLang="en-US" sz="1100" b="1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Task</a:t>
                      </a:r>
                      <a:endParaRPr lang="en-US" altLang="zh-CN" sz="11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Self-Edit </a:t>
                      </a:r>
                      <a:r>
                        <a:rPr lang="zh-CN" altLang="en-US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生成器 </a:t>
                      </a: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  <a:sym typeface="+mn-ea"/>
                        </a:rPr>
                        <a:t>(LLM)</a:t>
                      </a:r>
                      <a:endParaRPr lang="zh-CN" altLang="en-US" sz="11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MoE LoRA</a:t>
                      </a:r>
                      <a:endParaRPr lang="en-US" altLang="zh-CN" sz="110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pPr>
                        <a:spcBef>
                          <a:spcPct val="0"/>
                        </a:spcBef>
                        <a:buNone/>
                      </a:pPr>
                      <a:r>
                        <a:rPr lang="en-US" altLang="zh-CN" sz="1100" b="1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self-edit:   </a:t>
                      </a:r>
                      <a:r>
                        <a:rPr lang="zh-CN" altLang="en-US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在</a:t>
                      </a:r>
                      <a:r>
                        <a:rPr lang="en-US" altLang="zh-CN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SEAL</a:t>
                      </a:r>
                      <a:r>
                        <a:rPr lang="zh-CN" altLang="en-US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基础上加入参数选择</a:t>
                      </a:r>
                      <a:r>
                        <a:rPr lang="zh-CN" altLang="en-US" sz="1100" b="0">
                          <a:solidFill>
                            <a:schemeClr val="tx1"/>
                          </a:solidFill>
                          <a:uFillTx/>
                          <a:latin typeface="Times New Roman" panose="02020603050405020304" charset="0"/>
                          <a:ea typeface="宋体" panose="02010600030101010101" pitchFamily="2" charset="-122"/>
                        </a:rPr>
                        <a:t>指令</a:t>
                      </a:r>
                      <a:endParaRPr lang="zh-CN" altLang="en-US" sz="1100" b="0">
                        <a:solidFill>
                          <a:schemeClr val="tx1"/>
                        </a:solidFill>
                        <a:uFillTx/>
                        <a:latin typeface="Times New Roman" panose="0202060305040502030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TABLE_ENDDRAG_ORIGIN_RECT" val="708*379"/>
  <p:tag name="TABLE_ENDDRAG_RECT" val="76*86*708*379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1671</Words>
  <Application>WPS 演示</Application>
  <PresentationFormat>宽屏</PresentationFormat>
  <Paragraphs>174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Google Sans Flex</vt:lpstr>
      <vt:lpstr>Segoe Print</vt:lpstr>
      <vt:lpstr>NimbusRomNo9L-Medi</vt:lpstr>
      <vt:lpstr>Google Sans Text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176</cp:revision>
  <dcterms:created xsi:type="dcterms:W3CDTF">2019-06-19T02:08:00Z</dcterms:created>
  <dcterms:modified xsi:type="dcterms:W3CDTF">2026-01-16T03:15:42Z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CC4AC3AD79CA40C18E9B66A5156574DC_11</vt:lpwstr>
  </property>
</Properties>
</file>