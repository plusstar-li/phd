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307" r:id="rId3"/>
    <p:sldId id="330" r:id="rId4"/>
    <p:sldId id="326" r:id="rId5"/>
    <p:sldId id="340" r:id="rId6"/>
    <p:sldId id="341" r:id="rId7"/>
    <p:sldId id="332" r:id="rId8"/>
    <p:sldId id="343" r:id="rId9"/>
    <p:sldId id="337" r:id="rId10"/>
    <p:sldId id="344" r:id="rId11"/>
  </p:sldIdLst>
  <p:sldSz cx="18288000" cy="10287000"/>
  <p:notesSz cx="6858000" cy="9144000"/>
  <p:embeddedFontLst>
    <p:embeddedFont>
      <p:font typeface="微软雅黑" panose="020B0503020204020204" charset="-122"/>
      <p:regular r:id="rId16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 userDrawn="1">
          <p15:clr>
            <a:srgbClr val="A4A3A4"/>
          </p15:clr>
        </p15:guide>
        <p15:guide id="2" pos="29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5DCDC"/>
    <a:srgbClr val="356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103" d="100"/>
          <a:sy n="103" d="100"/>
        </p:scale>
        <p:origin x="534" y="126"/>
      </p:cViewPr>
      <p:guideLst>
        <p:guide orient="horz" pos="2059"/>
        <p:guide pos="29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6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2.xml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svg"/><Relationship Id="rId8" Type="http://schemas.openxmlformats.org/officeDocument/2006/relationships/image" Target="../media/image7.png"/><Relationship Id="rId7" Type="http://schemas.openxmlformats.org/officeDocument/2006/relationships/image" Target="../media/image14.svg"/><Relationship Id="rId6" Type="http://schemas.openxmlformats.org/officeDocument/2006/relationships/image" Target="../media/image5.png"/><Relationship Id="rId5" Type="http://schemas.openxmlformats.org/officeDocument/2006/relationships/image" Target="../media/image13.svg"/><Relationship Id="rId4" Type="http://schemas.openxmlformats.org/officeDocument/2006/relationships/image" Target="../media/image3.png"/><Relationship Id="rId3" Type="http://schemas.openxmlformats.org/officeDocument/2006/relationships/image" Target="../media/image12.sv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4.xml"/><Relationship Id="rId11" Type="http://schemas.openxmlformats.org/officeDocument/2006/relationships/image" Target="../media/image16.svg"/><Relationship Id="rId10" Type="http://schemas.openxmlformats.org/officeDocument/2006/relationships/image" Target="../media/image9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image" Target="../media/image11.png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image" Target="../media/image19.png"/><Relationship Id="rId3" Type="http://schemas.openxmlformats.org/officeDocument/2006/relationships/tags" Target="../tags/tag10.xml"/><Relationship Id="rId2" Type="http://schemas.openxmlformats.org/officeDocument/2006/relationships/image" Target="../media/image11.pn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11.png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7.png"/><Relationship Id="rId7" Type="http://schemas.openxmlformats.org/officeDocument/2006/relationships/image" Target="../media/image22.svg"/><Relationship Id="rId6" Type="http://schemas.openxmlformats.org/officeDocument/2006/relationships/image" Target="../media/image5.png"/><Relationship Id="rId5" Type="http://schemas.openxmlformats.org/officeDocument/2006/relationships/image" Target="../media/image21.svg"/><Relationship Id="rId4" Type="http://schemas.openxmlformats.org/officeDocument/2006/relationships/image" Target="../media/image3.png"/><Relationship Id="rId3" Type="http://schemas.openxmlformats.org/officeDocument/2006/relationships/image" Target="../media/image20.svg"/><Relationship Id="rId2" Type="http://schemas.openxmlformats.org/officeDocument/2006/relationships/image" Target="../media/image1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12" Type="http://schemas.openxmlformats.org/officeDocument/2006/relationships/tags" Target="../tags/tag16.xml"/><Relationship Id="rId11" Type="http://schemas.openxmlformats.org/officeDocument/2006/relationships/image" Target="../media/image24.svg"/><Relationship Id="rId10" Type="http://schemas.openxmlformats.org/officeDocument/2006/relationships/image" Target="../media/image9.png"/><Relationship Id="rId1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image" Target="../media/image11.png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11.png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11.png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79195" y="3362960"/>
            <a:ext cx="15447645" cy="1846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zh-CN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暑期工作与新学期</a:t>
            </a:r>
            <a:r>
              <a:rPr lang="zh-CN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endParaRPr lang="zh-CN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1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5915" y="3362960"/>
            <a:ext cx="14561820" cy="3693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Part1: </a:t>
            </a:r>
            <a:endParaRPr 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4400"/>
              </a:lnSpc>
            </a:pP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暑期</a:t>
            </a: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工作</a:t>
            </a:r>
            <a:endParaRPr lang="zh-CN" alt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1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Text-to-LoRA </a:t>
            </a:r>
            <a:r>
              <a:rPr lang="zh-CN" altLang="en-US" sz="3600" b="1"/>
              <a:t>论文</a:t>
            </a:r>
            <a:r>
              <a:rPr lang="zh-CN" altLang="en-US" sz="3600" b="1"/>
              <a:t>阅读</a:t>
            </a:r>
            <a:endParaRPr lang="zh-CN" altLang="en-US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0"/>
          <p:cNvSpPr txBox="1"/>
          <p:nvPr>
            <p:custDataLst>
              <p:tags r:id="rId3"/>
            </p:custDataLst>
          </p:nvPr>
        </p:nvSpPr>
        <p:spPr>
          <a:xfrm>
            <a:off x="609600" y="1852295"/>
            <a:ext cx="16199485" cy="2215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阅读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文献：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ICML2025 Text-to-LoRA: Instant Transformer Adaption.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NIPS2026 Drag-and-Drop LLMs: Zero-Shot Prompt-to-Weights.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CVPR2026 LoFA: Learning to Predict Personalized Priors for Fast Adaptation of Visual Generative Models.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30"/>
          <p:cNvSpPr txBox="1"/>
          <p:nvPr>
            <p:custDataLst>
              <p:tags r:id="rId4"/>
            </p:custDataLst>
          </p:nvPr>
        </p:nvSpPr>
        <p:spPr>
          <a:xfrm>
            <a:off x="533400" y="4806315"/>
            <a:ext cx="16199485" cy="1661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与现有自进化课题的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关系：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Text-to-LoRA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属于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model-base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端的自进化领域，可以与现有的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SEAL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系列工作进行对比，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SEAL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多了关于数据端的编辑调整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，而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Text-to-LoRA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则采用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Hypernetwork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model-based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的方法来生成新的参数改进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模型。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7277100"/>
            <a:ext cx="9263380" cy="25514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6667500"/>
            <a:ext cx="2680335" cy="34575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Text-to-LoRA </a:t>
            </a:r>
            <a:r>
              <a:rPr lang="zh-CN" altLang="en-US" sz="3600" b="1"/>
              <a:t>论文</a:t>
            </a:r>
            <a:r>
              <a:rPr lang="zh-CN" altLang="en-US" sz="3600" b="1"/>
              <a:t>阅读</a:t>
            </a:r>
            <a:endParaRPr lang="zh-CN" altLang="en-US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0"/>
          <p:cNvSpPr txBox="1"/>
          <p:nvPr>
            <p:custDataLst>
              <p:tags r:id="rId3"/>
            </p:custDataLst>
          </p:nvPr>
        </p:nvSpPr>
        <p:spPr>
          <a:xfrm>
            <a:off x="518160" y="1790700"/>
            <a:ext cx="16199485" cy="2215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可探究的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问题：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经过实验发现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SEAL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框架中模型存在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self-edit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能力与模型在下游任务中能力相互冲突的问题，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self-edit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的生成能力（自进化的指导能力）会随着真实任务中的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SFT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而遗忘，两者输入输出本身存在差异，用同一套模型不同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LoRA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的方式是否最终可行，是否引入另外的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hypernetwork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，或者采用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student-teacher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模式会更好，是下一阶段可以研究的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问题。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forgetting_heatmaps_combined_b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4683125"/>
            <a:ext cx="11586210" cy="493776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SEAL</a:t>
            </a:r>
            <a:r>
              <a:rPr lang="zh-CN" altLang="en-US" sz="3600" b="1"/>
              <a:t>实验</a:t>
            </a:r>
            <a:endParaRPr lang="zh-CN" altLang="en-US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0"/>
          <p:cNvSpPr txBox="1"/>
          <p:nvPr>
            <p:custDataLst>
              <p:tags r:id="rId3"/>
            </p:custDataLst>
          </p:nvPr>
        </p:nvSpPr>
        <p:spPr>
          <a:xfrm>
            <a:off x="518160" y="1790700"/>
            <a:ext cx="16199485" cy="3323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完成了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Baseline1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的实验，初步验证了模型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self-edit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存在遗忘，引入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o-lora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技术的有效性，但是也遇到了以下待解决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的问题：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implications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形式的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self-edit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无法提供原文足够的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信息。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需要找到一种好的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task embedding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的表示来进行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task affinity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的计算，从而可以量化分析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task affinity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对于模型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CL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过程中遗忘的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程度。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Freeform 35"/>
          <p:cNvSpPr/>
          <p:nvPr>
            <p:custDataLst>
              <p:tags r:id="rId1"/>
            </p:custDataLst>
          </p:nvPr>
        </p:nvSpPr>
        <p:spPr>
          <a:xfrm>
            <a:off x="0" y="1"/>
            <a:ext cx="3624132" cy="2858674"/>
          </a:xfrm>
          <a:custGeom>
            <a:avLst/>
            <a:gdLst/>
            <a:ahLst/>
            <a:cxnLst/>
            <a:rect l="l" t="t" r="r" b="b"/>
            <a:pathLst>
              <a:path w="3624132" h="2858674">
                <a:moveTo>
                  <a:pt x="0" y="0"/>
                </a:moveTo>
                <a:lnTo>
                  <a:pt x="3624132" y="0"/>
                </a:lnTo>
                <a:lnTo>
                  <a:pt x="3624132" y="2858675"/>
                </a:lnTo>
                <a:lnTo>
                  <a:pt x="0" y="285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" name="Group 2"/>
          <p:cNvGrpSpPr/>
          <p:nvPr/>
        </p:nvGrpSpPr>
        <p:grpSpPr>
          <a:xfrm>
            <a:off x="13120137" y="4702694"/>
            <a:ext cx="881613" cy="881613"/>
            <a:chOff x="0" y="0"/>
            <a:chExt cx="1175484" cy="11754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5512" cy="1175512"/>
            </a:xfrm>
            <a:custGeom>
              <a:avLst/>
              <a:gdLst/>
              <a:ahLst/>
              <a:cxnLst/>
              <a:rect l="l" t="t" r="r" b="b"/>
              <a:pathLst>
                <a:path w="1175512" h="1175512">
                  <a:moveTo>
                    <a:pt x="0" y="587756"/>
                  </a:moveTo>
                  <a:cubicBezTo>
                    <a:pt x="0" y="263144"/>
                    <a:pt x="263144" y="0"/>
                    <a:pt x="587756" y="0"/>
                  </a:cubicBezTo>
                  <a:cubicBezTo>
                    <a:pt x="912368" y="0"/>
                    <a:pt x="1175512" y="263144"/>
                    <a:pt x="1175512" y="587756"/>
                  </a:cubicBezTo>
                  <a:cubicBezTo>
                    <a:pt x="1175512" y="912368"/>
                    <a:pt x="912368" y="1175512"/>
                    <a:pt x="587756" y="1175512"/>
                  </a:cubicBezTo>
                  <a:cubicBezTo>
                    <a:pt x="263144" y="1175512"/>
                    <a:pt x="0" y="912368"/>
                    <a:pt x="0" y="5877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7739793"/>
            <a:ext cx="4166946" cy="2547208"/>
          </a:xfrm>
          <a:custGeom>
            <a:avLst/>
            <a:gdLst/>
            <a:ahLst/>
            <a:cxnLst/>
            <a:rect l="l" t="t" r="r" b="b"/>
            <a:pathLst>
              <a:path w="4166946" h="2547208">
                <a:moveTo>
                  <a:pt x="0" y="0"/>
                </a:moveTo>
                <a:lnTo>
                  <a:pt x="4166946" y="0"/>
                </a:lnTo>
                <a:lnTo>
                  <a:pt x="4166946" y="2547208"/>
                </a:lnTo>
                <a:lnTo>
                  <a:pt x="0" y="2547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1812" y="7673386"/>
            <a:ext cx="2936188" cy="2613614"/>
          </a:xfrm>
          <a:custGeom>
            <a:avLst/>
            <a:gdLst/>
            <a:ahLst/>
            <a:cxnLst/>
            <a:rect l="l" t="t" r="r" b="b"/>
            <a:pathLst>
              <a:path w="2936188" h="2613614">
                <a:moveTo>
                  <a:pt x="0" y="0"/>
                </a:moveTo>
                <a:lnTo>
                  <a:pt x="2936188" y="0"/>
                </a:lnTo>
                <a:lnTo>
                  <a:pt x="2936188" y="2613614"/>
                </a:lnTo>
                <a:lnTo>
                  <a:pt x="0" y="2613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06348" y="-9525"/>
            <a:ext cx="3491176" cy="2688062"/>
          </a:xfrm>
          <a:custGeom>
            <a:avLst/>
            <a:gdLst/>
            <a:ahLst/>
            <a:cxnLst/>
            <a:rect l="l" t="t" r="r" b="b"/>
            <a:pathLst>
              <a:path w="3491176" h="2688062">
                <a:moveTo>
                  <a:pt x="0" y="0"/>
                </a:moveTo>
                <a:lnTo>
                  <a:pt x="3491177" y="0"/>
                </a:lnTo>
                <a:lnTo>
                  <a:pt x="3491177" y="2688062"/>
                </a:lnTo>
                <a:lnTo>
                  <a:pt x="0" y="26880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881124" y="492074"/>
            <a:ext cx="663678" cy="663678"/>
            <a:chOff x="0" y="0"/>
            <a:chExt cx="884904" cy="8849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4936" cy="884936"/>
            </a:xfrm>
            <a:custGeom>
              <a:avLst/>
              <a:gdLst/>
              <a:ahLst/>
              <a:cxnLst/>
              <a:rect l="l" t="t" r="r" b="b"/>
              <a:pathLst>
                <a:path w="884936" h="884936">
                  <a:moveTo>
                    <a:pt x="0" y="442468"/>
                  </a:moveTo>
                  <a:cubicBezTo>
                    <a:pt x="0" y="198120"/>
                    <a:pt x="198120" y="0"/>
                    <a:pt x="442468" y="0"/>
                  </a:cubicBezTo>
                  <a:cubicBezTo>
                    <a:pt x="686816" y="0"/>
                    <a:pt x="884936" y="198120"/>
                    <a:pt x="884936" y="442468"/>
                  </a:cubicBezTo>
                  <a:cubicBezTo>
                    <a:pt x="884936" y="686816"/>
                    <a:pt x="686816" y="884936"/>
                    <a:pt x="442468" y="884936"/>
                  </a:cubicBezTo>
                  <a:cubicBezTo>
                    <a:pt x="198120" y="884936"/>
                    <a:pt x="0" y="686816"/>
                    <a:pt x="0" y="442468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63274" y="9463088"/>
            <a:ext cx="1713174" cy="762255"/>
          </a:xfrm>
          <a:custGeom>
            <a:avLst/>
            <a:gdLst/>
            <a:ahLst/>
            <a:cxnLst/>
            <a:rect l="l" t="t" r="r" b="b"/>
            <a:pathLst>
              <a:path w="1713174" h="762255">
                <a:moveTo>
                  <a:pt x="0" y="0"/>
                </a:moveTo>
                <a:lnTo>
                  <a:pt x="1713174" y="0"/>
                </a:lnTo>
                <a:lnTo>
                  <a:pt x="1713174" y="762254"/>
                </a:lnTo>
                <a:lnTo>
                  <a:pt x="0" y="762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05915" y="3362960"/>
            <a:ext cx="14561820" cy="3693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Part2: </a:t>
            </a:r>
            <a:endParaRPr 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ts val="14400"/>
              </a:lnSpc>
            </a:pP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新学期</a:t>
            </a:r>
            <a:r>
              <a:rPr lang="zh-CN" altLang="en-US" sz="12000">
                <a:solidFill>
                  <a:srgbClr val="356AFF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endParaRPr lang="zh-CN" altLang="en-US" sz="12000">
              <a:solidFill>
                <a:srgbClr val="356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352170" y="2226470"/>
            <a:ext cx="439840" cy="439840"/>
            <a:chOff x="0" y="0"/>
            <a:chExt cx="586454" cy="5864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486" cy="586486"/>
            </a:xfrm>
            <a:custGeom>
              <a:avLst/>
              <a:gdLst/>
              <a:ahLst/>
              <a:cxnLst/>
              <a:rect l="l" t="t" r="r" b="b"/>
              <a:pathLst>
                <a:path w="586486" h="586486">
                  <a:moveTo>
                    <a:pt x="0" y="293243"/>
                  </a:moveTo>
                  <a:cubicBezTo>
                    <a:pt x="0" y="131318"/>
                    <a:pt x="131318" y="0"/>
                    <a:pt x="293243" y="0"/>
                  </a:cubicBezTo>
                  <a:cubicBezTo>
                    <a:pt x="455168" y="0"/>
                    <a:pt x="586486" y="131318"/>
                    <a:pt x="586486" y="293243"/>
                  </a:cubicBezTo>
                  <a:cubicBezTo>
                    <a:pt x="586486" y="455168"/>
                    <a:pt x="455168" y="586486"/>
                    <a:pt x="293243" y="586486"/>
                  </a:cubicBezTo>
                  <a:cubicBezTo>
                    <a:pt x="131318" y="586486"/>
                    <a:pt x="0" y="455168"/>
                    <a:pt x="0" y="293243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97742" y="8893346"/>
            <a:ext cx="569742" cy="569742"/>
            <a:chOff x="0" y="0"/>
            <a:chExt cx="759656" cy="7596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9714" cy="759714"/>
            </a:xfrm>
            <a:custGeom>
              <a:avLst/>
              <a:gdLst/>
              <a:ahLst/>
              <a:cxnLst/>
              <a:rect l="l" t="t" r="r" b="b"/>
              <a:pathLst>
                <a:path w="759714" h="759714">
                  <a:moveTo>
                    <a:pt x="0" y="379857"/>
                  </a:moveTo>
                  <a:cubicBezTo>
                    <a:pt x="0" y="170053"/>
                    <a:pt x="170053" y="0"/>
                    <a:pt x="379857" y="0"/>
                  </a:cubicBezTo>
                  <a:cubicBezTo>
                    <a:pt x="589661" y="0"/>
                    <a:pt x="759714" y="170053"/>
                    <a:pt x="759714" y="379857"/>
                  </a:cubicBezTo>
                  <a:cubicBezTo>
                    <a:pt x="759714" y="589661"/>
                    <a:pt x="589661" y="759714"/>
                    <a:pt x="379857" y="759714"/>
                  </a:cubicBezTo>
                  <a:cubicBezTo>
                    <a:pt x="170053" y="759714"/>
                    <a:pt x="0" y="589661"/>
                    <a:pt x="0" y="379857"/>
                  </a:cubicBezTo>
                  <a:close/>
                  <a:moveTo>
                    <a:pt x="189865" y="379857"/>
                  </a:moveTo>
                  <a:cubicBezTo>
                    <a:pt x="189865" y="484759"/>
                    <a:pt x="274955" y="569722"/>
                    <a:pt x="379730" y="569722"/>
                  </a:cubicBezTo>
                  <a:cubicBezTo>
                    <a:pt x="484505" y="569722"/>
                    <a:pt x="569595" y="484632"/>
                    <a:pt x="569595" y="379857"/>
                  </a:cubicBezTo>
                  <a:cubicBezTo>
                    <a:pt x="569595" y="275082"/>
                    <a:pt x="484505" y="189992"/>
                    <a:pt x="379730" y="189992"/>
                  </a:cubicBezTo>
                  <a:cubicBezTo>
                    <a:pt x="274955" y="189992"/>
                    <a:pt x="189865" y="275082"/>
                    <a:pt x="189865" y="379857"/>
                  </a:cubicBezTo>
                  <a:close/>
                </a:path>
              </a:pathLst>
            </a:custGeom>
            <a:solidFill>
              <a:srgbClr val="356A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92919" y="7834312"/>
            <a:ext cx="885825" cy="885825"/>
            <a:chOff x="0" y="0"/>
            <a:chExt cx="1181100" cy="1181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1181100" y="590550"/>
                  </a:moveTo>
                  <a:cubicBezTo>
                    <a:pt x="1181100" y="264414"/>
                    <a:pt x="916686" y="0"/>
                    <a:pt x="590550" y="0"/>
                  </a:cubicBezTo>
                  <a:cubicBezTo>
                    <a:pt x="264414" y="0"/>
                    <a:pt x="0" y="264414"/>
                    <a:pt x="0" y="590550"/>
                  </a:cubicBezTo>
                  <a:cubicBezTo>
                    <a:pt x="0" y="916686"/>
                    <a:pt x="264414" y="1181100"/>
                    <a:pt x="590550" y="1181100"/>
                  </a:cubicBezTo>
                  <a:cubicBezTo>
                    <a:pt x="916686" y="1181100"/>
                    <a:pt x="1181100" y="916686"/>
                    <a:pt x="1181100" y="590550"/>
                  </a:cubicBezTo>
                  <a:close/>
                </a:path>
              </a:pathLst>
            </a:custGeom>
            <a:solidFill>
              <a:srgbClr val="2C57D4"/>
            </a:solidFill>
          </p:spPr>
        </p:sp>
      </p:grpSp>
      <p:sp>
        <p:nvSpPr>
          <p:cNvPr id="190" name="Freeform 30"/>
          <p:cNvSpPr/>
          <p:nvPr>
            <p:custDataLst>
              <p:tags r:id="rId12"/>
            </p:custDataLst>
          </p:nvPr>
        </p:nvSpPr>
        <p:spPr>
          <a:xfrm>
            <a:off x="304888" y="24906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LLM</a:t>
            </a:r>
            <a:r>
              <a:rPr lang="zh-CN" altLang="en-US" sz="3600" b="1"/>
              <a:t>自进化</a:t>
            </a:r>
            <a:r>
              <a:rPr lang="zh-CN" altLang="en-US" sz="3600" b="1"/>
              <a:t>课题</a:t>
            </a:r>
            <a:endParaRPr lang="zh-CN" altLang="en-US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0"/>
          <p:cNvSpPr txBox="1"/>
          <p:nvPr>
            <p:custDataLst>
              <p:tags r:id="rId3"/>
            </p:custDataLst>
          </p:nvPr>
        </p:nvSpPr>
        <p:spPr>
          <a:xfrm>
            <a:off x="518160" y="1790700"/>
            <a:ext cx="16199485" cy="443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研究的问题：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寻找到合适的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data agmentation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方式取代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implications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的方式。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寻找到合适的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task embedding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task affinity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的计算方式，并在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o-lora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自进化框架上验证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有效。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探索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teacher-student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框架对于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self-edit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生成是否有提升。（原论文论证单个模型做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self-edit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sft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就可以）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如果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成立，则验证将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teacher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设计成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hypernetwork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的形式，一个模型输入原始文本或者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other task representation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，输出训练数据、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LoRA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的参数，以及训练的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hps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，验证是否可行。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5.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就算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成立，探索单模型解决所有问题的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可行性。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10641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Maximal Coding Rate Reduction </a:t>
            </a:r>
            <a:r>
              <a:rPr lang="zh-CN" altLang="en-US" sz="3600" b="1"/>
              <a:t>理论的</a:t>
            </a:r>
            <a:r>
              <a:rPr lang="zh-CN" altLang="en-US" sz="3600" b="1"/>
              <a:t>学习</a:t>
            </a:r>
            <a:endParaRPr lang="zh-CN" altLang="en-US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0"/>
          <p:cNvSpPr txBox="1"/>
          <p:nvPr>
            <p:custDataLst>
              <p:tags r:id="rId3"/>
            </p:custDataLst>
          </p:nvPr>
        </p:nvSpPr>
        <p:spPr>
          <a:xfrm>
            <a:off x="518160" y="1790700"/>
            <a:ext cx="16199485" cy="635571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学习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Maximal Coding Rate Reduction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理论，并且精度以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MCR2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理论为基础的一系列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white-transformer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工作，目前已经完成部分文献阅读，完成全部阅读并理解后开展一次系列工作的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汇报。文献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列表：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 Segmentation of Multivariate Mixed Data via Lossy Data Coding and Compression.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Learning Diverse and Discriminative Representations via the Principle of Maximal Coding Rate Reduction.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3. Deep networks from the principle of rate reduction.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4. ReduNet: A White-box Deep Network from the Principle of Maximizing Rate Reduction.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5. White-Box Transformers via Sparse Rate Reduction.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6. Beyond the Black Box: Theory and Mechanism of Large Language Models.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进行完文献阅读与总结后，从中找出需要解决的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1~2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个问题，开始进行该方向的深入研究。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18160" y="468630"/>
            <a:ext cx="597122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课程</a:t>
            </a:r>
            <a:r>
              <a:rPr lang="zh-CN" altLang="en-US" sz="3600" b="1"/>
              <a:t>学习</a:t>
            </a:r>
            <a:endParaRPr lang="zh-CN" altLang="en-US" sz="3600" b="1"/>
          </a:p>
        </p:txBody>
      </p:sp>
      <p:sp>
        <p:nvSpPr>
          <p:cNvPr id="190" name="Freeform 30"/>
          <p:cNvSpPr/>
          <p:nvPr>
            <p:custDataLst>
              <p:tags r:id="rId1"/>
            </p:custDataLst>
          </p:nvPr>
        </p:nvSpPr>
        <p:spPr>
          <a:xfrm>
            <a:off x="15468688" y="343041"/>
            <a:ext cx="2187262" cy="656549"/>
          </a:xfrm>
          <a:custGeom>
            <a:avLst/>
            <a:gdLst/>
            <a:ahLst/>
            <a:cxnLst/>
            <a:rect l="l" t="t" r="r" b="b"/>
            <a:pathLst>
              <a:path w="2187262" h="656549">
                <a:moveTo>
                  <a:pt x="0" y="0"/>
                </a:moveTo>
                <a:lnTo>
                  <a:pt x="2187262" y="0"/>
                </a:lnTo>
                <a:lnTo>
                  <a:pt x="2187262" y="656549"/>
                </a:lnTo>
                <a:lnTo>
                  <a:pt x="0" y="656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30"/>
          <p:cNvSpPr txBox="1"/>
          <p:nvPr>
            <p:custDataLst>
              <p:tags r:id="rId3"/>
            </p:custDataLst>
          </p:nvPr>
        </p:nvSpPr>
        <p:spPr>
          <a:xfrm>
            <a:off x="518160" y="1790700"/>
            <a:ext cx="16199485" cy="276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本学期在河套选择了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最优化理论，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高等矩阵计算，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强化学习，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ts val="4320"/>
              </a:lnSpc>
              <a:buClrTx/>
              <a:buSzTx/>
              <a:buFontTx/>
            </a:pP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三门理论课程，争取掌握这三门课程的内容，并且用于实际研究课题的理论分析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中。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7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DIAGRAM_VIRTUALLY_FRAME" val="{&quot;height&quot;:648.229842519685,&quot;left&quot;:519.5674015748032,&quot;top&quot;:111.19047244094489,&quot;width&quot;:817.1200787401575}"/>
</p:tagLst>
</file>

<file path=ppt/tags/tag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1839</Words>
  <Application>WPS 演示</Application>
  <PresentationFormat>自定义</PresentationFormat>
  <Paragraphs>63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蓝色简约商业计划书演示文稿</dc:title>
  <dc:creator>唐玉婵</dc:creator>
  <cp:lastModifiedBy>是她</cp:lastModifiedBy>
  <cp:revision>55</cp:revision>
  <dcterms:created xsi:type="dcterms:W3CDTF">2006-08-16T00:00:00Z</dcterms:created>
  <dcterms:modified xsi:type="dcterms:W3CDTF">2026-09-12T02:21:08Z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A1735CF52F6D4D80BA44C61B7048A70D_12</vt:lpwstr>
  </property>
  <property fmtid="{D5CDD505-2E9C-101B-9397-08002B2CF9AE}" pid="3" name="KSOProductBuildVer">
    <vt:lpwstr>2052-12.1.0.28505</vt:lpwstr>
  </property>
</Properties>
</file>