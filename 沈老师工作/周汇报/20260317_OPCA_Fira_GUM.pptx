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16" r:id="rId3"/>
    <p:sldId id="259" r:id="rId4"/>
    <p:sldId id="301" r:id="rId5"/>
    <p:sldId id="302" r:id="rId6"/>
    <p:sldId id="303" r:id="rId7"/>
    <p:sldId id="309" r:id="rId8"/>
    <p:sldId id="310" r:id="rId9"/>
    <p:sldId id="311" r:id="rId10"/>
    <p:sldId id="312" r:id="rId11"/>
    <p:sldId id="315" r:id="rId12"/>
    <p:sldId id="313" r:id="rId13"/>
    <p:sldId id="314" r:id="rId14"/>
    <p:sldId id="277" r:id="rId15"/>
    <p:sldId id="304" r:id="rId16"/>
    <p:sldId id="305" r:id="rId17"/>
    <p:sldId id="306" r:id="rId18"/>
    <p:sldId id="307" r:id="rId19"/>
    <p:sldId id="308" r:id="rId20"/>
    <p:sldId id="28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6"/>
        <p:guide pos="38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5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9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0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4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6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7.xml"/><Relationship Id="rId2" Type="http://schemas.openxmlformats.org/officeDocument/2006/relationships/image" Target="../media/image3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image" Target="../media/image34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9.xml"/><Relationship Id="rId2" Type="http://schemas.openxmlformats.org/officeDocument/2006/relationships/image" Target="../media/image35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image" Target="../media/image36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Summary</a:t>
            </a:r>
            <a:endParaRPr lang="en-US" altLang="zh-CN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701800"/>
            <a:ext cx="9418320" cy="3675380"/>
          </a:xfrm>
          <a:prstGeom prst="rect">
            <a:avLst/>
          </a:prstGeom>
        </p:spPr>
      </p:pic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Online Subspace Descent</a:t>
            </a:r>
            <a:endParaRPr lang="en-US" altLang="zh-CN" sz="2400" b="1"/>
          </a:p>
        </p:txBody>
      </p:sp>
      <p:sp>
        <p:nvSpPr>
          <p:cNvPr id="2" name="文本框 1"/>
          <p:cNvSpPr txBox="1"/>
          <p:nvPr/>
        </p:nvSpPr>
        <p:spPr>
          <a:xfrm>
            <a:off x="345440" y="920750"/>
            <a:ext cx="89566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Motivation</a:t>
            </a:r>
            <a:r>
              <a:rPr lang="zh-CN" altLang="en-US" sz="2000"/>
              <a:t>：</a:t>
            </a:r>
            <a:r>
              <a:rPr lang="en-US" altLang="zh-CN" sz="2000"/>
              <a:t>GaLore</a:t>
            </a:r>
            <a:r>
              <a:rPr lang="zh-CN" altLang="en-US" sz="2000"/>
              <a:t>系列方法</a:t>
            </a:r>
            <a:r>
              <a:rPr lang="en-US" altLang="zh-CN" sz="2000"/>
              <a:t>SVD</a:t>
            </a:r>
            <a:r>
              <a:rPr lang="zh-CN" altLang="en-US" sz="2000"/>
              <a:t>的计算是周期性的，不是连续的，迭代更新会存在滞后性和不一致性；再者计算一次全权重的</a:t>
            </a:r>
            <a:r>
              <a:rPr lang="en-US" altLang="zh-CN" sz="2000"/>
              <a:t>SVD</a:t>
            </a:r>
            <a:r>
              <a:rPr lang="zh-CN" altLang="en-US" sz="2000"/>
              <a:t>太慢。</a:t>
            </a:r>
            <a:endParaRPr lang="zh-CN" altLang="en-US" sz="2000"/>
          </a:p>
        </p:txBody>
      </p:sp>
      <p:sp>
        <p:nvSpPr>
          <p:cNvPr id="10" name="文本框 9"/>
          <p:cNvSpPr txBox="1"/>
          <p:nvPr/>
        </p:nvSpPr>
        <p:spPr>
          <a:xfrm>
            <a:off x="493395" y="6239510"/>
            <a:ext cx="10503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Memory-Efficient LLM Training with Online Subspace Descent. Advances in Neural Information Processing Systems, 2025.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555" y="2347595"/>
            <a:ext cx="7528560" cy="31927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Online Subspace Descent</a:t>
            </a:r>
            <a:endParaRPr lang="en-US" altLang="zh-CN" sz="2400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60" y="1009015"/>
            <a:ext cx="7658100" cy="3314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695" y="4679950"/>
            <a:ext cx="6972300" cy="266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7955" y="5062855"/>
            <a:ext cx="5669280" cy="5715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998980" y="4493260"/>
            <a:ext cx="7432675" cy="1173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5460" y="5836285"/>
            <a:ext cx="7505700" cy="8458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Online Subspace Descent</a:t>
            </a:r>
            <a:endParaRPr lang="en-US" altLang="zh-CN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70" y="1270635"/>
            <a:ext cx="7459980" cy="24841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70" y="3908425"/>
            <a:ext cx="7421880" cy="20269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Online Subspace Descent</a:t>
            </a:r>
            <a:endParaRPr lang="en-US" altLang="zh-CN" sz="24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1524635"/>
            <a:ext cx="7536180" cy="1447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975" y="4078605"/>
            <a:ext cx="7734300" cy="14782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Fira</a:t>
            </a:r>
            <a:endParaRPr lang="en-US" altLang="zh-CN" sz="2400" b="1"/>
          </a:p>
        </p:txBody>
      </p:sp>
      <p:sp>
        <p:nvSpPr>
          <p:cNvPr id="2" name="文本框 1"/>
          <p:cNvSpPr txBox="1"/>
          <p:nvPr/>
        </p:nvSpPr>
        <p:spPr>
          <a:xfrm>
            <a:off x="345440" y="920750"/>
            <a:ext cx="89566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Motivation</a:t>
            </a:r>
            <a:r>
              <a:rPr lang="zh-CN" altLang="en-US" sz="2000"/>
              <a:t>：</a:t>
            </a:r>
            <a:r>
              <a:rPr lang="zh-CN" altLang="en-US" sz="2000">
                <a:sym typeface="+mn-ea"/>
              </a:rPr>
              <a:t>由于投影操作</a:t>
            </a:r>
            <a:r>
              <a:rPr lang="en-US" altLang="zh-CN" sz="2000">
                <a:sym typeface="+mn-ea"/>
              </a:rPr>
              <a:t>PP</a:t>
            </a:r>
            <a:r>
              <a:rPr lang="en-US" altLang="zh-CN" sz="2000" baseline="30000">
                <a:sym typeface="+mn-ea"/>
              </a:rPr>
              <a:t>T</a:t>
            </a:r>
            <a:r>
              <a:rPr lang="en-US" altLang="zh-CN" sz="2000">
                <a:sym typeface="+mn-ea"/>
              </a:rPr>
              <a:t>G</a:t>
            </a:r>
            <a:r>
              <a:rPr lang="zh-CN" altLang="en-US" sz="2000">
                <a:sym typeface="+mn-ea"/>
              </a:rPr>
              <a:t>丢弃了正交补空间的信息，导致梯度估计是有偏的。这种偏差在训练初期或处理复杂任务时，会导致模型收敛到局部最优，或者无法达到全参数微调的精度。</a:t>
            </a:r>
            <a:endParaRPr lang="zh-CN" altLang="en-US" sz="2000"/>
          </a:p>
        </p:txBody>
      </p:sp>
      <p:sp>
        <p:nvSpPr>
          <p:cNvPr id="10" name="文本框 9"/>
          <p:cNvSpPr txBox="1"/>
          <p:nvPr/>
        </p:nvSpPr>
        <p:spPr>
          <a:xfrm>
            <a:off x="493395" y="6239510"/>
            <a:ext cx="10503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Fira: Can We Achieve Full-rank Training of LLMs Under Low-rank Constraint? Advances in Neural Information Processing Systems, 2025.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70" y="2634615"/>
            <a:ext cx="8534400" cy="24765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932940" y="4115435"/>
            <a:ext cx="1085850" cy="276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45790" y="4610735"/>
            <a:ext cx="519430" cy="2578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Fira</a:t>
            </a:r>
            <a:endParaRPr lang="en-US" altLang="zh-CN" sz="2400" b="1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115" y="2915285"/>
            <a:ext cx="4762500" cy="297942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65" y="1329690"/>
            <a:ext cx="8953500" cy="102870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9495790" y="1884680"/>
            <a:ext cx="58674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Fira</a:t>
            </a:r>
            <a:endParaRPr lang="en-US" altLang="zh-CN" sz="2400" b="1"/>
          </a:p>
        </p:txBody>
      </p:sp>
      <p:sp>
        <p:nvSpPr>
          <p:cNvPr id="2" name="文本框 1"/>
          <p:cNvSpPr txBox="1"/>
          <p:nvPr/>
        </p:nvSpPr>
        <p:spPr>
          <a:xfrm>
            <a:off x="2320290" y="970280"/>
            <a:ext cx="911225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Adam</a:t>
            </a:r>
            <a:endParaRPr lang="en-US" sz="2000"/>
          </a:p>
        </p:txBody>
      </p:sp>
      <p:grpSp>
        <p:nvGrpSpPr>
          <p:cNvPr id="11" name="组合 10"/>
          <p:cNvGrpSpPr/>
          <p:nvPr/>
        </p:nvGrpSpPr>
        <p:grpSpPr>
          <a:xfrm>
            <a:off x="4311650" y="1092835"/>
            <a:ext cx="3238500" cy="1783080"/>
            <a:chOff x="5640" y="3049"/>
            <a:chExt cx="5100" cy="280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40" y="3649"/>
              <a:ext cx="5100" cy="220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63" y="3049"/>
              <a:ext cx="3672" cy="600"/>
            </a:xfrm>
            <a:prstGeom prst="rect">
              <a:avLst/>
            </a:prstGeom>
          </p:spPr>
        </p:pic>
      </p:grpSp>
      <p:sp>
        <p:nvSpPr>
          <p:cNvPr id="12" name="矩形 11"/>
          <p:cNvSpPr/>
          <p:nvPr/>
        </p:nvSpPr>
        <p:spPr>
          <a:xfrm>
            <a:off x="6716395" y="1854835"/>
            <a:ext cx="386715" cy="357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165" y="3048000"/>
            <a:ext cx="246126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215" y="3576955"/>
            <a:ext cx="1211580" cy="27432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20290" y="2935605"/>
            <a:ext cx="1168400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GaLore</a:t>
            </a:r>
            <a:endParaRPr lang="en-US" sz="2000"/>
          </a:p>
        </p:txBody>
      </p:sp>
      <p:sp>
        <p:nvSpPr>
          <p:cNvPr id="17" name="文本框 16"/>
          <p:cNvSpPr txBox="1"/>
          <p:nvPr/>
        </p:nvSpPr>
        <p:spPr>
          <a:xfrm>
            <a:off x="2320290" y="4241800"/>
            <a:ext cx="1548765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GaLore-add</a:t>
            </a:r>
            <a:endParaRPr lang="en-US" sz="20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1650" y="4394835"/>
            <a:ext cx="4069080" cy="35052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1650" y="5084445"/>
            <a:ext cx="4671060" cy="342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320290" y="4923790"/>
            <a:ext cx="1548765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Fira</a:t>
            </a:r>
            <a:endParaRPr lang="en-US" sz="2000"/>
          </a:p>
        </p:txBody>
      </p:sp>
      <p:sp>
        <p:nvSpPr>
          <p:cNvPr id="5" name="矩形 4"/>
          <p:cNvSpPr/>
          <p:nvPr/>
        </p:nvSpPr>
        <p:spPr>
          <a:xfrm>
            <a:off x="6329680" y="2613025"/>
            <a:ext cx="849630" cy="357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94790" y="1522095"/>
            <a:ext cx="2562225" cy="664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/>
              <a:t>动量</a:t>
            </a:r>
            <a:r>
              <a:rPr lang="en-US" altLang="zh-CN" sz="1400"/>
              <a:t> + </a:t>
            </a:r>
            <a:r>
              <a:rPr lang="zh-CN" altLang="en-US" sz="1400"/>
              <a:t>自适应学习率</a:t>
            </a:r>
            <a:endParaRPr lang="zh-CN" altLang="en-US" sz="1400"/>
          </a:p>
        </p:txBody>
      </p:sp>
      <p:sp>
        <p:nvSpPr>
          <p:cNvPr id="8" name="矩形 7"/>
          <p:cNvSpPr/>
          <p:nvPr/>
        </p:nvSpPr>
        <p:spPr>
          <a:xfrm>
            <a:off x="6956425" y="4394200"/>
            <a:ext cx="1312545" cy="38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540500" y="3935730"/>
            <a:ext cx="2308225" cy="459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/>
              <a:t>丢失项使用</a:t>
            </a:r>
            <a:r>
              <a:rPr lang="en-US" altLang="zh-CN" sz="1400"/>
              <a:t>SGD</a:t>
            </a:r>
            <a:r>
              <a:rPr lang="zh-CN" altLang="en-US" sz="1400"/>
              <a:t>进行补偿</a:t>
            </a:r>
            <a:endParaRPr lang="zh-CN" altLang="en-US" sz="1400"/>
          </a:p>
        </p:txBody>
      </p:sp>
      <p:sp>
        <p:nvSpPr>
          <p:cNvPr id="22" name="矩形 21"/>
          <p:cNvSpPr/>
          <p:nvPr/>
        </p:nvSpPr>
        <p:spPr>
          <a:xfrm>
            <a:off x="7103110" y="5084445"/>
            <a:ext cx="603250" cy="38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310630" y="5541645"/>
            <a:ext cx="2308225" cy="459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/>
              <a:t>学习率自适应</a:t>
            </a:r>
            <a:r>
              <a:rPr lang="zh-CN" altLang="en-US" sz="1400"/>
              <a:t>因子</a:t>
            </a:r>
            <a:endParaRPr lang="zh-CN" altLang="en-US" sz="1400"/>
          </a:p>
        </p:txBody>
      </p:sp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Fira</a:t>
            </a:r>
            <a:endParaRPr lang="en-US" altLang="zh-CN" sz="2400" b="1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25" y="2590800"/>
            <a:ext cx="4526280" cy="38176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446655"/>
            <a:ext cx="5600700" cy="345948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695" y="1360170"/>
            <a:ext cx="4122420" cy="76200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6363970" y="1588770"/>
            <a:ext cx="2418715" cy="304800"/>
            <a:chOff x="10703" y="2502"/>
            <a:chExt cx="3809" cy="480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56" y="2502"/>
              <a:ext cx="2856" cy="480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03" y="2586"/>
              <a:ext cx="840" cy="396"/>
            </a:xfrm>
            <a:prstGeom prst="rect">
              <a:avLst/>
            </a:prstGeom>
          </p:spPr>
        </p:pic>
      </p:grpSp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Fira</a:t>
            </a:r>
            <a:endParaRPr lang="en-US" altLang="zh-CN" sz="2400" b="1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95" y="1019175"/>
            <a:ext cx="7650480" cy="5715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Fira</a:t>
            </a:r>
            <a:endParaRPr lang="en-US" altLang="zh-CN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735" y="1562100"/>
            <a:ext cx="8923020" cy="3733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Fira</a:t>
            </a:r>
            <a:endParaRPr lang="en-US" altLang="zh-CN" sz="24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825" y="1179195"/>
            <a:ext cx="3528060" cy="28117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100" y="4074795"/>
            <a:ext cx="7696200" cy="2514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GUM</a:t>
            </a:r>
            <a:endParaRPr lang="en-US" altLang="zh-CN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45440" y="920750"/>
            <a:ext cx="834961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Motivation</a:t>
            </a:r>
            <a:r>
              <a:rPr lang="zh-CN" altLang="en-US" sz="2000"/>
              <a:t>：与</a:t>
            </a:r>
            <a:r>
              <a:rPr lang="en-US" altLang="zh-CN" sz="2000"/>
              <a:t>Fira</a:t>
            </a:r>
            <a:r>
              <a:rPr lang="zh-CN" altLang="en-US" sz="2000"/>
              <a:t>一致</a:t>
            </a:r>
            <a:endParaRPr lang="zh-CN" altLang="en-US" sz="2000"/>
          </a:p>
        </p:txBody>
      </p:sp>
      <p:sp>
        <p:nvSpPr>
          <p:cNvPr id="12" name="文本框 11"/>
          <p:cNvSpPr txBox="1"/>
          <p:nvPr/>
        </p:nvSpPr>
        <p:spPr>
          <a:xfrm>
            <a:off x="493395" y="6239510"/>
            <a:ext cx="10503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Unbiased Gradient Low-Rank Projection. Rejected by ICLR 2026.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70" y="2634615"/>
            <a:ext cx="8534400" cy="24765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932940" y="4115435"/>
            <a:ext cx="1085850" cy="276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45790" y="4610735"/>
            <a:ext cx="519430" cy="2578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GUM</a:t>
            </a:r>
            <a:endParaRPr lang="en-US" altLang="zh-CN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1263650"/>
            <a:ext cx="8496300" cy="3429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110" y="4803775"/>
            <a:ext cx="3707765" cy="13246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290" y="5313680"/>
            <a:ext cx="2133600" cy="304800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4510405" y="5222875"/>
            <a:ext cx="840740" cy="4159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GUM</a:t>
            </a:r>
            <a:endParaRPr lang="en-US" altLang="zh-CN" sz="2400" b="1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230" y="1202690"/>
            <a:ext cx="8534400" cy="3848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GUM</a:t>
            </a:r>
            <a:endParaRPr lang="en-US" altLang="zh-CN" sz="2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560" y="1403985"/>
            <a:ext cx="5105400" cy="43891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GUM</a:t>
            </a:r>
            <a:endParaRPr lang="en-US" altLang="zh-CN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833755"/>
            <a:ext cx="8542020" cy="58521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GUM</a:t>
            </a:r>
            <a:endParaRPr lang="en-US" altLang="zh-CN" sz="24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20" y="1234440"/>
            <a:ext cx="9205595" cy="48425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下周工作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45440" y="920750"/>
            <a:ext cx="83496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1. </a:t>
            </a:r>
            <a:r>
              <a:rPr lang="zh-CN" altLang="en-US" sz="2000"/>
              <a:t>完成</a:t>
            </a:r>
            <a:r>
              <a:rPr lang="en-US" altLang="zh-CN" sz="2000"/>
              <a:t>SEAL</a:t>
            </a:r>
            <a:r>
              <a:rPr lang="zh-CN" altLang="en-US" sz="2000"/>
              <a:t>的</a:t>
            </a:r>
            <a:r>
              <a:rPr lang="en-US" altLang="zh-CN" sz="2000"/>
              <a:t>Few-Shot</a:t>
            </a:r>
            <a:r>
              <a:rPr lang="zh-CN" altLang="en-US" sz="2000"/>
              <a:t>和知识整合</a:t>
            </a:r>
            <a:r>
              <a:rPr lang="zh-CN" altLang="en-US" sz="2000"/>
              <a:t>的实验</a:t>
            </a:r>
            <a:r>
              <a:rPr lang="zh-CN" altLang="en-US" sz="2000"/>
              <a:t>复现。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zh-CN" altLang="en-US" sz="2000"/>
              <a:t>下周可以完成</a:t>
            </a:r>
            <a:r>
              <a:rPr lang="en-US" altLang="zh-CN" sz="2000"/>
              <a:t>Few-Shot</a:t>
            </a:r>
            <a:r>
              <a:rPr lang="zh-CN" altLang="en-US" sz="2000"/>
              <a:t>的实验（</a:t>
            </a:r>
            <a:r>
              <a:rPr lang="en-US" altLang="zh-CN" sz="2000"/>
              <a:t>Llama3.2 1B</a:t>
            </a:r>
            <a:r>
              <a:rPr lang="zh-CN" altLang="en-US" sz="2000"/>
              <a:t>），</a:t>
            </a:r>
            <a:r>
              <a:rPr lang="zh-CN" altLang="en-US" sz="2000"/>
              <a:t>已经完成代码调试，之后完成知识整合的实验（</a:t>
            </a:r>
            <a:r>
              <a:rPr lang="en-US" altLang="zh-CN" sz="2000"/>
              <a:t>Qwen2.5 7B LoRA FT</a:t>
            </a:r>
            <a:r>
              <a:rPr lang="zh-CN" altLang="en-US" sz="2000"/>
              <a:t>）。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WPS 演示</Application>
  <PresentationFormat>宽屏</PresentationFormat>
  <Paragraphs>67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199</cp:revision>
  <dcterms:created xsi:type="dcterms:W3CDTF">2019-06-19T02:08:00Z</dcterms:created>
  <dcterms:modified xsi:type="dcterms:W3CDTF">2026-05-17T13:28:28Z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CC4AC3AD79CA40C18E9B66A5156574DC_11</vt:lpwstr>
  </property>
</Properties>
</file>