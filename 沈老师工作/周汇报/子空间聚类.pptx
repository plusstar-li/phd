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4.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3"/>
    <p:sldId id="257" r:id="rId4"/>
    <p:sldId id="258" r:id="rId5"/>
    <p:sldId id="259" r:id="rId6"/>
    <p:sldId id="289" r:id="rId7"/>
    <p:sldId id="276" r:id="rId8"/>
    <p:sldId id="291" r:id="rId9"/>
    <p:sldId id="295" r:id="rId10"/>
    <p:sldId id="292" r:id="rId11"/>
    <p:sldId id="293" r:id="rId12"/>
    <p:sldId id="294" r:id="rId13"/>
    <p:sldId id="278" r:id="rId14"/>
    <p:sldId id="280" r:id="rId15"/>
    <p:sldId id="296" r:id="rId16"/>
    <p:sldId id="298" r:id="rId17"/>
    <p:sldId id="299" r:id="rId18"/>
    <p:sldId id="301" r:id="rId19"/>
    <p:sldId id="302" r:id="rId20"/>
    <p:sldId id="303" r:id="rId22"/>
    <p:sldId id="304" r:id="rId23"/>
    <p:sldId id="282" r:id="rId24"/>
    <p:sldId id="283" r:id="rId25"/>
    <p:sldId id="284" r:id="rId26"/>
    <p:sldId id="285" r:id="rId27"/>
    <p:sldId id="286" r:id="rId28"/>
    <p:sldId id="287" r:id="rId29"/>
    <p:sldId id="288" r:id="rId30"/>
    <p:sldId id="308" r:id="rId31"/>
    <p:sldId id="309" r:id="rId32"/>
    <p:sldId id="310" r:id="rId33"/>
    <p:sldId id="279" r:id="rId34"/>
    <p:sldId id="305" r:id="rId35"/>
    <p:sldId id="306" r:id="rId36"/>
    <p:sldId id="307" r:id="rId37"/>
    <p:sldId id="275" r:id="rId38"/>
  </p:sldIdLst>
  <p:sldSz cx="18288000" cy="10287000"/>
  <p:notesSz cx="6858000" cy="9144000"/>
  <p:embeddedFontLst>
    <p:embeddedFont>
      <p:font typeface="Montserrat Ultra-Bold" panose="00000900000000000000"/>
      <p:bold r:id="rId42"/>
    </p:embeddedFont>
    <p:embeddedFont>
      <p:font typeface="微软雅黑" panose="020B0503020204020204" charset="-122"/>
      <p:regular r:id="rId43"/>
    </p:embeddedFont>
    <p:embeddedFont>
      <p:font typeface="Cambria Math" panose="02040503050406030204" charset="0"/>
      <p:regular r:id="rId44"/>
    </p:embeddedFont>
    <p:embeddedFont>
      <p:font typeface="Calibri" panose="020F0502020204030204" charset="0"/>
      <p:regular r:id="rId45"/>
      <p:bold r:id="rId46"/>
      <p:italic r:id="rId47"/>
      <p:boldItalic r:id="rId48"/>
    </p:embeddedFont>
  </p:embeddedFontLst>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0" userDrawn="1">
          <p15:clr>
            <a:srgbClr val="A4A3A4"/>
          </p15:clr>
        </p15:guide>
        <p15:guide id="2" pos="29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5DCDC"/>
    <a:srgbClr val="356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103" d="100"/>
          <a:sy n="103" d="100"/>
        </p:scale>
        <p:origin x="534" y="126"/>
      </p:cViewPr>
      <p:guideLst>
        <p:guide orient="horz" pos="2040"/>
        <p:guide pos="2987"/>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gs" Target="tags/tag133.xml"/><Relationship Id="rId48" Type="http://schemas.openxmlformats.org/officeDocument/2006/relationships/font" Target="fonts/font7.fntdata"/><Relationship Id="rId47" Type="http://schemas.openxmlformats.org/officeDocument/2006/relationships/font" Target="fonts/font6.fntdata"/><Relationship Id="rId46" Type="http://schemas.openxmlformats.org/officeDocument/2006/relationships/font" Target="fonts/font5.fntdata"/><Relationship Id="rId45" Type="http://schemas.openxmlformats.org/officeDocument/2006/relationships/font" Target="fonts/font4.fntdata"/><Relationship Id="rId44" Type="http://schemas.openxmlformats.org/officeDocument/2006/relationships/font" Target="fonts/font3.fntdata"/><Relationship Id="rId43" Type="http://schemas.openxmlformats.org/officeDocument/2006/relationships/font" Target="fonts/font2.fntdata"/><Relationship Id="rId42" Type="http://schemas.openxmlformats.org/officeDocument/2006/relationships/font" Target="fonts/font1.fntdata"/><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1" Type="http://schemas.openxmlformats.org/officeDocument/2006/relationships/slideLayout" Target="../slideLayouts/slideLayout7.xml"/><Relationship Id="rId10"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9.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11.svg"/><Relationship Id="rId17" Type="http://schemas.openxmlformats.org/officeDocument/2006/relationships/slideLayout" Target="../slideLayouts/slideLayout7.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10.png"/></Relationships>
</file>

<file path=ppt/slides/_rels/slide3.xml.rels><?xml version="1.0" encoding="UTF-8" standalone="yes"?>
<Relationships xmlns="http://schemas.openxmlformats.org/package/2006/relationships"><Relationship Id="rId9" Type="http://schemas.openxmlformats.org/officeDocument/2006/relationships/image" Target="../media/image19.svg"/><Relationship Id="rId8" Type="http://schemas.openxmlformats.org/officeDocument/2006/relationships/image" Target="../media/image18.png"/><Relationship Id="rId7" Type="http://schemas.openxmlformats.org/officeDocument/2006/relationships/image" Target="../media/image17.svg"/><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13.svg"/><Relationship Id="rId2" Type="http://schemas.openxmlformats.org/officeDocument/2006/relationships/image" Target="../media/image12.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14.xml"/><Relationship Id="rId11" Type="http://schemas.openxmlformats.org/officeDocument/2006/relationships/image" Target="../media/image21.svg"/><Relationship Id="rId10" Type="http://schemas.openxmlformats.org/officeDocument/2006/relationships/image" Target="../media/image20.png"/><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2.png"/><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image" Target="../media/image9.png"/><Relationship Id="rId3" Type="http://schemas.openxmlformats.org/officeDocument/2006/relationships/tags" Target="../tags/tag15.xml"/><Relationship Id="rId2" Type="http://schemas.openxmlformats.org/officeDocument/2006/relationships/image" Target="../media/image8.sv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image" Target="../media/image25.png"/><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image" Target="../media/image9.png"/><Relationship Id="rId3" Type="http://schemas.openxmlformats.org/officeDocument/2006/relationships/tags" Target="../tags/tag18.xml"/><Relationship Id="rId2" Type="http://schemas.openxmlformats.org/officeDocument/2006/relationships/image" Target="../media/image24.svg"/><Relationship Id="rId16" Type="http://schemas.openxmlformats.org/officeDocument/2006/relationships/slideLayout" Target="../slideLayouts/slideLayout7.xml"/><Relationship Id="rId15" Type="http://schemas.openxmlformats.org/officeDocument/2006/relationships/tags" Target="../tags/tag25.xml"/><Relationship Id="rId14" Type="http://schemas.openxmlformats.org/officeDocument/2006/relationships/image" Target="../media/image28.png"/><Relationship Id="rId13" Type="http://schemas.openxmlformats.org/officeDocument/2006/relationships/image" Target="../media/image27.png"/><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image" Target="../media/image26.png"/><Relationship Id="rId1" Type="http://schemas.openxmlformats.org/officeDocument/2006/relationships/image" Target="../media/image23.png"/></Relationships>
</file>

<file path=ppt/slides/_rels/slide6.xml.rels><?xml version="1.0" encoding="UTF-8" standalone="yes"?>
<Relationships xmlns="http://schemas.openxmlformats.org/package/2006/relationships"><Relationship Id="rId9" Type="http://schemas.openxmlformats.org/officeDocument/2006/relationships/image" Target="../media/image36.svg"/><Relationship Id="rId8" Type="http://schemas.openxmlformats.org/officeDocument/2006/relationships/image" Target="../media/image35.png"/><Relationship Id="rId7" Type="http://schemas.openxmlformats.org/officeDocument/2006/relationships/image" Target="../media/image34.svg"/><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3" Type="http://schemas.openxmlformats.org/officeDocument/2006/relationships/image" Target="../media/image30.svg"/><Relationship Id="rId2" Type="http://schemas.openxmlformats.org/officeDocument/2006/relationships/image" Target="../media/image29.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27.xml"/><Relationship Id="rId11" Type="http://schemas.openxmlformats.org/officeDocument/2006/relationships/image" Target="../media/image38.svg"/><Relationship Id="rId10" Type="http://schemas.openxmlformats.org/officeDocument/2006/relationships/image" Target="../media/image37.png"/><Relationship Id="rId1" Type="http://schemas.openxmlformats.org/officeDocument/2006/relationships/tags" Target="../tags/tag26.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26.png"/><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image" Target="../media/image9.png"/><Relationship Id="rId3" Type="http://schemas.openxmlformats.org/officeDocument/2006/relationships/tags" Target="../tags/tag28.xml"/><Relationship Id="rId2" Type="http://schemas.openxmlformats.org/officeDocument/2006/relationships/image" Target="../media/image24.svg"/><Relationship Id="rId1" Type="http://schemas.openxmlformats.org/officeDocument/2006/relationships/image" Target="../media/image23.png"/></Relationships>
</file>

<file path=ppt/slides/_rels/slide8.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image" Target="../media/image9.png"/><Relationship Id="rId3" Type="http://schemas.openxmlformats.org/officeDocument/2006/relationships/tags" Target="../tags/tag31.xml"/><Relationship Id="rId2" Type="http://schemas.openxmlformats.org/officeDocument/2006/relationships/image" Target="../media/image39.svg"/><Relationship Id="rId11" Type="http://schemas.openxmlformats.org/officeDocument/2006/relationships/slideLayout" Target="../slideLayouts/slideLayout7.xml"/><Relationship Id="rId10" Type="http://schemas.openxmlformats.org/officeDocument/2006/relationships/image" Target="../media/image42.png"/><Relationship Id="rId1" Type="http://schemas.openxmlformats.org/officeDocument/2006/relationships/image" Target="../media/image23.png"/></Relationships>
</file>

<file path=ppt/slides/_rels/slide9.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image" Target="../media/image28.png"/><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image" Target="../media/image9.png"/><Relationship Id="rId3" Type="http://schemas.openxmlformats.org/officeDocument/2006/relationships/tags" Target="../tags/tag35.xml"/><Relationship Id="rId2" Type="http://schemas.openxmlformats.org/officeDocument/2006/relationships/image" Target="../media/image39.svg"/><Relationship Id="rId14" Type="http://schemas.openxmlformats.org/officeDocument/2006/relationships/slideLayout" Target="../slideLayouts/slideLayout7.xml"/><Relationship Id="rId13" Type="http://schemas.openxmlformats.org/officeDocument/2006/relationships/image" Target="../media/image45.png"/><Relationship Id="rId12" Type="http://schemas.openxmlformats.org/officeDocument/2006/relationships/image" Target="../media/image44.png"/><Relationship Id="rId11" Type="http://schemas.openxmlformats.org/officeDocument/2006/relationships/image" Target="../media/image43.png"/><Relationship Id="rId10" Type="http://schemas.openxmlformats.org/officeDocument/2006/relationships/tags" Target="../tags/tag40.xml"/><Relationship Id="rId1" Type="http://schemas.openxmlformats.org/officeDocument/2006/relationships/image" Target="../media/image23.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image" Target="../media/image9.png"/><Relationship Id="rId1" Type="http://schemas.openxmlformats.org/officeDocument/2006/relationships/tags" Target="../tags/tag41.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49.xml"/><Relationship Id="rId7" Type="http://schemas.openxmlformats.org/officeDocument/2006/relationships/image" Target="../media/image48.png"/><Relationship Id="rId6" Type="http://schemas.openxmlformats.org/officeDocument/2006/relationships/tags" Target="../tags/tag48.xml"/><Relationship Id="rId5" Type="http://schemas.openxmlformats.org/officeDocument/2006/relationships/image" Target="../media/image47.png"/><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image" Target="../media/image9.png"/><Relationship Id="rId1" Type="http://schemas.openxmlformats.org/officeDocument/2006/relationships/tags" Target="../tags/tag45.xml"/></Relationships>
</file>

<file path=ppt/slides/_rels/slide12.xml.rels><?xml version="1.0" encoding="UTF-8" standalone="yes"?>
<Relationships xmlns="http://schemas.openxmlformats.org/package/2006/relationships"><Relationship Id="rId9" Type="http://schemas.openxmlformats.org/officeDocument/2006/relationships/image" Target="../media/image52.svg"/><Relationship Id="rId8" Type="http://schemas.openxmlformats.org/officeDocument/2006/relationships/image" Target="../media/image35.png"/><Relationship Id="rId7" Type="http://schemas.openxmlformats.org/officeDocument/2006/relationships/image" Target="../media/image51.svg"/><Relationship Id="rId6" Type="http://schemas.openxmlformats.org/officeDocument/2006/relationships/image" Target="../media/image33.png"/><Relationship Id="rId5" Type="http://schemas.openxmlformats.org/officeDocument/2006/relationships/image" Target="../media/image50.svg"/><Relationship Id="rId4" Type="http://schemas.openxmlformats.org/officeDocument/2006/relationships/image" Target="../media/image31.png"/><Relationship Id="rId3" Type="http://schemas.openxmlformats.org/officeDocument/2006/relationships/image" Target="../media/image49.svg"/><Relationship Id="rId2" Type="http://schemas.openxmlformats.org/officeDocument/2006/relationships/image" Target="../media/image29.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51.xml"/><Relationship Id="rId11" Type="http://schemas.openxmlformats.org/officeDocument/2006/relationships/image" Target="../media/image53.svg"/><Relationship Id="rId10" Type="http://schemas.openxmlformats.org/officeDocument/2006/relationships/image" Target="../media/image37.png"/><Relationship Id="rId1" Type="http://schemas.openxmlformats.org/officeDocument/2006/relationships/tags" Target="../tags/tag50.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4.png"/><Relationship Id="rId7" Type="http://schemas.openxmlformats.org/officeDocument/2006/relationships/image" Target="../media/image46.png"/><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image" Target="../media/image9.png"/><Relationship Id="rId3" Type="http://schemas.openxmlformats.org/officeDocument/2006/relationships/tags" Target="../tags/tag52.xml"/><Relationship Id="rId2" Type="http://schemas.openxmlformats.org/officeDocument/2006/relationships/image" Target="../media/image24.sv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image" Target="../media/image55.png"/><Relationship Id="rId5" Type="http://schemas.openxmlformats.org/officeDocument/2006/relationships/tags" Target="../tags/tag56.xml"/><Relationship Id="rId4" Type="http://schemas.openxmlformats.org/officeDocument/2006/relationships/image" Target="../media/image9.png"/><Relationship Id="rId3" Type="http://schemas.openxmlformats.org/officeDocument/2006/relationships/tags" Target="../tags/tag55.xml"/><Relationship Id="rId2" Type="http://schemas.openxmlformats.org/officeDocument/2006/relationships/image" Target="../media/image39.svg"/><Relationship Id="rId11" Type="http://schemas.openxmlformats.org/officeDocument/2006/relationships/slideLayout" Target="../slideLayouts/slideLayout7.xml"/><Relationship Id="rId10" Type="http://schemas.openxmlformats.org/officeDocument/2006/relationships/image" Target="../media/image57.png"/><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image" Target="../media/image9.png"/><Relationship Id="rId11" Type="http://schemas.openxmlformats.org/officeDocument/2006/relationships/slideLayout" Target="../slideLayouts/slideLayout7.xml"/><Relationship Id="rId10" Type="http://schemas.openxmlformats.org/officeDocument/2006/relationships/image" Target="../media/image60.png"/><Relationship Id="rId1" Type="http://schemas.openxmlformats.org/officeDocument/2006/relationships/tags" Target="../tags/tag59.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61.png"/><Relationship Id="rId3" Type="http://schemas.openxmlformats.org/officeDocument/2006/relationships/tags" Target="../tags/tag66.xml"/><Relationship Id="rId2" Type="http://schemas.openxmlformats.org/officeDocument/2006/relationships/image" Target="../media/image9.png"/><Relationship Id="rId1" Type="http://schemas.openxmlformats.org/officeDocument/2006/relationships/tags" Target="../tags/tag65.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3.png"/><Relationship Id="rId6" Type="http://schemas.openxmlformats.org/officeDocument/2006/relationships/tags" Target="../tags/tag70.xml"/><Relationship Id="rId5" Type="http://schemas.openxmlformats.org/officeDocument/2006/relationships/image" Target="../media/image62.png"/><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image" Target="../media/image9.png"/><Relationship Id="rId1" Type="http://schemas.openxmlformats.org/officeDocument/2006/relationships/tags" Target="../tags/tag67.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5.png"/><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image" Target="../media/image64.png"/><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image" Target="../media/image9.png"/><Relationship Id="rId10" Type="http://schemas.openxmlformats.org/officeDocument/2006/relationships/notesSlide" Target="../notesSlides/notesSlide1.xml"/><Relationship Id="rId1" Type="http://schemas.openxmlformats.org/officeDocument/2006/relationships/tags" Target="../tags/tag71.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7.png"/><Relationship Id="rId7" Type="http://schemas.openxmlformats.org/officeDocument/2006/relationships/image" Target="../media/image66.png"/><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image" Target="../media/image9.png"/><Relationship Id="rId10" Type="http://schemas.openxmlformats.org/officeDocument/2006/relationships/notesSlide" Target="../notesSlides/notesSlide2.xml"/><Relationship Id="rId1" Type="http://schemas.openxmlformats.org/officeDocument/2006/relationships/tags" Target="../tags/tag76.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0.png"/><Relationship Id="rId7" Type="http://schemas.openxmlformats.org/officeDocument/2006/relationships/image" Target="../media/image69.png"/><Relationship Id="rId6" Type="http://schemas.openxmlformats.org/officeDocument/2006/relationships/image" Target="../media/image68.png"/><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image" Target="../media/image9.png"/><Relationship Id="rId10" Type="http://schemas.openxmlformats.org/officeDocument/2006/relationships/notesSlide" Target="../notesSlides/notesSlide3.xml"/><Relationship Id="rId1" Type="http://schemas.openxmlformats.org/officeDocument/2006/relationships/tags" Target="../tags/tag81.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47.png"/><Relationship Id="rId4" Type="http://schemas.openxmlformats.org/officeDocument/2006/relationships/tags" Target="../tags/tag86.xml"/><Relationship Id="rId3" Type="http://schemas.openxmlformats.org/officeDocument/2006/relationships/image" Target="../media/image71.png"/><Relationship Id="rId2" Type="http://schemas.openxmlformats.org/officeDocument/2006/relationships/image" Target="../media/image9.png"/><Relationship Id="rId1" Type="http://schemas.openxmlformats.org/officeDocument/2006/relationships/tags" Target="../tags/tag85.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90.xml"/><Relationship Id="rId6" Type="http://schemas.openxmlformats.org/officeDocument/2006/relationships/image" Target="../media/image74.png"/><Relationship Id="rId5" Type="http://schemas.openxmlformats.org/officeDocument/2006/relationships/tags" Target="../tags/tag89.xml"/><Relationship Id="rId4" Type="http://schemas.openxmlformats.org/officeDocument/2006/relationships/image" Target="../media/image73.png"/><Relationship Id="rId3" Type="http://schemas.openxmlformats.org/officeDocument/2006/relationships/tags" Target="../tags/tag88.xml"/><Relationship Id="rId2" Type="http://schemas.openxmlformats.org/officeDocument/2006/relationships/image" Target="../media/image9.png"/><Relationship Id="rId1" Type="http://schemas.openxmlformats.org/officeDocument/2006/relationships/tags" Target="../tags/tag87.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94.xml"/><Relationship Id="rId6" Type="http://schemas.openxmlformats.org/officeDocument/2006/relationships/image" Target="../media/image74.png"/><Relationship Id="rId5" Type="http://schemas.openxmlformats.org/officeDocument/2006/relationships/tags" Target="../tags/tag93.xml"/><Relationship Id="rId4" Type="http://schemas.openxmlformats.org/officeDocument/2006/relationships/image" Target="../media/image73.png"/><Relationship Id="rId3" Type="http://schemas.openxmlformats.org/officeDocument/2006/relationships/tags" Target="../tags/tag92.xml"/><Relationship Id="rId2" Type="http://schemas.openxmlformats.org/officeDocument/2006/relationships/image" Target="../media/image9.png"/><Relationship Id="rId1" Type="http://schemas.openxmlformats.org/officeDocument/2006/relationships/tags" Target="../tags/tag91.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5.png"/><Relationship Id="rId3" Type="http://schemas.openxmlformats.org/officeDocument/2006/relationships/tags" Target="../tags/tag96.xml"/><Relationship Id="rId2" Type="http://schemas.openxmlformats.org/officeDocument/2006/relationships/image" Target="../media/image9.png"/><Relationship Id="rId1" Type="http://schemas.openxmlformats.org/officeDocument/2006/relationships/tags" Target="../tags/tag95.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100.xml"/><Relationship Id="rId6" Type="http://schemas.openxmlformats.org/officeDocument/2006/relationships/image" Target="../media/image77.png"/><Relationship Id="rId5" Type="http://schemas.openxmlformats.org/officeDocument/2006/relationships/tags" Target="../tags/tag99.xml"/><Relationship Id="rId4" Type="http://schemas.openxmlformats.org/officeDocument/2006/relationships/image" Target="../media/image76.png"/><Relationship Id="rId3" Type="http://schemas.openxmlformats.org/officeDocument/2006/relationships/tags" Target="../tags/tag98.xml"/><Relationship Id="rId2" Type="http://schemas.openxmlformats.org/officeDocument/2006/relationships/image" Target="../media/image9.png"/><Relationship Id="rId1" Type="http://schemas.openxmlformats.org/officeDocument/2006/relationships/tags" Target="../tags/tag97.xml"/></Relationships>
</file>

<file path=ppt/slides/_rels/slide26.xml.rels><?xml version="1.0" encoding="UTF-8" standalone="yes"?>
<Relationships xmlns="http://schemas.openxmlformats.org/package/2006/relationships"><Relationship Id="rId9" Type="http://schemas.openxmlformats.org/officeDocument/2006/relationships/image" Target="../media/image81.png"/><Relationship Id="rId8" Type="http://schemas.openxmlformats.org/officeDocument/2006/relationships/image" Target="../media/image80.png"/><Relationship Id="rId7" Type="http://schemas.openxmlformats.org/officeDocument/2006/relationships/image" Target="../media/image79.png"/><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image" Target="../media/image78.png"/><Relationship Id="rId3" Type="http://schemas.openxmlformats.org/officeDocument/2006/relationships/tags" Target="../tags/tag102.xml"/><Relationship Id="rId2" Type="http://schemas.openxmlformats.org/officeDocument/2006/relationships/image" Target="../media/image9.png"/><Relationship Id="rId10" Type="http://schemas.openxmlformats.org/officeDocument/2006/relationships/slideLayout" Target="../slideLayouts/slideLayout7.xml"/><Relationship Id="rId1" Type="http://schemas.openxmlformats.org/officeDocument/2006/relationships/tags" Target="../tags/tag101.xml"/></Relationships>
</file>

<file path=ppt/slides/_rels/slide27.x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84.png"/><Relationship Id="rId7" Type="http://schemas.openxmlformats.org/officeDocument/2006/relationships/image" Target="../media/image83.png"/><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image" Target="../media/image82.png"/><Relationship Id="rId3" Type="http://schemas.openxmlformats.org/officeDocument/2006/relationships/tags" Target="../tags/tag106.xml"/><Relationship Id="rId2" Type="http://schemas.openxmlformats.org/officeDocument/2006/relationships/image" Target="../media/image9.png"/><Relationship Id="rId10" Type="http://schemas.openxmlformats.org/officeDocument/2006/relationships/slideLayout" Target="../slideLayouts/slideLayout7.xml"/><Relationship Id="rId1" Type="http://schemas.openxmlformats.org/officeDocument/2006/relationships/tags" Target="../tags/tag105.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image" Target="../media/image9.png"/><Relationship Id="rId1" Type="http://schemas.openxmlformats.org/officeDocument/2006/relationships/tags" Target="../tags/tag109.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image" Target="../media/image9.png"/><Relationship Id="rId1" Type="http://schemas.openxmlformats.org/officeDocument/2006/relationships/tags" Target="../tags/tag113.xml"/></Relationships>
</file>

<file path=ppt/slides/_rels/slide30.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image" Target="../media/image9.png"/><Relationship Id="rId11" Type="http://schemas.openxmlformats.org/officeDocument/2006/relationships/slideLayout" Target="../slideLayouts/slideLayout7.xml"/><Relationship Id="rId10" Type="http://schemas.openxmlformats.org/officeDocument/2006/relationships/image" Target="../media/image91.png"/><Relationship Id="rId1" Type="http://schemas.openxmlformats.org/officeDocument/2006/relationships/tags" Target="../tags/tag116.xml"/></Relationships>
</file>

<file path=ppt/slides/_rels/slide31.xml.rels><?xml version="1.0" encoding="UTF-8" standalone="yes"?>
<Relationships xmlns="http://schemas.openxmlformats.org/package/2006/relationships"><Relationship Id="rId9" Type="http://schemas.openxmlformats.org/officeDocument/2006/relationships/image" Target="../media/image52.svg"/><Relationship Id="rId8" Type="http://schemas.openxmlformats.org/officeDocument/2006/relationships/image" Target="../media/image95.png"/><Relationship Id="rId7" Type="http://schemas.openxmlformats.org/officeDocument/2006/relationships/image" Target="../media/image51.svg"/><Relationship Id="rId6" Type="http://schemas.openxmlformats.org/officeDocument/2006/relationships/image" Target="../media/image94.png"/><Relationship Id="rId5" Type="http://schemas.openxmlformats.org/officeDocument/2006/relationships/image" Target="../media/image50.svg"/><Relationship Id="rId4" Type="http://schemas.openxmlformats.org/officeDocument/2006/relationships/image" Target="../media/image93.png"/><Relationship Id="rId3" Type="http://schemas.openxmlformats.org/officeDocument/2006/relationships/image" Target="../media/image49.svg"/><Relationship Id="rId2" Type="http://schemas.openxmlformats.org/officeDocument/2006/relationships/image" Target="../media/image92.png"/><Relationship Id="rId14" Type="http://schemas.openxmlformats.org/officeDocument/2006/relationships/slideLayout" Target="../slideLayouts/slideLayout7.xml"/><Relationship Id="rId13" Type="http://schemas.openxmlformats.org/officeDocument/2006/relationships/image" Target="../media/image9.png"/><Relationship Id="rId12" Type="http://schemas.openxmlformats.org/officeDocument/2006/relationships/tags" Target="../tags/tag122.xml"/><Relationship Id="rId11" Type="http://schemas.openxmlformats.org/officeDocument/2006/relationships/image" Target="../media/image53.svg"/><Relationship Id="rId10" Type="http://schemas.openxmlformats.org/officeDocument/2006/relationships/image" Target="../media/image37.png"/><Relationship Id="rId1" Type="http://schemas.openxmlformats.org/officeDocument/2006/relationships/tags" Target="../tags/tag121.xml"/></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image" Target="../media/image9.png"/><Relationship Id="rId1" Type="http://schemas.openxmlformats.org/officeDocument/2006/relationships/tags" Target="../tags/tag123.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7.png"/><Relationship Id="rId3" Type="http://schemas.openxmlformats.org/officeDocument/2006/relationships/tags" Target="../tags/tag128.xml"/><Relationship Id="rId2" Type="http://schemas.openxmlformats.org/officeDocument/2006/relationships/image" Target="../media/image9.png"/><Relationship Id="rId1" Type="http://schemas.openxmlformats.org/officeDocument/2006/relationships/tags" Target="../tags/tag127.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image" Target="../media/image9.png"/><Relationship Id="rId1" Type="http://schemas.openxmlformats.org/officeDocument/2006/relationships/tags" Target="../tags/tag129.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tags" Target="../tags/tag132.xml"/><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2" name="Freeform 2"/>
          <p:cNvSpPr/>
          <p:nvPr/>
        </p:nvSpPr>
        <p:spPr>
          <a:xfrm>
            <a:off x="0" y="0"/>
            <a:ext cx="9080556" cy="5022166"/>
          </a:xfrm>
          <a:custGeom>
            <a:avLst/>
            <a:gdLst/>
            <a:ahLst/>
            <a:cxnLst/>
            <a:rect l="l" t="t" r="r" b="b"/>
            <a:pathLst>
              <a:path w="9080556" h="5022166">
                <a:moveTo>
                  <a:pt x="0" y="0"/>
                </a:moveTo>
                <a:lnTo>
                  <a:pt x="9080556" y="0"/>
                </a:lnTo>
                <a:lnTo>
                  <a:pt x="9080556" y="5022166"/>
                </a:lnTo>
                <a:lnTo>
                  <a:pt x="0" y="502216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0" y="4893806"/>
            <a:ext cx="18288000" cy="5393195"/>
          </a:xfrm>
          <a:custGeom>
            <a:avLst/>
            <a:gdLst/>
            <a:ahLst/>
            <a:cxnLst/>
            <a:rect l="l" t="t" r="r" b="b"/>
            <a:pathLst>
              <a:path w="18288000" h="5393195">
                <a:moveTo>
                  <a:pt x="0" y="0"/>
                </a:moveTo>
                <a:lnTo>
                  <a:pt x="18288000" y="0"/>
                </a:lnTo>
                <a:lnTo>
                  <a:pt x="18288000" y="5393194"/>
                </a:lnTo>
                <a:lnTo>
                  <a:pt x="0" y="53931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p>
            <a:endParaRPr lang="zh-CN" altLang="en-US"/>
          </a:p>
        </p:txBody>
      </p:sp>
      <p:grpSp>
        <p:nvGrpSpPr>
          <p:cNvPr id="7" name="Group 7"/>
          <p:cNvGrpSpPr/>
          <p:nvPr/>
        </p:nvGrpSpPr>
        <p:grpSpPr>
          <a:xfrm>
            <a:off x="14827002" y="3090522"/>
            <a:ext cx="1945042" cy="1945042"/>
            <a:chOff x="0" y="0"/>
            <a:chExt cx="2593390" cy="2593390"/>
          </a:xfrm>
        </p:grpSpPr>
        <p:sp>
          <p:nvSpPr>
            <p:cNvPr id="8" name="Freeform 8"/>
            <p:cNvSpPr/>
            <p:nvPr/>
          </p:nvSpPr>
          <p:spPr>
            <a:xfrm>
              <a:off x="0" y="0"/>
              <a:ext cx="2593340" cy="2593340"/>
            </a:xfrm>
            <a:custGeom>
              <a:avLst/>
              <a:gdLst/>
              <a:ahLst/>
              <a:cxnLst/>
              <a:rect l="l" t="t" r="r" b="b"/>
              <a:pathLst>
                <a:path w="2593340" h="2593340">
                  <a:moveTo>
                    <a:pt x="0" y="1296670"/>
                  </a:moveTo>
                  <a:cubicBezTo>
                    <a:pt x="0" y="580517"/>
                    <a:pt x="580517" y="0"/>
                    <a:pt x="1296670" y="0"/>
                  </a:cubicBezTo>
                  <a:cubicBezTo>
                    <a:pt x="2012823" y="0"/>
                    <a:pt x="2593340" y="580517"/>
                    <a:pt x="2593340" y="1296670"/>
                  </a:cubicBezTo>
                  <a:cubicBezTo>
                    <a:pt x="2593340" y="2012823"/>
                    <a:pt x="2012823" y="2593340"/>
                    <a:pt x="1296670" y="2593340"/>
                  </a:cubicBezTo>
                  <a:cubicBezTo>
                    <a:pt x="580517" y="2593340"/>
                    <a:pt x="0" y="2012823"/>
                    <a:pt x="0" y="1296670"/>
                  </a:cubicBezTo>
                  <a:close/>
                </a:path>
              </a:pathLst>
            </a:custGeom>
            <a:solidFill>
              <a:srgbClr val="FFFFFF"/>
            </a:solidFill>
          </p:spPr>
        </p:sp>
      </p:grpSp>
      <p:grpSp>
        <p:nvGrpSpPr>
          <p:cNvPr id="9" name="Group 9"/>
          <p:cNvGrpSpPr/>
          <p:nvPr/>
        </p:nvGrpSpPr>
        <p:grpSpPr>
          <a:xfrm>
            <a:off x="14594971" y="7354464"/>
            <a:ext cx="460719" cy="460719"/>
            <a:chOff x="0" y="0"/>
            <a:chExt cx="614292" cy="614292"/>
          </a:xfrm>
        </p:grpSpPr>
        <p:sp>
          <p:nvSpPr>
            <p:cNvPr id="10" name="Freeform 10"/>
            <p:cNvSpPr/>
            <p:nvPr/>
          </p:nvSpPr>
          <p:spPr>
            <a:xfrm>
              <a:off x="0" y="0"/>
              <a:ext cx="614299" cy="614299"/>
            </a:xfrm>
            <a:custGeom>
              <a:avLst/>
              <a:gdLst/>
              <a:ahLst/>
              <a:cxnLst/>
              <a:rect l="l" t="t" r="r" b="b"/>
              <a:pathLst>
                <a:path w="614299" h="614299">
                  <a:moveTo>
                    <a:pt x="0" y="307086"/>
                  </a:moveTo>
                  <a:cubicBezTo>
                    <a:pt x="0" y="137541"/>
                    <a:pt x="137541" y="0"/>
                    <a:pt x="307086" y="0"/>
                  </a:cubicBezTo>
                  <a:cubicBezTo>
                    <a:pt x="476631" y="0"/>
                    <a:pt x="614299" y="137541"/>
                    <a:pt x="614299" y="307086"/>
                  </a:cubicBezTo>
                  <a:cubicBezTo>
                    <a:pt x="614299" y="476631"/>
                    <a:pt x="476758" y="614299"/>
                    <a:pt x="307086" y="614299"/>
                  </a:cubicBezTo>
                  <a:cubicBezTo>
                    <a:pt x="137414" y="614299"/>
                    <a:pt x="0" y="476758"/>
                    <a:pt x="0" y="307086"/>
                  </a:cubicBezTo>
                  <a:close/>
                </a:path>
              </a:pathLst>
            </a:custGeom>
            <a:solidFill>
              <a:srgbClr val="FFFFFF"/>
            </a:solidFill>
          </p:spPr>
        </p:sp>
      </p:grpSp>
      <p:grpSp>
        <p:nvGrpSpPr>
          <p:cNvPr id="11" name="Group 11"/>
          <p:cNvGrpSpPr/>
          <p:nvPr/>
        </p:nvGrpSpPr>
        <p:grpSpPr>
          <a:xfrm>
            <a:off x="11133848" y="7206754"/>
            <a:ext cx="1907086" cy="1907086"/>
            <a:chOff x="0" y="0"/>
            <a:chExt cx="2542782" cy="2542782"/>
          </a:xfrm>
        </p:grpSpPr>
        <p:sp>
          <p:nvSpPr>
            <p:cNvPr id="12" name="Freeform 12"/>
            <p:cNvSpPr/>
            <p:nvPr/>
          </p:nvSpPr>
          <p:spPr>
            <a:xfrm>
              <a:off x="0" y="0"/>
              <a:ext cx="2542794" cy="2542794"/>
            </a:xfrm>
            <a:custGeom>
              <a:avLst/>
              <a:gdLst/>
              <a:ahLst/>
              <a:cxnLst/>
              <a:rect l="l" t="t" r="r" b="b"/>
              <a:pathLst>
                <a:path w="2542794" h="2542794">
                  <a:moveTo>
                    <a:pt x="0" y="1271397"/>
                  </a:moveTo>
                  <a:cubicBezTo>
                    <a:pt x="0" y="569214"/>
                    <a:pt x="569214" y="0"/>
                    <a:pt x="1271397" y="0"/>
                  </a:cubicBezTo>
                  <a:cubicBezTo>
                    <a:pt x="1973580" y="0"/>
                    <a:pt x="2542794" y="569214"/>
                    <a:pt x="2542794" y="1271397"/>
                  </a:cubicBezTo>
                  <a:cubicBezTo>
                    <a:pt x="2542794" y="1973580"/>
                    <a:pt x="1973580" y="2542794"/>
                    <a:pt x="1271397" y="2542794"/>
                  </a:cubicBezTo>
                  <a:cubicBezTo>
                    <a:pt x="569214" y="2542794"/>
                    <a:pt x="0" y="1973580"/>
                    <a:pt x="0" y="1271397"/>
                  </a:cubicBezTo>
                  <a:close/>
                </a:path>
              </a:pathLst>
            </a:custGeom>
            <a:solidFill>
              <a:srgbClr val="2C57D4"/>
            </a:solidFill>
          </p:spPr>
        </p:sp>
      </p:grpSp>
      <p:sp>
        <p:nvSpPr>
          <p:cNvPr id="13" name="Freeform 13"/>
          <p:cNvSpPr/>
          <p:nvPr/>
        </p:nvSpPr>
        <p:spPr>
          <a:xfrm>
            <a:off x="14634945" y="5941110"/>
            <a:ext cx="3662582" cy="4355416"/>
          </a:xfrm>
          <a:custGeom>
            <a:avLst/>
            <a:gdLst/>
            <a:ahLst/>
            <a:cxnLst/>
            <a:rect l="l" t="t" r="r" b="b"/>
            <a:pathLst>
              <a:path w="3662582" h="4355416">
                <a:moveTo>
                  <a:pt x="0" y="0"/>
                </a:moveTo>
                <a:lnTo>
                  <a:pt x="3662582" y="0"/>
                </a:lnTo>
                <a:lnTo>
                  <a:pt x="3662582" y="4355416"/>
                </a:lnTo>
                <a:lnTo>
                  <a:pt x="0" y="43554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4" name="Group 14"/>
          <p:cNvGrpSpPr/>
          <p:nvPr/>
        </p:nvGrpSpPr>
        <p:grpSpPr>
          <a:xfrm>
            <a:off x="10844595" y="5482213"/>
            <a:ext cx="228600" cy="228600"/>
            <a:chOff x="0" y="0"/>
            <a:chExt cx="304800" cy="304800"/>
          </a:xfrm>
        </p:grpSpPr>
        <p:sp>
          <p:nvSpPr>
            <p:cNvPr id="15" name="Freeform 15"/>
            <p:cNvSpPr/>
            <p:nvPr/>
          </p:nvSpPr>
          <p:spPr>
            <a:xfrm>
              <a:off x="0" y="0"/>
              <a:ext cx="304800" cy="304800"/>
            </a:xfrm>
            <a:custGeom>
              <a:avLst/>
              <a:gdLst/>
              <a:ahLst/>
              <a:cxnLst/>
              <a:rect l="l" t="t" r="r" b="b"/>
              <a:pathLst>
                <a:path w="304800" h="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FFFFFF"/>
            </a:solidFill>
          </p:spPr>
        </p:sp>
      </p:grpSp>
      <p:grpSp>
        <p:nvGrpSpPr>
          <p:cNvPr id="16" name="Group 16"/>
          <p:cNvGrpSpPr/>
          <p:nvPr/>
        </p:nvGrpSpPr>
        <p:grpSpPr>
          <a:xfrm>
            <a:off x="16975932" y="2936160"/>
            <a:ext cx="392338" cy="392339"/>
            <a:chOff x="0" y="0"/>
            <a:chExt cx="523118" cy="523118"/>
          </a:xfrm>
        </p:grpSpPr>
        <p:sp>
          <p:nvSpPr>
            <p:cNvPr id="17" name="Freeform 17"/>
            <p:cNvSpPr/>
            <p:nvPr/>
          </p:nvSpPr>
          <p:spPr>
            <a:xfrm>
              <a:off x="0" y="0"/>
              <a:ext cx="523240" cy="523240"/>
            </a:xfrm>
            <a:custGeom>
              <a:avLst/>
              <a:gdLst/>
              <a:ahLst/>
              <a:cxnLst/>
              <a:rect l="l" t="t" r="r" b="b"/>
              <a:pathLst>
                <a:path w="523240" h="523240">
                  <a:moveTo>
                    <a:pt x="0" y="261620"/>
                  </a:moveTo>
                  <a:cubicBezTo>
                    <a:pt x="0" y="117094"/>
                    <a:pt x="117094" y="0"/>
                    <a:pt x="261620" y="0"/>
                  </a:cubicBezTo>
                  <a:cubicBezTo>
                    <a:pt x="406146" y="0"/>
                    <a:pt x="523240" y="117094"/>
                    <a:pt x="523240" y="261620"/>
                  </a:cubicBezTo>
                  <a:cubicBezTo>
                    <a:pt x="523240" y="406146"/>
                    <a:pt x="406146" y="523240"/>
                    <a:pt x="261620" y="523240"/>
                  </a:cubicBezTo>
                  <a:cubicBezTo>
                    <a:pt x="117094" y="523240"/>
                    <a:pt x="0" y="406019"/>
                    <a:pt x="0" y="261620"/>
                  </a:cubicBezTo>
                  <a:close/>
                </a:path>
              </a:pathLst>
            </a:custGeom>
            <a:solidFill>
              <a:srgbClr val="356AFF"/>
            </a:solidFill>
          </p:spPr>
        </p:sp>
      </p:grpSp>
      <p:grpSp>
        <p:nvGrpSpPr>
          <p:cNvPr id="18" name="Group 18"/>
          <p:cNvGrpSpPr/>
          <p:nvPr/>
        </p:nvGrpSpPr>
        <p:grpSpPr>
          <a:xfrm>
            <a:off x="11204916" y="3281867"/>
            <a:ext cx="569742" cy="569742"/>
            <a:chOff x="0" y="0"/>
            <a:chExt cx="759656" cy="759656"/>
          </a:xfrm>
        </p:grpSpPr>
        <p:sp>
          <p:nvSpPr>
            <p:cNvPr id="19" name="Freeform 19"/>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20" name="Freeform 20"/>
          <p:cNvSpPr/>
          <p:nvPr/>
        </p:nvSpPr>
        <p:spPr>
          <a:xfrm>
            <a:off x="5324628" y="9524745"/>
            <a:ext cx="1713174" cy="762255"/>
          </a:xfrm>
          <a:custGeom>
            <a:avLst/>
            <a:gdLst/>
            <a:ahLst/>
            <a:cxnLst/>
            <a:rect l="l" t="t" r="r" b="b"/>
            <a:pathLst>
              <a:path w="1713174" h="762255">
                <a:moveTo>
                  <a:pt x="0" y="0"/>
                </a:moveTo>
                <a:lnTo>
                  <a:pt x="1713174" y="0"/>
                </a:lnTo>
                <a:lnTo>
                  <a:pt x="1713174" y="762255"/>
                </a:lnTo>
                <a:lnTo>
                  <a:pt x="0" y="76225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6" name="Group 26"/>
          <p:cNvGrpSpPr/>
          <p:nvPr/>
        </p:nvGrpSpPr>
        <p:grpSpPr>
          <a:xfrm>
            <a:off x="14325421" y="419112"/>
            <a:ext cx="3367144" cy="267839"/>
            <a:chOff x="0" y="0"/>
            <a:chExt cx="4489526" cy="357118"/>
          </a:xfrm>
        </p:grpSpPr>
        <p:sp>
          <p:nvSpPr>
            <p:cNvPr id="27" name="TextBox 27"/>
            <p:cNvSpPr txBox="1"/>
            <p:nvPr/>
          </p:nvSpPr>
          <p:spPr>
            <a:xfrm>
              <a:off x="0" y="26678"/>
              <a:ext cx="4489526" cy="330200"/>
            </a:xfrm>
            <a:prstGeom prst="rect">
              <a:avLst/>
            </a:prstGeom>
          </p:spPr>
          <p:txBody>
            <a:bodyPr lIns="0" tIns="0" rIns="0" bIns="0" rtlCol="0" anchor="t">
              <a:spAutoFit/>
            </a:bodyPr>
            <a:lstStyle/>
            <a:p>
              <a:pPr algn="l">
                <a:lnSpc>
                  <a:spcPts val="1980"/>
                </a:lnSpc>
              </a:pPr>
              <a:r>
                <a:rPr lang="en-US" sz="1650">
                  <a:solidFill>
                    <a:srgbClr val="8497B0"/>
                  </a:solidFill>
                  <a:latin typeface="Montserrat Ultra-Bold" panose="00000900000000000000"/>
                </a:rPr>
                <a:t>BUPT</a:t>
              </a:r>
              <a:endParaRPr lang="en-US" sz="1650">
                <a:solidFill>
                  <a:srgbClr val="8497B0"/>
                </a:solidFill>
                <a:latin typeface="Montserrat Ultra-Bold" panose="00000900000000000000"/>
              </a:endParaRPr>
            </a:p>
          </p:txBody>
        </p:sp>
        <p:sp>
          <p:nvSpPr>
            <p:cNvPr id="28" name="AutoShape 28"/>
            <p:cNvSpPr/>
            <p:nvPr/>
          </p:nvSpPr>
          <p:spPr>
            <a:xfrm>
              <a:off x="1064004" y="21448"/>
              <a:ext cx="12700" cy="335430"/>
            </a:xfrm>
            <a:prstGeom prst="line">
              <a:avLst/>
            </a:prstGeom>
            <a:ln w="12700" cap="rnd">
              <a:solidFill>
                <a:srgbClr val="8497B0"/>
              </a:solidFill>
              <a:prstDash val="solid"/>
              <a:headEnd type="none" w="sm" len="sm"/>
              <a:tailEnd type="none" w="sm" len="sm"/>
            </a:ln>
          </p:spPr>
        </p:sp>
        <p:sp>
          <p:nvSpPr>
            <p:cNvPr id="29" name="TextBox 29"/>
            <p:cNvSpPr txBox="1"/>
            <p:nvPr/>
          </p:nvSpPr>
          <p:spPr>
            <a:xfrm>
              <a:off x="1351862" y="0"/>
              <a:ext cx="3137664" cy="330200"/>
            </a:xfrm>
            <a:prstGeom prst="rect">
              <a:avLst/>
            </a:prstGeom>
          </p:spPr>
          <p:txBody>
            <a:bodyPr lIns="0" tIns="0" rIns="0" bIns="0" rtlCol="0" anchor="t">
              <a:spAutoFit/>
            </a:bodyPr>
            <a:lstStyle/>
            <a:p>
              <a:pPr algn="l">
                <a:lnSpc>
                  <a:spcPts val="1980"/>
                </a:lnSpc>
              </a:pPr>
              <a:r>
                <a:rPr lang="en-US" sz="1650" spc="320">
                  <a:solidFill>
                    <a:srgbClr val="8497B0"/>
                  </a:solidFill>
                  <a:ea typeface="思源黑体" panose="020B0500000000000000" charset="-122"/>
                </a:rPr>
                <a:t>厚德博学 敬业乐群</a:t>
              </a:r>
              <a:endParaRPr lang="en-US" sz="1650" spc="320">
                <a:solidFill>
                  <a:srgbClr val="8497B0"/>
                </a:solidFill>
                <a:ea typeface="思源黑体" panose="020B0500000000000000" charset="-122"/>
              </a:endParaRPr>
            </a:p>
          </p:txBody>
        </p:sp>
      </p:grpSp>
      <p:sp>
        <p:nvSpPr>
          <p:cNvPr id="30" name="Freeform 30"/>
          <p:cNvSpPr/>
          <p:nvPr/>
        </p:nvSpPr>
        <p:spPr>
          <a:xfrm>
            <a:off x="304888" y="2668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9"/>
            <a:stretch>
              <a:fillRect/>
            </a:stretch>
          </a:blipFill>
        </p:spPr>
      </p:sp>
      <p:sp>
        <p:nvSpPr>
          <p:cNvPr id="5" name="TextBox 3"/>
          <p:cNvSpPr txBox="1"/>
          <p:nvPr>
            <p:custDataLst>
              <p:tags r:id="rId10"/>
            </p:custDataLst>
          </p:nvPr>
        </p:nvSpPr>
        <p:spPr>
          <a:xfrm>
            <a:off x="380721" y="2326853"/>
            <a:ext cx="10787204" cy="3323590"/>
          </a:xfrm>
          <a:prstGeom prst="rect">
            <a:avLst/>
          </a:prstGeom>
        </p:spPr>
        <p:txBody>
          <a:bodyPr lIns="0" tIns="0" rIns="0" bIns="0" rtlCol="0" anchor="t">
            <a:spAutoFit/>
          </a:bodyPr>
          <a:lstStyle/>
          <a:p>
            <a:pPr algn="ctr">
              <a:lnSpc>
                <a:spcPts val="12960"/>
              </a:lnSpc>
            </a:pPr>
            <a:r>
              <a:rPr lang="zh-CN" altLang="en-US" sz="10800" b="1">
                <a:solidFill>
                  <a:srgbClr val="356AFF"/>
                </a:solidFill>
                <a:latin typeface="微软雅黑" panose="020B0503020204020204" charset="-122"/>
                <a:ea typeface="微软雅黑" panose="020B0503020204020204" charset="-122"/>
                <a:cs typeface="微软雅黑" panose="020B0503020204020204" charset="-122"/>
              </a:rPr>
              <a:t>子空间</a:t>
            </a:r>
            <a:r>
              <a:rPr lang="zh-CN" altLang="en-US" sz="10800" b="1">
                <a:solidFill>
                  <a:srgbClr val="356AFF"/>
                </a:solidFill>
                <a:latin typeface="微软雅黑" panose="020B0503020204020204" charset="-122"/>
                <a:ea typeface="微软雅黑" panose="020B0503020204020204" charset="-122"/>
                <a:cs typeface="微软雅黑" panose="020B0503020204020204" charset="-122"/>
              </a:rPr>
              <a:t>聚类论文分享</a:t>
            </a:r>
            <a:endParaRPr lang="zh-CN" altLang="en-US" sz="10800" b="1">
              <a:solidFill>
                <a:srgbClr val="356AFF"/>
              </a:solidFill>
              <a:latin typeface="微软雅黑" panose="020B0503020204020204" charset="-122"/>
              <a:ea typeface="微软雅黑" panose="020B0503020204020204" charset="-122"/>
              <a:cs typeface="微软雅黑" panose="020B0503020204020204" charset="-122"/>
            </a:endParaRPr>
          </a:p>
        </p:txBody>
      </p:sp>
      <p:grpSp>
        <p:nvGrpSpPr>
          <p:cNvPr id="36" name="组合 35"/>
          <p:cNvGrpSpPr/>
          <p:nvPr/>
        </p:nvGrpSpPr>
        <p:grpSpPr>
          <a:xfrm>
            <a:off x="4267200" y="6210300"/>
            <a:ext cx="3073400" cy="781050"/>
            <a:chOff x="2346" y="11110"/>
            <a:chExt cx="4840" cy="1230"/>
          </a:xfrm>
        </p:grpSpPr>
        <p:grpSp>
          <p:nvGrpSpPr>
            <p:cNvPr id="24" name="Group 8"/>
            <p:cNvGrpSpPr/>
            <p:nvPr/>
          </p:nvGrpSpPr>
          <p:grpSpPr>
            <a:xfrm>
              <a:off x="2346" y="11110"/>
              <a:ext cx="4519" cy="1230"/>
              <a:chOff x="0" y="0"/>
              <a:chExt cx="3826412" cy="1041008"/>
            </a:xfrm>
          </p:grpSpPr>
          <p:sp>
            <p:nvSpPr>
              <p:cNvPr id="25" name="Freeform 9"/>
              <p:cNvSpPr/>
              <p:nvPr/>
            </p:nvSpPr>
            <p:spPr>
              <a:xfrm>
                <a:off x="0" y="0"/>
                <a:ext cx="3826383" cy="1041019"/>
              </a:xfrm>
              <a:custGeom>
                <a:avLst/>
                <a:gdLst/>
                <a:ahLst/>
                <a:cxnLst/>
                <a:rect l="l" t="t" r="r" b="b"/>
                <a:pathLst>
                  <a:path w="3826383" h="1041019">
                    <a:moveTo>
                      <a:pt x="0" y="520446"/>
                    </a:moveTo>
                    <a:cubicBezTo>
                      <a:pt x="0" y="233045"/>
                      <a:pt x="233045" y="0"/>
                      <a:pt x="520446" y="0"/>
                    </a:cubicBezTo>
                    <a:lnTo>
                      <a:pt x="3305937" y="0"/>
                    </a:lnTo>
                    <a:cubicBezTo>
                      <a:pt x="3593465" y="0"/>
                      <a:pt x="3826383" y="233045"/>
                      <a:pt x="3826383" y="520446"/>
                    </a:cubicBezTo>
                    <a:cubicBezTo>
                      <a:pt x="3826383" y="807847"/>
                      <a:pt x="3593338" y="1040892"/>
                      <a:pt x="3305937" y="1040892"/>
                    </a:cubicBezTo>
                    <a:lnTo>
                      <a:pt x="520446" y="1040892"/>
                    </a:lnTo>
                    <a:cubicBezTo>
                      <a:pt x="233045" y="1041019"/>
                      <a:pt x="0" y="807974"/>
                      <a:pt x="0" y="520446"/>
                    </a:cubicBezTo>
                    <a:close/>
                  </a:path>
                </a:pathLst>
              </a:custGeom>
              <a:solidFill>
                <a:srgbClr val="356AFF"/>
              </a:solidFill>
            </p:spPr>
          </p:sp>
        </p:grpSp>
        <p:sp>
          <p:nvSpPr>
            <p:cNvPr id="31" name="TextBox 10"/>
            <p:cNvSpPr txBox="1"/>
            <p:nvPr/>
          </p:nvSpPr>
          <p:spPr>
            <a:xfrm>
              <a:off x="2716" y="11411"/>
              <a:ext cx="4470" cy="581"/>
            </a:xfrm>
            <a:prstGeom prst="rect">
              <a:avLst/>
            </a:prstGeom>
          </p:spPr>
          <p:txBody>
            <a:bodyPr wrap="square" lIns="0" tIns="0" rIns="0" bIns="0" rtlCol="0" anchor="t">
              <a:spAutoFit/>
            </a:bodyPr>
            <a:lstStyle/>
            <a:p>
              <a:pPr algn="l">
                <a:lnSpc>
                  <a:spcPts val="2880"/>
                </a:lnSpc>
              </a:pPr>
              <a:r>
                <a:rPr lang="en-US" sz="2800" b="1" dirty="0" err="1">
                  <a:solidFill>
                    <a:srgbClr val="FFFFFF"/>
                  </a:solidFill>
                  <a:latin typeface="微软雅黑" panose="020B0503020204020204" charset="-122"/>
                  <a:ea typeface="微软雅黑" panose="020B0503020204020204" charset="-122"/>
                  <a:cs typeface="微软雅黑" panose="020B0503020204020204" charset="-122"/>
                </a:rPr>
                <a:t>汇报人：</a:t>
              </a:r>
              <a:r>
                <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rPr>
                <a:t>李家兴</a:t>
              </a:r>
              <a:endPar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2" name="Freeform 2"/>
          <p:cNvSpPr/>
          <p:nvPr/>
        </p:nvSpPr>
        <p:spPr>
          <a:xfrm>
            <a:off x="-9525" y="5564982"/>
            <a:ext cx="5696790" cy="4731543"/>
          </a:xfrm>
          <a:custGeom>
            <a:avLst/>
            <a:gdLst/>
            <a:ahLst/>
            <a:cxnLst/>
            <a:rect l="l" t="t" r="r" b="b"/>
            <a:pathLst>
              <a:path w="5696790" h="4731543">
                <a:moveTo>
                  <a:pt x="0" y="0"/>
                </a:moveTo>
                <a:lnTo>
                  <a:pt x="5696790" y="0"/>
                </a:lnTo>
                <a:lnTo>
                  <a:pt x="5696790" y="4731543"/>
                </a:lnTo>
                <a:lnTo>
                  <a:pt x="0" y="473154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5" name="Freeform 35"/>
          <p:cNvSpPr/>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6" name="TextBox 36"/>
          <p:cNvSpPr txBox="1"/>
          <p:nvPr/>
        </p:nvSpPr>
        <p:spPr>
          <a:xfrm>
            <a:off x="1403510" y="1724502"/>
            <a:ext cx="4335604" cy="1246505"/>
          </a:xfrm>
          <a:prstGeom prst="rect">
            <a:avLst/>
          </a:prstGeom>
        </p:spPr>
        <p:txBody>
          <a:bodyPr lIns="0" tIns="0" rIns="0" bIns="0" rtlCol="0" anchor="t">
            <a:spAutoFit/>
          </a:bodyPr>
          <a:lstStyle/>
          <a:p>
            <a:pPr algn="l">
              <a:lnSpc>
                <a:spcPts val="9720"/>
              </a:lnSpc>
            </a:pPr>
            <a:r>
              <a:rPr lang="en-US" sz="8100" b="1">
                <a:solidFill>
                  <a:srgbClr val="356AFF"/>
                </a:solidFill>
                <a:latin typeface="微软雅黑" panose="020B0503020204020204" charset="-122"/>
                <a:ea typeface="微软雅黑" panose="020B0503020204020204" charset="-122"/>
              </a:rPr>
              <a:t>目录</a:t>
            </a:r>
            <a:endParaRPr lang="en-US" sz="8100" b="1">
              <a:solidFill>
                <a:srgbClr val="356AFF"/>
              </a:solidFill>
              <a:latin typeface="微软雅黑" panose="020B0503020204020204" charset="-122"/>
              <a:ea typeface="微软雅黑" panose="020B0503020204020204" charset="-122"/>
            </a:endParaRPr>
          </a:p>
        </p:txBody>
      </p:sp>
      <p:sp>
        <p:nvSpPr>
          <p:cNvPr id="37" name="TextBox 37"/>
          <p:cNvSpPr txBox="1"/>
          <p:nvPr/>
        </p:nvSpPr>
        <p:spPr>
          <a:xfrm>
            <a:off x="1493445" y="2931270"/>
            <a:ext cx="2094666" cy="409575"/>
          </a:xfrm>
          <a:prstGeom prst="rect">
            <a:avLst/>
          </a:prstGeom>
        </p:spPr>
        <p:txBody>
          <a:bodyPr lIns="0" tIns="0" rIns="0" bIns="0" rtlCol="0" anchor="t">
            <a:spAutoFit/>
          </a:bodyPr>
          <a:lstStyle/>
          <a:p>
            <a:pPr algn="l">
              <a:lnSpc>
                <a:spcPts val="3240"/>
              </a:lnSpc>
            </a:pPr>
            <a:r>
              <a:rPr lang="en-US" sz="2700">
                <a:solidFill>
                  <a:srgbClr val="8497B0"/>
                </a:solidFill>
                <a:latin typeface="Montserrat Ultra-Bold" panose="00000900000000000000"/>
              </a:rPr>
              <a:t>CONTENTS</a:t>
            </a:r>
            <a:endParaRPr lang="en-US" sz="2700">
              <a:solidFill>
                <a:srgbClr val="8497B0"/>
              </a:solidFill>
              <a:latin typeface="Montserrat Ultra-Bold" panose="00000900000000000000"/>
            </a:endParaRPr>
          </a:p>
        </p:txBody>
      </p:sp>
      <p:sp>
        <p:nvSpPr>
          <p:cNvPr id="38" name="AutoShape 38"/>
          <p:cNvSpPr/>
          <p:nvPr/>
        </p:nvSpPr>
        <p:spPr>
          <a:xfrm flipV="1">
            <a:off x="1584603" y="3567177"/>
            <a:ext cx="584804" cy="0"/>
          </a:xfrm>
          <a:prstGeom prst="line">
            <a:avLst/>
          </a:prstGeom>
          <a:ln w="19050" cap="rnd">
            <a:solidFill>
              <a:srgbClr val="356AFF"/>
            </a:solidFill>
            <a:prstDash val="solid"/>
            <a:headEnd type="none" w="sm" len="sm"/>
            <a:tailEnd type="none" w="sm" len="sm"/>
          </a:ln>
        </p:spPr>
      </p:sp>
      <p:grpSp>
        <p:nvGrpSpPr>
          <p:cNvPr id="39" name="Group 39"/>
          <p:cNvGrpSpPr/>
          <p:nvPr/>
        </p:nvGrpSpPr>
        <p:grpSpPr>
          <a:xfrm>
            <a:off x="4742740" y="6551644"/>
            <a:ext cx="392338" cy="392338"/>
            <a:chOff x="0" y="0"/>
            <a:chExt cx="523118" cy="523118"/>
          </a:xfrm>
        </p:grpSpPr>
        <p:sp>
          <p:nvSpPr>
            <p:cNvPr id="40" name="Freeform 40"/>
            <p:cNvSpPr/>
            <p:nvPr/>
          </p:nvSpPr>
          <p:spPr>
            <a:xfrm>
              <a:off x="0" y="0"/>
              <a:ext cx="523240" cy="523240"/>
            </a:xfrm>
            <a:custGeom>
              <a:avLst/>
              <a:gdLst/>
              <a:ahLst/>
              <a:cxnLst/>
              <a:rect l="l" t="t" r="r" b="b"/>
              <a:pathLst>
                <a:path w="523240" h="523240">
                  <a:moveTo>
                    <a:pt x="0" y="261620"/>
                  </a:moveTo>
                  <a:cubicBezTo>
                    <a:pt x="0" y="117094"/>
                    <a:pt x="117094" y="0"/>
                    <a:pt x="261620" y="0"/>
                  </a:cubicBezTo>
                  <a:cubicBezTo>
                    <a:pt x="406146" y="0"/>
                    <a:pt x="523240" y="117094"/>
                    <a:pt x="523240" y="261620"/>
                  </a:cubicBezTo>
                  <a:cubicBezTo>
                    <a:pt x="523240" y="406146"/>
                    <a:pt x="406146" y="523240"/>
                    <a:pt x="261620" y="523240"/>
                  </a:cubicBezTo>
                  <a:cubicBezTo>
                    <a:pt x="117094" y="523240"/>
                    <a:pt x="0" y="406019"/>
                    <a:pt x="0" y="261620"/>
                  </a:cubicBezTo>
                  <a:close/>
                </a:path>
              </a:pathLst>
            </a:custGeom>
            <a:solidFill>
              <a:srgbClr val="356AFF"/>
            </a:solidFill>
          </p:spPr>
        </p:sp>
      </p:grpSp>
      <p:grpSp>
        <p:nvGrpSpPr>
          <p:cNvPr id="41" name="Group 41"/>
          <p:cNvGrpSpPr/>
          <p:nvPr>
            <p:custDataLst>
              <p:tags r:id="rId5"/>
            </p:custDataLst>
          </p:nvPr>
        </p:nvGrpSpPr>
        <p:grpSpPr>
          <a:xfrm>
            <a:off x="7772637" y="2420190"/>
            <a:ext cx="569742" cy="569742"/>
            <a:chOff x="0" y="0"/>
            <a:chExt cx="759656" cy="759656"/>
          </a:xfrm>
        </p:grpSpPr>
        <p:sp>
          <p:nvSpPr>
            <p:cNvPr id="42" name="Freeform 42"/>
            <p:cNvSpPr/>
            <p:nvPr>
              <p:custDataLst>
                <p:tags r:id="rId6"/>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75" name="Freeform 30"/>
          <p:cNvSpPr/>
          <p:nvPr>
            <p:custDataLst>
              <p:tags r:id="rId7"/>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8"/>
            <a:stretch>
              <a:fillRect/>
            </a:stretch>
          </a:blipFill>
        </p:spPr>
      </p:sp>
      <p:sp>
        <p:nvSpPr>
          <p:cNvPr id="9" name="TextBox 30"/>
          <p:cNvSpPr txBox="1"/>
          <p:nvPr>
            <p:custDataLst>
              <p:tags r:id="rId9"/>
            </p:custDataLst>
          </p:nvPr>
        </p:nvSpPr>
        <p:spPr>
          <a:xfrm>
            <a:off x="8687278" y="2401140"/>
            <a:ext cx="3708067" cy="553720"/>
          </a:xfrm>
          <a:prstGeom prst="rect">
            <a:avLst/>
          </a:prstGeom>
        </p:spPr>
        <p:txBody>
          <a:bodyPr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子空间</a:t>
            </a:r>
            <a:r>
              <a:rPr lang="zh-CN" altLang="en-US" sz="3600" b="1">
                <a:solidFill>
                  <a:srgbClr val="356AFF"/>
                </a:solidFill>
                <a:latin typeface="微软雅黑" panose="020B0503020204020204" charset="-122"/>
                <a:ea typeface="微软雅黑" panose="020B0503020204020204" charset="-122"/>
              </a:rPr>
              <a:t>聚类基础</a:t>
            </a:r>
            <a:endParaRPr lang="zh-CN" altLang="en-US" sz="3600" b="1">
              <a:solidFill>
                <a:srgbClr val="356AFF"/>
              </a:solidFill>
              <a:latin typeface="微软雅黑" panose="020B0503020204020204" charset="-122"/>
              <a:ea typeface="微软雅黑" panose="020B0503020204020204" charset="-122"/>
            </a:endParaRPr>
          </a:p>
        </p:txBody>
      </p:sp>
      <p:grpSp>
        <p:nvGrpSpPr>
          <p:cNvPr id="31" name="Group 41"/>
          <p:cNvGrpSpPr/>
          <p:nvPr>
            <p:custDataLst>
              <p:tags r:id="rId10"/>
            </p:custDataLst>
          </p:nvPr>
        </p:nvGrpSpPr>
        <p:grpSpPr>
          <a:xfrm>
            <a:off x="7772637" y="3696540"/>
            <a:ext cx="569742" cy="569742"/>
            <a:chOff x="0" y="0"/>
            <a:chExt cx="759656" cy="759656"/>
          </a:xfrm>
        </p:grpSpPr>
        <p:sp>
          <p:nvSpPr>
            <p:cNvPr id="34" name="Freeform 42"/>
            <p:cNvSpPr/>
            <p:nvPr>
              <p:custDataLst>
                <p:tags r:id="rId11"/>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43" name="TextBox 30"/>
          <p:cNvSpPr txBox="1"/>
          <p:nvPr>
            <p:custDataLst>
              <p:tags r:id="rId12"/>
            </p:custDataLst>
          </p:nvPr>
        </p:nvSpPr>
        <p:spPr>
          <a:xfrm>
            <a:off x="8687435" y="3677285"/>
            <a:ext cx="4352925" cy="553720"/>
          </a:xfrm>
          <a:prstGeom prst="rect">
            <a:avLst/>
          </a:prstGeom>
        </p:spPr>
        <p:txBody>
          <a:bodyPr wrap="square"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代表性</a:t>
            </a:r>
            <a:r>
              <a:rPr lang="zh-CN" altLang="en-US" sz="3600" b="1">
                <a:solidFill>
                  <a:srgbClr val="356AFF"/>
                </a:solidFill>
                <a:latin typeface="微软雅黑" panose="020B0503020204020204" charset="-122"/>
                <a:ea typeface="微软雅黑" panose="020B0503020204020204" charset="-122"/>
              </a:rPr>
              <a:t>研究课题</a:t>
            </a:r>
            <a:endParaRPr lang="zh-CN" altLang="en-US" sz="3600" b="1">
              <a:solidFill>
                <a:srgbClr val="356AFF"/>
              </a:solidFill>
              <a:latin typeface="微软雅黑" panose="020B0503020204020204" charset="-122"/>
              <a:ea typeface="微软雅黑" panose="020B0503020204020204" charset="-122"/>
            </a:endParaRPr>
          </a:p>
        </p:txBody>
      </p:sp>
      <p:grpSp>
        <p:nvGrpSpPr>
          <p:cNvPr id="44" name="Group 41"/>
          <p:cNvGrpSpPr/>
          <p:nvPr>
            <p:custDataLst>
              <p:tags r:id="rId13"/>
            </p:custDataLst>
          </p:nvPr>
        </p:nvGrpSpPr>
        <p:grpSpPr>
          <a:xfrm>
            <a:off x="7772637" y="4915740"/>
            <a:ext cx="569742" cy="569742"/>
            <a:chOff x="0" y="0"/>
            <a:chExt cx="759656" cy="759656"/>
          </a:xfrm>
        </p:grpSpPr>
        <p:sp>
          <p:nvSpPr>
            <p:cNvPr id="45" name="Freeform 42"/>
            <p:cNvSpPr/>
            <p:nvPr>
              <p:custDataLst>
                <p:tags r:id="rId14"/>
              </p:custDataLst>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46" name="TextBox 30"/>
          <p:cNvSpPr txBox="1"/>
          <p:nvPr>
            <p:custDataLst>
              <p:tags r:id="rId15"/>
            </p:custDataLst>
          </p:nvPr>
        </p:nvSpPr>
        <p:spPr>
          <a:xfrm>
            <a:off x="8687278" y="4896690"/>
            <a:ext cx="3708067" cy="553720"/>
          </a:xfrm>
          <a:prstGeom prst="rect">
            <a:avLst/>
          </a:prstGeom>
        </p:spPr>
        <p:txBody>
          <a:bodyPr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最新论文</a:t>
            </a:r>
            <a:r>
              <a:rPr lang="zh-CN" altLang="en-US" sz="3600" b="1">
                <a:solidFill>
                  <a:srgbClr val="356AFF"/>
                </a:solidFill>
                <a:latin typeface="微软雅黑" panose="020B0503020204020204" charset="-122"/>
                <a:ea typeface="微软雅黑" panose="020B0503020204020204" charset="-122"/>
              </a:rPr>
              <a:t>分享</a:t>
            </a:r>
            <a:endParaRPr lang="zh-CN" altLang="en-US" sz="3600" b="1">
              <a:solidFill>
                <a:srgbClr val="356AFF"/>
              </a:solidFill>
              <a:latin typeface="微软雅黑" panose="020B0503020204020204" charset="-122"/>
              <a:ea typeface="微软雅黑" panose="020B0503020204020204" charset="-122"/>
            </a:endParaRPr>
          </a:p>
        </p:txBody>
      </p:sp>
      <p:grpSp>
        <p:nvGrpSpPr>
          <p:cNvPr id="47" name="Group 41"/>
          <p:cNvGrpSpPr/>
          <p:nvPr/>
        </p:nvGrpSpPr>
        <p:grpSpPr>
          <a:xfrm>
            <a:off x="7772637" y="6211140"/>
            <a:ext cx="569742" cy="569742"/>
            <a:chOff x="0" y="0"/>
            <a:chExt cx="759656" cy="759656"/>
          </a:xfrm>
        </p:grpSpPr>
        <p:sp>
          <p:nvSpPr>
            <p:cNvPr id="48" name="Freeform 42"/>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49" name="TextBox 30"/>
          <p:cNvSpPr txBox="1"/>
          <p:nvPr>
            <p:custDataLst>
              <p:tags r:id="rId16"/>
            </p:custDataLst>
          </p:nvPr>
        </p:nvSpPr>
        <p:spPr>
          <a:xfrm>
            <a:off x="8687278" y="6192090"/>
            <a:ext cx="3708067" cy="553720"/>
          </a:xfrm>
          <a:prstGeom prst="rect">
            <a:avLst/>
          </a:prstGeom>
        </p:spPr>
        <p:txBody>
          <a:bodyPr lIns="0" tIns="0" rIns="0" bIns="0" rtlCol="0" anchor="t">
            <a:spAutoFit/>
          </a:bodyPr>
          <a:lstStyle/>
          <a:p>
            <a:pPr algn="l">
              <a:lnSpc>
                <a:spcPts val="4320"/>
              </a:lnSpc>
              <a:buClrTx/>
              <a:buSzTx/>
              <a:buFontTx/>
            </a:pPr>
            <a:r>
              <a:rPr lang="zh-CN" altLang="en-US" sz="3600" b="1">
                <a:solidFill>
                  <a:srgbClr val="356AFF"/>
                </a:solidFill>
                <a:latin typeface="微软雅黑" panose="020B0503020204020204" charset="-122"/>
                <a:ea typeface="微软雅黑" panose="020B0503020204020204" charset="-122"/>
              </a:rPr>
              <a:t>疑问与</a:t>
            </a:r>
            <a:r>
              <a:rPr lang="zh-CN" altLang="en-US" sz="3600" b="1">
                <a:solidFill>
                  <a:srgbClr val="356AFF"/>
                </a:solidFill>
                <a:latin typeface="微软雅黑" panose="020B0503020204020204" charset="-122"/>
                <a:ea typeface="微软雅黑" panose="020B0503020204020204" charset="-122"/>
              </a:rPr>
              <a:t>思考</a:t>
            </a:r>
            <a:endParaRPr lang="zh-CN" altLang="en-US" sz="3600" b="1">
              <a:solidFill>
                <a:srgbClr val="356AFF"/>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子空间聚类</a:t>
            </a:r>
            <a:r>
              <a:rPr lang="zh-CN" altLang="en-US" sz="12000">
                <a:solidFill>
                  <a:srgbClr val="356AFF"/>
                </a:solidFill>
                <a:latin typeface="微软雅黑" panose="020B0503020204020204" charset="-122"/>
                <a:ea typeface="微软雅黑" panose="020B0503020204020204" charset="-122"/>
              </a:rPr>
              <a:t>基础</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38425"/>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01</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子空间聚类</a:t>
            </a:r>
            <a:r>
              <a:rPr lang="zh-CN" altLang="en-US" sz="3600" b="1">
                <a:solidFill>
                  <a:schemeClr val="tx1"/>
                </a:solidFill>
                <a:latin typeface="微软雅黑" panose="020B0503020204020204" charset="-122"/>
                <a:ea typeface="微软雅黑" panose="020B0503020204020204" charset="-122"/>
              </a:rPr>
              <a:t>简介</a:t>
            </a:r>
            <a:endParaRPr lang="zh-CN" altLang="en-US"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6"/>
            </p:custDataLst>
          </p:nvPr>
        </p:nvSpPr>
        <p:spPr>
          <a:xfrm>
            <a:off x="609600" y="1714500"/>
            <a:ext cx="15503525" cy="16617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子空间：子空间指的是维度小于等于全空间的</a:t>
            </a:r>
            <a:r>
              <a:rPr lang="zh-CN" altLang="en-US" sz="2400">
                <a:solidFill>
                  <a:schemeClr val="tx1"/>
                </a:solidFill>
                <a:latin typeface="微软雅黑" panose="020B0503020204020204" charset="-122"/>
                <a:ea typeface="微软雅黑" panose="020B0503020204020204" charset="-122"/>
              </a:rPr>
              <a:t>低维空间</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子空间聚类的假设：数据采样自多个低维子空间的</a:t>
            </a:r>
            <a:r>
              <a:rPr lang="zh-CN" altLang="en-US" sz="2400">
                <a:solidFill>
                  <a:schemeClr val="tx1"/>
                </a:solidFill>
                <a:latin typeface="微软雅黑" panose="020B0503020204020204" charset="-122"/>
                <a:ea typeface="微软雅黑" panose="020B0503020204020204" charset="-122"/>
              </a:rPr>
              <a:t>并集</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线性子空间</a:t>
            </a:r>
            <a:r>
              <a:rPr lang="zh-CN" altLang="en-US" sz="2400">
                <a:solidFill>
                  <a:schemeClr val="tx1"/>
                </a:solidFill>
                <a:latin typeface="微软雅黑" panose="020B0503020204020204" charset="-122"/>
                <a:ea typeface="微软雅黑" panose="020B0503020204020204" charset="-122"/>
              </a:rPr>
              <a:t>假设：假设每个簇都位于一个特定的低维子空间中，数据点可以被其所属子空间中的其他点线性表示</a:t>
            </a:r>
            <a:r>
              <a:rPr lang="en-US" altLang="zh-CN" sz="2400">
                <a:solidFill>
                  <a:schemeClr val="tx1"/>
                </a:solidFill>
                <a:latin typeface="微软雅黑" panose="020B0503020204020204" charset="-122"/>
                <a:ea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7"/>
          <a:stretch>
            <a:fillRect/>
          </a:stretch>
        </p:blipFill>
        <p:spPr>
          <a:xfrm>
            <a:off x="4876800" y="4185285"/>
            <a:ext cx="7467600" cy="51130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子空间聚类</a:t>
            </a:r>
            <a:r>
              <a:rPr lang="zh-CN" altLang="en-US" sz="3600" b="1">
                <a:solidFill>
                  <a:schemeClr val="tx1"/>
                </a:solidFill>
                <a:latin typeface="微软雅黑" panose="020B0503020204020204" charset="-122"/>
                <a:ea typeface="微软雅黑" panose="020B0503020204020204" charset="-122"/>
              </a:rPr>
              <a:t>简介</a:t>
            </a:r>
            <a:endParaRPr lang="zh-CN" altLang="en-US"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6" name="TextBox 30"/>
              <p:cNvSpPr txBox="1"/>
              <p:nvPr>
                <p:custDataLst>
                  <p:tags r:id="rId6"/>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自表达模型：每个数据点都可以使用其他数据点的线性组合来进行表示</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nary>
                      <m:naryPr>
                        <m:chr m:val="∑"/>
                        <m:limLoc m:val="subSup"/>
                        <m:supHide m:val="on"/>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naryPr>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up/>
                      <m:e>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m:t>
                            </m:r>
                          </m:sub>
                        </m:sSub>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𝑖𝑗</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𝑒</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e>
                    </m:nary>
                  </m:oMath>
                </a14:m>
                <a:r>
                  <a:rPr lang="en-US" altLang="zh-CN" sz="2400">
                    <a:solidFill>
                      <a:schemeClr val="tx1"/>
                    </a:solidFill>
                    <a:latin typeface="微软雅黑" panose="020B0503020204020204" charset="-122"/>
                    <a:ea typeface="微软雅黑" panose="020B0503020204020204" charset="-122"/>
                  </a:rPr>
                  <a:t> </a:t>
                </a:r>
                <a:r>
                  <a:rPr lang="zh-CN" altLang="en-US" sz="2400">
                    <a:solidFill>
                      <a:schemeClr val="tx1"/>
                    </a:solidFill>
                    <a:latin typeface="微软雅黑" panose="020B0503020204020204" charset="-122"/>
                    <a:ea typeface="微软雅黑" panose="020B0503020204020204" charset="-122"/>
                  </a:rPr>
                  <a:t>，其中</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𝑒</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为自表达模型的重建</a:t>
                </a:r>
                <a:r>
                  <a:rPr lang="zh-CN" altLang="en-US" sz="2400">
                    <a:solidFill>
                      <a:schemeClr val="tx1"/>
                    </a:solidFill>
                    <a:latin typeface="Cambria Math" panose="02040503050406030204" charset="0"/>
                    <a:ea typeface="微软雅黑" panose="020B0503020204020204" charset="-122"/>
                    <a:cs typeface="Cambria Math" panose="02040503050406030204" charset="0"/>
                  </a:rPr>
                  <a:t>误差。于是，我们通过优化如下函数，可以得到数据点</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的自表达系数向量</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6" name="TextBox 30"/>
              <p:cNvSpPr txBox="1">
                <a:spLocks noRot="1" noChangeAspect="1" noMove="1" noResize="1" noEditPoints="1" noAdjustHandles="1" noChangeArrowheads="1" noChangeShapeType="1" noTextEdit="1"/>
              </p:cNvSpPr>
              <p:nvPr>
                <p:custDataLst>
                  <p:tags r:id="rId7"/>
                </p:custDataLst>
              </p:nvPr>
            </p:nvSpPr>
            <p:spPr>
              <a:xfrm>
                <a:off x="609600" y="1714500"/>
                <a:ext cx="15503525" cy="1107440"/>
              </a:xfrm>
              <a:prstGeom prst="rect">
                <a:avLst/>
              </a:prstGeom>
              <a:blipFill rotWithShape="1">
                <a:blip r:embed="rId8"/>
                <a:stretch>
                  <a:fillRect/>
                </a:stretch>
              </a:blipFill>
            </p:spPr>
            <p:txBody>
              <a:bodyPr/>
              <a:lstStyle/>
              <a:p>
                <a:r>
                  <a:rPr lang="zh-CN" altLang="en-US">
                    <a:noFill/>
                  </a:rPr>
                  <a:t> </a:t>
                </a:r>
              </a:p>
            </p:txBody>
          </p:sp>
        </mc:Fallback>
      </mc:AlternateContent>
      <p:sp>
        <p:nvSpPr>
          <p:cNvPr id="4" name="TextBox 30"/>
          <p:cNvSpPr txBox="1"/>
          <p:nvPr>
            <p:custDataLst>
              <p:tags r:id="rId9"/>
            </p:custDataLst>
          </p:nvPr>
        </p:nvSpPr>
        <p:spPr>
          <a:xfrm>
            <a:off x="609600" y="3124200"/>
            <a:ext cx="15503525" cy="55372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0"/>
          <a:stretch>
            <a:fillRect/>
          </a:stretch>
        </p:blipFill>
        <p:spPr>
          <a:xfrm>
            <a:off x="5410200" y="3695700"/>
            <a:ext cx="6061075" cy="637540"/>
          </a:xfrm>
          <a:prstGeom prst="rect">
            <a:avLst/>
          </a:prstGeom>
        </p:spPr>
      </p:pic>
      <mc:AlternateContent xmlns:mc="http://schemas.openxmlformats.org/markup-compatibility/2006">
        <mc:Choice xmlns:a14="http://schemas.microsoft.com/office/drawing/2010/main" Requires="a14">
          <p:sp>
            <p:nvSpPr>
              <p:cNvPr id="8" name="TextBox 30"/>
              <p:cNvSpPr txBox="1"/>
              <p:nvPr>
                <p:custDataLst>
                  <p:tags r:id="rId11"/>
                </p:custDataLst>
              </p:nvPr>
            </p:nvSpPr>
            <p:spPr>
              <a:xfrm>
                <a:off x="762000" y="4652645"/>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其中</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𝑁</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latin typeface="Cambria Math" panose="02040503050406030204" charset="0"/>
                    <a:ea typeface="微软雅黑" panose="020B0503020204020204" charset="-122"/>
                    <a:cs typeface="Cambria Math" panose="02040503050406030204" charset="0"/>
                    <a:sym typeface="+mn-ea"/>
                  </a:rPr>
                  <a:t>，</a:t>
                </a:r>
                <a14:m>
                  <m:oMath xmlns:m="http://schemas.openxmlformats.org/officeDocument/2006/math">
                    <m:sSub>
                      <m:sSubPr>
                        <m:ctrlPr>
                          <a:rPr lang="zh-CN" altLang="en-US"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𝑁</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sub>
                        </m:sSub>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𝑇</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𝑟</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ℎ</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分别表示对于系数向量</a:t>
                </a:r>
                <a14:m>
                  <m:oMath xmlns:m="http://schemas.openxmlformats.org/officeDocument/2006/math">
                    <m:sSub>
                      <m:sSubPr>
                        <m:ctrlPr>
                          <a:rPr lang="zh-CN" altLang="en-US"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𝑐</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和误差项</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𝑒</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的正则化算子，通常为范数形式，因此有写论文也写成如下</a:t>
                </a:r>
                <a:r>
                  <a:rPr lang="zh-CN" altLang="en-US" sz="2400">
                    <a:solidFill>
                      <a:schemeClr val="tx1"/>
                    </a:solidFill>
                    <a:latin typeface="Cambria Math" panose="02040503050406030204" charset="0"/>
                    <a:ea typeface="微软雅黑" panose="020B0503020204020204" charset="-122"/>
                    <a:cs typeface="Cambria Math" panose="02040503050406030204" charset="0"/>
                  </a:rPr>
                  <a:t>形式：</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8" name="TextBox 30"/>
              <p:cNvSpPr txBox="1">
                <a:spLocks noRot="1" noChangeAspect="1" noMove="1" noResize="1" noEditPoints="1" noAdjustHandles="1" noChangeArrowheads="1" noChangeShapeType="1" noTextEdit="1"/>
              </p:cNvSpPr>
              <p:nvPr>
                <p:custDataLst>
                  <p:tags r:id="rId12"/>
                </p:custDataLst>
              </p:nvPr>
            </p:nvSpPr>
            <p:spPr>
              <a:xfrm>
                <a:off x="762000" y="4652645"/>
                <a:ext cx="15503525" cy="1107440"/>
              </a:xfrm>
              <a:prstGeom prst="rect">
                <a:avLst/>
              </a:prstGeom>
              <a:blipFill rotWithShape="1">
                <a:blip r:embed="rId13"/>
                <a:stretch>
                  <a:fillRect/>
                </a:stretch>
              </a:blipFill>
            </p:spPr>
            <p:txBody>
              <a:bodyPr/>
              <a:lstStyle/>
              <a:p>
                <a:r>
                  <a:rPr lang="zh-CN" altLang="en-US">
                    <a:noFill/>
                  </a:rPr>
                  <a:t> </a:t>
                </a:r>
              </a:p>
            </p:txBody>
          </p:sp>
        </mc:Fallback>
      </mc:AlternateContent>
      <p:pic>
        <p:nvPicPr>
          <p:cNvPr id="9" name="图片 8"/>
          <p:cNvPicPr>
            <a:picLocks noChangeAspect="1"/>
          </p:cNvPicPr>
          <p:nvPr/>
        </p:nvPicPr>
        <p:blipFill>
          <a:blip r:embed="rId14"/>
          <a:stretch>
            <a:fillRect/>
          </a:stretch>
        </p:blipFill>
        <p:spPr>
          <a:xfrm>
            <a:off x="4925060" y="6362700"/>
            <a:ext cx="6873240" cy="688340"/>
          </a:xfrm>
          <a:prstGeom prst="rect">
            <a:avLst/>
          </a:prstGeom>
        </p:spPr>
      </p:pic>
      <p:sp>
        <p:nvSpPr>
          <p:cNvPr id="10" name="TextBox 30"/>
          <p:cNvSpPr txBox="1"/>
          <p:nvPr>
            <p:custDataLst>
              <p:tags r:id="rId15"/>
            </p:custDataLst>
          </p:nvPr>
        </p:nvSpPr>
        <p:spPr>
          <a:xfrm>
            <a:off x="685800" y="7653655"/>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应用方向：主要应用于图像聚类、确实数据补全、特征</a:t>
            </a:r>
            <a:r>
              <a:rPr lang="en-US" altLang="zh-CN"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表征学习等</a:t>
            </a:r>
            <a:r>
              <a:rPr lang="zh-CN" altLang="en-US" sz="2400">
                <a:solidFill>
                  <a:schemeClr val="tx1"/>
                </a:solidFill>
                <a:latin typeface="Cambria Math" panose="02040503050406030204" charset="0"/>
                <a:ea typeface="微软雅黑" panose="020B0503020204020204" charset="-122"/>
                <a:cs typeface="Cambria Math" panose="02040503050406030204" charset="0"/>
              </a:rPr>
              <a:t>任务。</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代表性研究</a:t>
            </a:r>
            <a:r>
              <a:rPr lang="zh-CN" altLang="en-US" sz="12000">
                <a:solidFill>
                  <a:srgbClr val="356AFF"/>
                </a:solidFill>
                <a:latin typeface="微软雅黑" panose="020B0503020204020204" charset="-122"/>
                <a:ea typeface="微软雅黑" panose="020B0503020204020204" charset="-122"/>
              </a:rPr>
              <a:t>课题</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54300"/>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02</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正则化算子选择</a:t>
            </a:r>
            <a:r>
              <a:rPr lang="en-US" altLang="zh-CN" sz="3600" b="1">
                <a:solidFill>
                  <a:schemeClr val="tx1"/>
                </a:solidFill>
                <a:latin typeface="微软雅黑" panose="020B0503020204020204" charset="-122"/>
                <a:ea typeface="微软雅黑" panose="020B0503020204020204" charset="-122"/>
              </a:rPr>
              <a:t> —— </a:t>
            </a:r>
            <a:r>
              <a:rPr lang="zh-CN" altLang="en-US" sz="3600" b="1">
                <a:solidFill>
                  <a:schemeClr val="tx1"/>
                </a:solidFill>
                <a:latin typeface="微软雅黑" panose="020B0503020204020204" charset="-122"/>
                <a:ea typeface="微软雅黑" panose="020B0503020204020204" charset="-122"/>
              </a:rPr>
              <a:t>连通性与子空间保持性的</a:t>
            </a:r>
            <a:r>
              <a:rPr lang="en-US" altLang="zh-CN" sz="3600" b="1">
                <a:solidFill>
                  <a:schemeClr val="tx1"/>
                </a:solidFill>
                <a:latin typeface="微软雅黑" panose="020B0503020204020204" charset="-122"/>
                <a:ea typeface="微软雅黑" panose="020B0503020204020204" charset="-122"/>
              </a:rPr>
              <a:t>trade-off</a:t>
            </a:r>
            <a:endParaRPr lang="en-US" altLang="zh-CN"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6"/>
            </p:custDataLst>
          </p:nvPr>
        </p:nvSpPr>
        <p:spPr>
          <a:xfrm>
            <a:off x="609600" y="2781300"/>
            <a:ext cx="15503525" cy="49860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在自表达模型框架下，不同的正则化算子会使得最终的系数矩阵存在不同的特性，从而影响最后聚类的</a:t>
            </a:r>
            <a:r>
              <a:rPr lang="zh-CN" altLang="en-US" sz="2400">
                <a:solidFill>
                  <a:schemeClr val="tx1"/>
                </a:solidFill>
                <a:latin typeface="微软雅黑" panose="020B0503020204020204" charset="-122"/>
                <a:ea typeface="微软雅黑" panose="020B0503020204020204" charset="-122"/>
              </a:rPr>
              <a:t>结果。</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例如</a:t>
            </a:r>
            <a:r>
              <a:rPr lang="en-US" altLang="zh-CN" sz="2400">
                <a:solidFill>
                  <a:schemeClr val="tx1"/>
                </a:solidFill>
                <a:latin typeface="微软雅黑" panose="020B0503020204020204" charset="-122"/>
                <a:ea typeface="微软雅黑" panose="020B0503020204020204" charset="-122"/>
              </a:rPr>
              <a:t>SSC</a:t>
            </a:r>
            <a:r>
              <a:rPr lang="zh-CN" altLang="en-US" sz="2400">
                <a:solidFill>
                  <a:schemeClr val="tx1"/>
                </a:solidFill>
                <a:latin typeface="微软雅黑" panose="020B0503020204020204" charset="-122"/>
                <a:ea typeface="微软雅黑" panose="020B0503020204020204" charset="-122"/>
              </a:rPr>
              <a:t>（</a:t>
            </a:r>
            <a:r>
              <a:rPr lang="en-US" altLang="zh-CN" sz="2400">
                <a:solidFill>
                  <a:schemeClr val="tx1"/>
                </a:solidFill>
                <a:latin typeface="微软雅黑" panose="020B0503020204020204" charset="-122"/>
                <a:ea typeface="微软雅黑" panose="020B0503020204020204" charset="-122"/>
              </a:rPr>
              <a:t>Sparse Subspace Clustering</a:t>
            </a:r>
            <a:r>
              <a:rPr lang="zh-CN" altLang="en-US" sz="2400">
                <a:solidFill>
                  <a:schemeClr val="tx1"/>
                </a:solidFill>
                <a:latin typeface="微软雅黑" panose="020B0503020204020204" charset="-122"/>
                <a:ea typeface="微软雅黑" panose="020B0503020204020204" charset="-122"/>
              </a:rPr>
              <a:t>）强调稀疏性，通过将</a:t>
            </a:r>
            <a:r>
              <a:rPr lang="en-US" altLang="zh-CN" sz="2400">
                <a:solidFill>
                  <a:schemeClr val="tx1"/>
                </a:solidFill>
                <a:latin typeface="微软雅黑" panose="020B0503020204020204" charset="-122"/>
                <a:ea typeface="微软雅黑" panose="020B0503020204020204" charset="-122"/>
              </a:rPr>
              <a:t> r </a:t>
            </a:r>
            <a:r>
              <a:rPr lang="zh-CN" altLang="en-US" sz="2400">
                <a:solidFill>
                  <a:schemeClr val="tx1"/>
                </a:solidFill>
                <a:latin typeface="微软雅黑" panose="020B0503020204020204" charset="-122"/>
                <a:ea typeface="微软雅黑" panose="020B0503020204020204" charset="-122"/>
              </a:rPr>
              <a:t>设置为</a:t>
            </a:r>
            <a:r>
              <a:rPr lang="en-US" altLang="zh-CN" sz="2400">
                <a:solidFill>
                  <a:schemeClr val="tx1"/>
                </a:solidFill>
                <a:latin typeface="微软雅黑" panose="020B0503020204020204" charset="-122"/>
                <a:ea typeface="微软雅黑" panose="020B0503020204020204" charset="-122"/>
              </a:rPr>
              <a:t>L1</a:t>
            </a:r>
            <a:r>
              <a:rPr lang="zh-CN" altLang="en-US" sz="2400">
                <a:solidFill>
                  <a:schemeClr val="tx1"/>
                </a:solidFill>
                <a:latin typeface="微软雅黑" panose="020B0503020204020204" charset="-122"/>
                <a:ea typeface="微软雅黑" panose="020B0503020204020204" charset="-122"/>
              </a:rPr>
              <a:t>正则实现，由于</a:t>
            </a:r>
            <a:r>
              <a:rPr lang="en-US" altLang="zh-CN" sz="2400">
                <a:solidFill>
                  <a:schemeClr val="tx1"/>
                </a:solidFill>
                <a:latin typeface="微软雅黑" panose="020B0503020204020204" charset="-122"/>
                <a:ea typeface="微软雅黑" panose="020B0503020204020204" charset="-122"/>
              </a:rPr>
              <a:t>L1</a:t>
            </a:r>
            <a:r>
              <a:rPr lang="zh-CN" altLang="en-US" sz="2400">
                <a:solidFill>
                  <a:schemeClr val="tx1"/>
                </a:solidFill>
                <a:latin typeface="微软雅黑" panose="020B0503020204020204" charset="-122"/>
                <a:ea typeface="微软雅黑" panose="020B0503020204020204" charset="-122"/>
              </a:rPr>
              <a:t>范数的特性（解大概率位于正则限制区域的顶点，因为顶点是突出的，又因为顶点位于坐标轴上，所以是稀疏的），使得系数</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为稀疏解。系数矩阵如果是稀疏的，那么子空间保持性会比较好，基本不会出现不同子空间的数据点间出现</a:t>
            </a:r>
            <a:r>
              <a:rPr lang="en-US" altLang="zh-CN" sz="2400">
                <a:solidFill>
                  <a:schemeClr val="tx1"/>
                </a:solidFill>
                <a:latin typeface="微软雅黑" panose="020B0503020204020204" charset="-122"/>
                <a:ea typeface="微软雅黑" panose="020B0503020204020204" charset="-122"/>
              </a:rPr>
              <a:t>“</a:t>
            </a:r>
            <a:r>
              <a:rPr lang="zh-CN" altLang="en-US" sz="2400">
                <a:solidFill>
                  <a:schemeClr val="tx1"/>
                </a:solidFill>
                <a:latin typeface="微软雅黑" panose="020B0503020204020204" charset="-122"/>
                <a:ea typeface="微软雅黑" panose="020B0503020204020204" charset="-122"/>
              </a:rPr>
              <a:t>串门</a:t>
            </a:r>
            <a:r>
              <a:rPr lang="en-US" altLang="zh-CN" sz="2400">
                <a:solidFill>
                  <a:schemeClr val="tx1"/>
                </a:solidFill>
                <a:latin typeface="微软雅黑" panose="020B0503020204020204" charset="-122"/>
                <a:ea typeface="微软雅黑" panose="020B0503020204020204" charset="-122"/>
              </a:rPr>
              <a:t>”</a:t>
            </a:r>
            <a:r>
              <a:rPr lang="zh-CN" altLang="en-US" sz="2400">
                <a:solidFill>
                  <a:schemeClr val="tx1"/>
                </a:solidFill>
                <a:latin typeface="微软雅黑" panose="020B0503020204020204" charset="-122"/>
                <a:ea typeface="微软雅黑" panose="020B0503020204020204" charset="-122"/>
              </a:rPr>
              <a:t>现象。</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而如果将</a:t>
            </a:r>
            <a:r>
              <a:rPr lang="en-US" altLang="zh-CN" sz="2400">
                <a:solidFill>
                  <a:schemeClr val="tx1"/>
                </a:solidFill>
                <a:latin typeface="微软雅黑" panose="020B0503020204020204" charset="-122"/>
                <a:ea typeface="微软雅黑" panose="020B0503020204020204" charset="-122"/>
              </a:rPr>
              <a:t> r </a:t>
            </a:r>
            <a:r>
              <a:rPr lang="zh-CN" altLang="en-US" sz="2400">
                <a:solidFill>
                  <a:schemeClr val="tx1"/>
                </a:solidFill>
                <a:latin typeface="微软雅黑" panose="020B0503020204020204" charset="-122"/>
                <a:ea typeface="微软雅黑" panose="020B0503020204020204" charset="-122"/>
              </a:rPr>
              <a:t>设置为</a:t>
            </a:r>
            <a:r>
              <a:rPr lang="en-US" altLang="zh-CN" sz="2400">
                <a:solidFill>
                  <a:schemeClr val="tx1"/>
                </a:solidFill>
                <a:latin typeface="微软雅黑" panose="020B0503020204020204" charset="-122"/>
                <a:ea typeface="微软雅黑" panose="020B0503020204020204" charset="-122"/>
              </a:rPr>
              <a:t>L2</a:t>
            </a:r>
            <a:r>
              <a:rPr lang="zh-CN" altLang="en-US" sz="2400">
                <a:solidFill>
                  <a:schemeClr val="tx1"/>
                </a:solidFill>
                <a:latin typeface="微软雅黑" panose="020B0503020204020204" charset="-122"/>
                <a:ea typeface="微软雅黑" panose="020B0503020204020204" charset="-122"/>
              </a:rPr>
              <a:t>范数，那么解大概率是不在坐标轴上的，主要对解的模具有限制性，控制其不会出现幅值非常大的解。由于该正则会使得稀疏解出现概率小，因此能增加连通性。而且</a:t>
            </a:r>
            <a:r>
              <a:rPr lang="en-US" altLang="zh-CN" sz="2400">
                <a:solidFill>
                  <a:schemeClr val="tx1"/>
                </a:solidFill>
                <a:latin typeface="微软雅黑" panose="020B0503020204020204" charset="-122"/>
                <a:ea typeface="微软雅黑" panose="020B0503020204020204" charset="-122"/>
              </a:rPr>
              <a:t>L2</a:t>
            </a:r>
            <a:r>
              <a:rPr lang="zh-CN" altLang="en-US" sz="2400">
                <a:solidFill>
                  <a:schemeClr val="tx1"/>
                </a:solidFill>
                <a:latin typeface="微软雅黑" panose="020B0503020204020204" charset="-122"/>
                <a:ea typeface="微软雅黑" panose="020B0503020204020204" charset="-122"/>
              </a:rPr>
              <a:t>范数也通常附加于</a:t>
            </a:r>
            <a:r>
              <a:rPr lang="en-US" altLang="zh-CN" sz="2400">
                <a:solidFill>
                  <a:schemeClr val="tx1"/>
                </a:solidFill>
                <a:latin typeface="微软雅黑" panose="020B0503020204020204" charset="-122"/>
                <a:ea typeface="微软雅黑" panose="020B0503020204020204" charset="-122"/>
              </a:rPr>
              <a:t>h</a:t>
            </a:r>
            <a:r>
              <a:rPr lang="zh-CN" altLang="en-US" sz="2400">
                <a:solidFill>
                  <a:schemeClr val="tx1"/>
                </a:solidFill>
                <a:latin typeface="微软雅黑" panose="020B0503020204020204" charset="-122"/>
                <a:ea typeface="微软雅黑" panose="020B0503020204020204" charset="-122"/>
              </a:rPr>
              <a:t>上，用于抑制数据点中</a:t>
            </a:r>
            <a:r>
              <a:rPr lang="zh-CN" altLang="en-US" sz="2400">
                <a:solidFill>
                  <a:schemeClr val="tx1"/>
                </a:solidFill>
                <a:latin typeface="微软雅黑" panose="020B0503020204020204" charset="-122"/>
                <a:ea typeface="微软雅黑" panose="020B0503020204020204" charset="-122"/>
              </a:rPr>
              <a:t>的高斯</a:t>
            </a:r>
            <a:r>
              <a:rPr lang="zh-CN" altLang="en-US" sz="2400">
                <a:solidFill>
                  <a:schemeClr val="tx1"/>
                </a:solidFill>
                <a:latin typeface="微软雅黑" panose="020B0503020204020204" charset="-122"/>
                <a:ea typeface="微软雅黑" panose="020B0503020204020204" charset="-122"/>
              </a:rPr>
              <a:t>噪声。</a:t>
            </a:r>
            <a:endParaRPr lang="zh-CN" altLang="en-US"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7"/>
          <a:stretch>
            <a:fillRect/>
          </a:stretch>
        </p:blipFill>
        <p:spPr>
          <a:xfrm>
            <a:off x="5410200" y="2019300"/>
            <a:ext cx="6061075" cy="6375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a:t>
            </a:r>
            <a:r>
              <a:rPr lang="zh-CN" altLang="en-US" sz="3600" b="1">
                <a:solidFill>
                  <a:schemeClr val="tx1"/>
                </a:solidFill>
                <a:latin typeface="微软雅黑" panose="020B0503020204020204" charset="-122"/>
                <a:ea typeface="微软雅黑" panose="020B0503020204020204" charset="-122"/>
              </a:rPr>
              <a:t>正则化算子选择</a:t>
            </a:r>
            <a:r>
              <a:rPr lang="en-US" altLang="zh-CN" sz="3600" b="1">
                <a:solidFill>
                  <a:schemeClr val="tx1"/>
                </a:solidFill>
                <a:latin typeface="微软雅黑" panose="020B0503020204020204" charset="-122"/>
                <a:ea typeface="微软雅黑" panose="020B0503020204020204" charset="-122"/>
              </a:rPr>
              <a:t> —— </a:t>
            </a:r>
            <a:r>
              <a:rPr lang="zh-CN" altLang="en-US" sz="3600" b="1">
                <a:solidFill>
                  <a:schemeClr val="tx1"/>
                </a:solidFill>
                <a:latin typeface="微软雅黑" panose="020B0503020204020204" charset="-122"/>
                <a:ea typeface="微软雅黑" panose="020B0503020204020204" charset="-122"/>
              </a:rPr>
              <a:t>连通性与子空间保持性的</a:t>
            </a:r>
            <a:r>
              <a:rPr lang="en-US" altLang="zh-CN" sz="3600" b="1">
                <a:solidFill>
                  <a:schemeClr val="tx1"/>
                </a:solidFill>
                <a:latin typeface="微软雅黑" panose="020B0503020204020204" charset="-122"/>
                <a:ea typeface="微软雅黑" panose="020B0503020204020204" charset="-122"/>
              </a:rPr>
              <a:t>trade-off</a:t>
            </a:r>
            <a:endParaRPr lang="en-US" altLang="zh-CN"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6" name="TextBox 30"/>
              <p:cNvSpPr txBox="1"/>
              <p:nvPr>
                <p:custDataLst>
                  <p:tags r:id="rId6"/>
                </p:custDataLst>
              </p:nvPr>
            </p:nvSpPr>
            <p:spPr>
              <a:xfrm>
                <a:off x="609600" y="1790700"/>
                <a:ext cx="15503525" cy="276987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子空间保持性与连通性均是子空间聚类中非常重要的性质，将直接影响最终的聚类性能，比如</a:t>
                </a:r>
                <a:r>
                  <a:rPr lang="en-US" altLang="zh-CN" sz="2400">
                    <a:solidFill>
                      <a:schemeClr val="tx1"/>
                    </a:solidFill>
                    <a:latin typeface="微软雅黑" panose="020B0503020204020204" charset="-122"/>
                    <a:ea typeface="微软雅黑" panose="020B0503020204020204" charset="-122"/>
                  </a:rPr>
                  <a:t>SRE</a:t>
                </a:r>
                <a:r>
                  <a:rPr lang="zh-CN" altLang="en-US" sz="2400">
                    <a:solidFill>
                      <a:schemeClr val="tx1"/>
                    </a:solidFill>
                    <a:latin typeface="微软雅黑" panose="020B0503020204020204" charset="-122"/>
                    <a:ea typeface="微软雅黑" panose="020B0503020204020204" charset="-122"/>
                  </a:rPr>
                  <a:t>（</a:t>
                </a:r>
                <a:r>
                  <a:rPr lang="en-US" altLang="zh-CN" sz="2400">
                    <a:solidFill>
                      <a:schemeClr val="tx1"/>
                    </a:solidFill>
                    <a:latin typeface="微软雅黑" panose="020B0503020204020204" charset="-122"/>
                    <a:ea typeface="微软雅黑" panose="020B0503020204020204" charset="-122"/>
                  </a:rPr>
                  <a:t>Subspace Recovering Error</a:t>
                </a:r>
                <a:r>
                  <a:rPr lang="zh-CN" altLang="en-US" sz="2400">
                    <a:solidFill>
                      <a:schemeClr val="tx1"/>
                    </a:solidFill>
                    <a:latin typeface="微软雅黑" panose="020B0503020204020204" charset="-122"/>
                    <a:ea typeface="微软雅黑" panose="020B0503020204020204" charset="-122"/>
                  </a:rPr>
                  <a:t>）性能指标就基本对应于子空间保持性，而</a:t>
                </a:r>
                <a:r>
                  <a:rPr lang="en-US" altLang="zh-CN" sz="2400">
                    <a:solidFill>
                      <a:schemeClr val="tx1"/>
                    </a:solidFill>
                    <a:latin typeface="微软雅黑" panose="020B0503020204020204" charset="-122"/>
                    <a:ea typeface="微软雅黑" panose="020B0503020204020204" charset="-122"/>
                  </a:rPr>
                  <a:t>CONN</a:t>
                </a:r>
                <a:r>
                  <a:rPr lang="zh-CN" altLang="en-US" sz="2400">
                    <a:solidFill>
                      <a:schemeClr val="tx1"/>
                    </a:solidFill>
                    <a:latin typeface="微软雅黑" panose="020B0503020204020204" charset="-122"/>
                    <a:ea typeface="微软雅黑" panose="020B0503020204020204" charset="-122"/>
                  </a:rPr>
                  <a:t>性能指标则对应于连通性，所以如果对这两者做</a:t>
                </a:r>
                <a:r>
                  <a:rPr lang="en-US" altLang="zh-CN" sz="2400">
                    <a:solidFill>
                      <a:schemeClr val="tx1"/>
                    </a:solidFill>
                    <a:latin typeface="微软雅黑" panose="020B0503020204020204" charset="-122"/>
                    <a:ea typeface="微软雅黑" panose="020B0503020204020204" charset="-122"/>
                  </a:rPr>
                  <a:t>trade-off</a:t>
                </a:r>
                <a:r>
                  <a:rPr lang="zh-CN" altLang="en-US" sz="2400">
                    <a:solidFill>
                      <a:schemeClr val="tx1"/>
                    </a:solidFill>
                    <a:latin typeface="微软雅黑" panose="020B0503020204020204" charset="-122"/>
                    <a:ea typeface="微软雅黑" panose="020B0503020204020204" charset="-122"/>
                  </a:rPr>
                  <a:t>是子空间聚类领域比较重要的一个研究</a:t>
                </a:r>
                <a:r>
                  <a:rPr lang="zh-CN" altLang="en-US" sz="2400">
                    <a:solidFill>
                      <a:schemeClr val="tx1"/>
                    </a:solidFill>
                    <a:latin typeface="微软雅黑" panose="020B0503020204020204" charset="-122"/>
                    <a:ea typeface="微软雅黑" panose="020B0503020204020204" charset="-122"/>
                  </a:rPr>
                  <a:t>课题。</a:t>
                </a:r>
                <a:endParaRPr lang="zh-CN" altLang="en-US" sz="2400">
                  <a:solidFill>
                    <a:schemeClr val="tx1"/>
                  </a:solidFill>
                  <a:latin typeface="微软雅黑" panose="020B0503020204020204" charset="-122"/>
                  <a:ea typeface="微软雅黑" panose="020B0503020204020204" charset="-122"/>
                </a:endParaRPr>
              </a:p>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EnSC</a:t>
                </a:r>
                <a:r>
                  <a:rPr lang="zh-CN" altLang="en-US" sz="2400">
                    <a:solidFill>
                      <a:schemeClr val="tx1"/>
                    </a:solidFill>
                    <a:latin typeface="微软雅黑" panose="020B0503020204020204" charset="-122"/>
                    <a:ea typeface="微软雅黑" panose="020B0503020204020204" charset="-122"/>
                  </a:rPr>
                  <a:t>使用了一种基于弹性网络的正则化算子，该正则化正是对于</a:t>
                </a:r>
                <a:r>
                  <a:rPr lang="en-US" altLang="zh-CN" sz="2400">
                    <a:solidFill>
                      <a:schemeClr val="tx1"/>
                    </a:solidFill>
                    <a:latin typeface="微软雅黑" panose="020B0503020204020204" charset="-122"/>
                    <a:ea typeface="微软雅黑" panose="020B0503020204020204" charset="-122"/>
                  </a:rPr>
                  <a:t>L1</a:t>
                </a:r>
                <a:r>
                  <a:rPr lang="zh-CN" altLang="en-US" sz="2400">
                    <a:solidFill>
                      <a:schemeClr val="tx1"/>
                    </a:solidFill>
                    <a:latin typeface="微软雅黑" panose="020B0503020204020204" charset="-122"/>
                    <a:ea typeface="微软雅黑" panose="020B0503020204020204" charset="-122"/>
                  </a:rPr>
                  <a:t>与</a:t>
                </a:r>
                <a:r>
                  <a:rPr lang="en-US" altLang="zh-CN" sz="2400">
                    <a:solidFill>
                      <a:schemeClr val="tx1"/>
                    </a:solidFill>
                    <a:latin typeface="微软雅黑" panose="020B0503020204020204" charset="-122"/>
                    <a:ea typeface="微软雅黑" panose="020B0503020204020204" charset="-122"/>
                  </a:rPr>
                  <a:t>L2</a:t>
                </a:r>
                <a:r>
                  <a:rPr lang="zh-CN" altLang="en-US" sz="2400">
                    <a:solidFill>
                      <a:schemeClr val="tx1"/>
                    </a:solidFill>
                    <a:latin typeface="微软雅黑" panose="020B0503020204020204" charset="-122"/>
                    <a:ea typeface="微软雅黑" panose="020B0503020204020204" charset="-122"/>
                  </a:rPr>
                  <a:t>正则的一个</a:t>
                </a:r>
                <a:r>
                  <a:rPr lang="en-US" altLang="zh-CN" sz="2400">
                    <a:solidFill>
                      <a:schemeClr val="tx1"/>
                    </a:solidFill>
                    <a:latin typeface="微软雅黑" panose="020B0503020204020204" charset="-122"/>
                    <a:ea typeface="微软雅黑" panose="020B0503020204020204" charset="-122"/>
                  </a:rPr>
                  <a:t>trade-off</a:t>
                </a:r>
                <a:r>
                  <a:rPr lang="zh-CN" altLang="en-US" sz="2400">
                    <a:solidFill>
                      <a:schemeClr val="tx1"/>
                    </a:solidFill>
                    <a:latin typeface="微软雅黑" panose="020B0503020204020204" charset="-122"/>
                    <a:ea typeface="微软雅黑" panose="020B0503020204020204" charset="-122"/>
                  </a:rPr>
                  <a:t>，也就对应了子空间保持性与连通性的</a:t>
                </a:r>
                <a:r>
                  <a:rPr lang="en-US" altLang="zh-CN" sz="2400">
                    <a:solidFill>
                      <a:schemeClr val="tx1"/>
                    </a:solidFill>
                    <a:latin typeface="微软雅黑" panose="020B0503020204020204" charset="-122"/>
                    <a:ea typeface="微软雅黑" panose="020B0503020204020204" charset="-122"/>
                  </a:rPr>
                  <a:t>trade-off</a:t>
                </a:r>
                <a:r>
                  <a:rPr lang="zh-CN" altLang="en-US" sz="2400">
                    <a:solidFill>
                      <a:schemeClr val="tx1"/>
                    </a:solidFill>
                    <a:latin typeface="微软雅黑" panose="020B0503020204020204" charset="-122"/>
                    <a:ea typeface="微软雅黑" panose="020B0503020204020204" charset="-122"/>
                  </a:rPr>
                  <a:t>，通过一个超参数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来控制两者的比重，</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为</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时等价于</a:t>
                </a:r>
                <a:r>
                  <a:rPr lang="en-US" altLang="zh-CN" sz="2400">
                    <a:solidFill>
                      <a:schemeClr val="tx1"/>
                    </a:solidFill>
                    <a:latin typeface="Cambria Math" panose="02040503050406030204" charset="0"/>
                    <a:ea typeface="微软雅黑" panose="020B0503020204020204" charset="-122"/>
                    <a:cs typeface="Cambria Math" panose="02040503050406030204" charset="0"/>
                  </a:rPr>
                  <a:t>SSC</a:t>
                </a:r>
                <a:r>
                  <a:rPr lang="zh-CN" altLang="en-US" sz="2400">
                    <a:solidFill>
                      <a:schemeClr val="tx1"/>
                    </a:solidFill>
                    <a:latin typeface="Cambria Math" panose="02040503050406030204" charset="0"/>
                    <a:ea typeface="微软雅黑" panose="020B0503020204020204" charset="-122"/>
                    <a:cs typeface="Cambria Math" panose="02040503050406030204" charset="0"/>
                  </a:rPr>
                  <a:t>，而</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为</a:t>
                </a:r>
                <a:r>
                  <a:rPr lang="en-US" altLang="zh-CN" sz="2400">
                    <a:solidFill>
                      <a:schemeClr val="tx1"/>
                    </a:solidFill>
                    <a:latin typeface="Cambria Math" panose="02040503050406030204" charset="0"/>
                    <a:ea typeface="微软雅黑" panose="020B0503020204020204" charset="-122"/>
                    <a:cs typeface="Cambria Math" panose="02040503050406030204" charset="0"/>
                  </a:rPr>
                  <a:t>0</a:t>
                </a:r>
                <a:r>
                  <a:rPr lang="zh-CN" altLang="en-US" sz="2400">
                    <a:solidFill>
                      <a:schemeClr val="tx1"/>
                    </a:solidFill>
                    <a:latin typeface="Cambria Math" panose="02040503050406030204" charset="0"/>
                    <a:ea typeface="微软雅黑" panose="020B0503020204020204" charset="-122"/>
                    <a:cs typeface="Cambria Math" panose="02040503050406030204" charset="0"/>
                  </a:rPr>
                  <a:t>时等价于纯</a:t>
                </a:r>
                <a:r>
                  <a:rPr lang="en-US" altLang="zh-CN" sz="2400">
                    <a:solidFill>
                      <a:schemeClr val="tx1"/>
                    </a:solidFill>
                    <a:latin typeface="Cambria Math" panose="02040503050406030204" charset="0"/>
                    <a:ea typeface="微软雅黑" panose="020B0503020204020204" charset="-122"/>
                    <a:cs typeface="Cambria Math" panose="02040503050406030204" charset="0"/>
                  </a:rPr>
                  <a:t>L2</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正则。</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6" name="TextBox 30"/>
              <p:cNvSpPr txBox="1">
                <a:spLocks noRot="1" noChangeAspect="1" noMove="1" noResize="1" noEditPoints="1" noAdjustHandles="1" noChangeArrowheads="1" noChangeShapeType="1" noTextEdit="1"/>
              </p:cNvSpPr>
              <p:nvPr>
                <p:custDataLst>
                  <p:tags r:id="rId7"/>
                </p:custDataLst>
              </p:nvPr>
            </p:nvSpPr>
            <p:spPr>
              <a:xfrm>
                <a:off x="609600" y="1790700"/>
                <a:ext cx="15503525" cy="2769870"/>
              </a:xfrm>
              <a:prstGeom prst="rect">
                <a:avLst/>
              </a:prstGeom>
              <a:blipFill rotWithShape="1">
                <a:blip r:embed="rId8"/>
                <a:stretch>
                  <a:fillRect r="-33"/>
                </a:stretch>
              </a:blipFill>
            </p:spPr>
            <p:txBody>
              <a:bodyPr/>
              <a:lstStyle/>
              <a:p>
                <a:r>
                  <a:rPr lang="zh-CN" altLang="en-US">
                    <a:noFill/>
                  </a:rPr>
                  <a:t> </a:t>
                </a:r>
              </a:p>
            </p:txBody>
          </p:sp>
        </mc:Fallback>
      </mc:AlternateContent>
      <p:pic>
        <p:nvPicPr>
          <p:cNvPr id="2" name="图片 1"/>
          <p:cNvPicPr>
            <a:picLocks noChangeAspect="1"/>
          </p:cNvPicPr>
          <p:nvPr/>
        </p:nvPicPr>
        <p:blipFill>
          <a:blip r:embed="rId9"/>
          <a:stretch>
            <a:fillRect/>
          </a:stretch>
        </p:blipFill>
        <p:spPr>
          <a:xfrm>
            <a:off x="6324600" y="4768850"/>
            <a:ext cx="3482975" cy="669925"/>
          </a:xfrm>
          <a:prstGeom prst="rect">
            <a:avLst/>
          </a:prstGeom>
        </p:spPr>
      </p:pic>
      <p:pic>
        <p:nvPicPr>
          <p:cNvPr id="3" name="图片 2"/>
          <p:cNvPicPr>
            <a:picLocks noChangeAspect="1"/>
          </p:cNvPicPr>
          <p:nvPr/>
        </p:nvPicPr>
        <p:blipFill>
          <a:blip r:embed="rId10"/>
          <a:stretch>
            <a:fillRect/>
          </a:stretch>
        </p:blipFill>
        <p:spPr>
          <a:xfrm>
            <a:off x="1143000" y="5981700"/>
            <a:ext cx="15133320" cy="32372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a:t>
            </a:r>
            <a:r>
              <a:rPr lang="zh-CN" altLang="en-US" sz="3600" b="1">
                <a:solidFill>
                  <a:schemeClr val="tx1"/>
                </a:solidFill>
                <a:latin typeface="微软雅黑" panose="020B0503020204020204" charset="-122"/>
                <a:ea typeface="微软雅黑" panose="020B0503020204020204" charset="-122"/>
              </a:rPr>
              <a:t>深度子空间</a:t>
            </a:r>
            <a:r>
              <a:rPr lang="zh-CN" altLang="en-US" sz="3600" b="1">
                <a:solidFill>
                  <a:schemeClr val="tx1"/>
                </a:solidFill>
                <a:latin typeface="微软雅黑" panose="020B0503020204020204" charset="-122"/>
                <a:ea typeface="微软雅黑" panose="020B0503020204020204" charset="-122"/>
              </a:rPr>
              <a:t>聚类</a:t>
            </a:r>
            <a:endParaRPr lang="zh-CN" altLang="en-US"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6"/>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数据外推</a:t>
            </a:r>
            <a:r>
              <a:rPr lang="en-US" altLang="zh-CN" sz="2400" b="1">
                <a:solidFill>
                  <a:schemeClr val="tx1"/>
                </a:solidFill>
                <a:latin typeface="微软雅黑" panose="020B0503020204020204" charset="-122"/>
                <a:ea typeface="微软雅黑" panose="020B0503020204020204" charset="-122"/>
              </a:rPr>
              <a:t> —— </a:t>
            </a:r>
            <a:r>
              <a:rPr lang="zh-CN" altLang="en-US" sz="2400" b="1">
                <a:solidFill>
                  <a:schemeClr val="tx1"/>
                </a:solidFill>
                <a:latin typeface="微软雅黑" panose="020B0503020204020204" charset="-122"/>
                <a:ea typeface="微软雅黑" panose="020B0503020204020204" charset="-122"/>
              </a:rPr>
              <a:t>处理数据集之外没见过的数据</a:t>
            </a:r>
            <a:r>
              <a:rPr lang="en-US" altLang="zh-CN" sz="2400" b="1">
                <a:solidFill>
                  <a:schemeClr val="tx1"/>
                </a:solidFill>
                <a:latin typeface="微软雅黑" panose="020B0503020204020204" charset="-122"/>
                <a:ea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7"/>
            </p:custDataLst>
          </p:nvPr>
        </p:nvSpPr>
        <p:spPr>
          <a:xfrm>
            <a:off x="609600" y="23241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传统自表达模型中，系数矩阵的计算依赖于当前的全部数据集</a:t>
            </a:r>
            <a:r>
              <a:rPr lang="en-US" altLang="zh-CN" sz="2400">
                <a:solidFill>
                  <a:schemeClr val="tx1"/>
                </a:solidFill>
                <a:latin typeface="微软雅黑" panose="020B0503020204020204" charset="-122"/>
                <a:ea typeface="微软雅黑" panose="020B0503020204020204" charset="-122"/>
              </a:rPr>
              <a:t>X</a:t>
            </a:r>
            <a:r>
              <a:rPr lang="zh-CN" altLang="en-US" sz="2400">
                <a:solidFill>
                  <a:schemeClr val="tx1"/>
                </a:solidFill>
                <a:latin typeface="微软雅黑" panose="020B0503020204020204" charset="-122"/>
                <a:ea typeface="微软雅黑" panose="020B0503020204020204" charset="-122"/>
              </a:rPr>
              <a:t>，如果加入新的数据或者之前没见过的数据，需要将其加入</a:t>
            </a:r>
            <a:r>
              <a:rPr lang="en-US" altLang="zh-CN" sz="2400">
                <a:solidFill>
                  <a:schemeClr val="tx1"/>
                </a:solidFill>
                <a:latin typeface="微软雅黑" panose="020B0503020204020204" charset="-122"/>
                <a:ea typeface="微软雅黑" panose="020B0503020204020204" charset="-122"/>
              </a:rPr>
              <a:t>X</a:t>
            </a:r>
            <a:r>
              <a:rPr lang="zh-CN" altLang="en-US" sz="2400">
                <a:solidFill>
                  <a:schemeClr val="tx1"/>
                </a:solidFill>
                <a:latin typeface="微软雅黑" panose="020B0503020204020204" charset="-122"/>
                <a:ea typeface="微软雅黑" panose="020B0503020204020204" charset="-122"/>
              </a:rPr>
              <a:t>并且重新计算系数</a:t>
            </a:r>
            <a:r>
              <a:rPr lang="zh-CN" altLang="en-US" sz="2400">
                <a:solidFill>
                  <a:schemeClr val="tx1"/>
                </a:solidFill>
                <a:latin typeface="微软雅黑" panose="020B0503020204020204" charset="-122"/>
                <a:ea typeface="微软雅黑" panose="020B0503020204020204" charset="-122"/>
              </a:rPr>
              <a:t>矩阵，因此传统自表达模型不具备数据外推能力或者处理开放数据的能力。</a:t>
            </a:r>
            <a:r>
              <a:rPr lang="en-US" altLang="zh-CN" sz="2400">
                <a:solidFill>
                  <a:schemeClr val="tx1"/>
                </a:solidFill>
                <a:latin typeface="微软雅黑" panose="020B0503020204020204" charset="-122"/>
                <a:ea typeface="微软雅黑" panose="020B0503020204020204" charset="-122"/>
              </a:rPr>
              <a:t> </a:t>
            </a:r>
            <a:endParaRPr lang="en-US" altLang="zh-CN" sz="2400">
              <a:solidFill>
                <a:schemeClr val="tx1"/>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8"/>
          <a:stretch>
            <a:fillRect/>
          </a:stretch>
        </p:blipFill>
        <p:spPr>
          <a:xfrm>
            <a:off x="5105400" y="3771900"/>
            <a:ext cx="6873240" cy="688340"/>
          </a:xfrm>
          <a:prstGeom prst="rect">
            <a:avLst/>
          </a:prstGeom>
        </p:spPr>
      </p:pic>
      <mc:AlternateContent xmlns:mc="http://schemas.openxmlformats.org/markup-compatibility/2006">
        <mc:Choice xmlns:a14="http://schemas.microsoft.com/office/drawing/2010/main" Requires="a14">
          <p:sp>
            <p:nvSpPr>
              <p:cNvPr id="3" name="TextBox 30"/>
              <p:cNvSpPr txBox="1"/>
              <p:nvPr>
                <p:custDataLst>
                  <p:tags r:id="rId9"/>
                </p:custDataLst>
              </p:nvPr>
            </p:nvSpPr>
            <p:spPr>
              <a:xfrm>
                <a:off x="736600" y="4610100"/>
                <a:ext cx="15503525" cy="16617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自表达系数的本质是建模了数据点</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𝑖</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与</a:t>
                </a:r>
                <a14:m>
                  <m:oMath xmlns:m="http://schemas.openxmlformats.org/officeDocument/2006/math">
                    <m:sSub>
                      <m:sSub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b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𝑥</m:t>
                        </m:r>
                      </m:e>
                      <m:sub>
                        <m:r>
                          <a:rPr lang="en-US" altLang="zh-CN" sz="2400" i="1">
                            <a:solidFill>
                              <a:schemeClr val="tx1"/>
                            </a:solidFill>
                            <a:latin typeface="Cambria Math" panose="02040503050406030204" charset="0"/>
                            <a:ea typeface="微软雅黑" panose="020B0503020204020204" charset="-122"/>
                            <a:cs typeface="Cambria Math" panose="02040503050406030204" charset="0"/>
                          </a:rPr>
                          <m:t>𝑗</m:t>
                        </m:r>
                      </m:sub>
                    </m:sSub>
                  </m:oMath>
                </a14:m>
                <a:r>
                  <a:rPr lang="zh-CN" altLang="en-US" sz="2400">
                    <a:solidFill>
                      <a:schemeClr val="tx1"/>
                    </a:solidFill>
                    <a:latin typeface="微软雅黑" panose="020B0503020204020204" charset="-122"/>
                    <a:ea typeface="微软雅黑" panose="020B0503020204020204" charset="-122"/>
                  </a:rPr>
                  <a:t>之间的一种</a:t>
                </a:r>
                <a:r>
                  <a:rPr lang="en-US" altLang="zh-CN" sz="2400">
                    <a:solidFill>
                      <a:schemeClr val="tx1"/>
                    </a:solidFill>
                    <a:latin typeface="微软雅黑" panose="020B0503020204020204" charset="-122"/>
                    <a:ea typeface="微软雅黑" panose="020B0503020204020204" charset="-122"/>
                  </a:rPr>
                  <a:t>relationship</a:t>
                </a:r>
                <a:r>
                  <a:rPr lang="zh-CN" altLang="en-US" sz="2400">
                    <a:solidFill>
                      <a:schemeClr val="tx1"/>
                    </a:solidFill>
                    <a:latin typeface="微软雅黑" panose="020B0503020204020204" charset="-122"/>
                    <a:ea typeface="微软雅黑" panose="020B0503020204020204" charset="-122"/>
                  </a:rPr>
                  <a:t>，类比于自注意力机制中的相似度，看上去其只与两个数据点相关，但实际从整个优化问题上来看，每个系数</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的求解都不是独立求解的，因此可以用权重共享的双输入神经网络来对系数</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进行建模，该模型便可灵活处理与原</a:t>
                </a:r>
                <a:r>
                  <a:rPr lang="zh-CN" altLang="en-US" sz="2400">
                    <a:solidFill>
                      <a:schemeClr val="tx1"/>
                    </a:solidFill>
                    <a:latin typeface="微软雅黑" panose="020B0503020204020204" charset="-122"/>
                    <a:ea typeface="微软雅黑" panose="020B0503020204020204" charset="-122"/>
                  </a:rPr>
                  <a:t>数据集同分布下</a:t>
                </a:r>
                <a:r>
                  <a:rPr lang="zh-CN" altLang="en-US" sz="2400">
                    <a:solidFill>
                      <a:schemeClr val="tx1"/>
                    </a:solidFill>
                    <a:latin typeface="微软雅黑" panose="020B0503020204020204" charset="-122"/>
                    <a:ea typeface="微软雅黑" panose="020B0503020204020204" charset="-122"/>
                  </a:rPr>
                  <a:t>的开放性</a:t>
                </a:r>
                <a:r>
                  <a:rPr lang="zh-CN" altLang="en-US" sz="2400">
                    <a:solidFill>
                      <a:schemeClr val="tx1"/>
                    </a:solidFill>
                    <a:latin typeface="微软雅黑" panose="020B0503020204020204" charset="-122"/>
                    <a:ea typeface="微软雅黑" panose="020B0503020204020204" charset="-122"/>
                  </a:rPr>
                  <a:t>数据。</a:t>
                </a:r>
                <a:endParaRPr lang="zh-CN" altLang="en-US" sz="2400">
                  <a:solidFill>
                    <a:schemeClr val="tx1"/>
                  </a:solidFill>
                  <a:latin typeface="微软雅黑" panose="020B0503020204020204" charset="-122"/>
                  <a:ea typeface="微软雅黑" panose="020B0503020204020204" charset="-122"/>
                </a:endParaRPr>
              </a:p>
            </p:txBody>
          </p:sp>
        </mc:Choice>
        <mc:Fallback>
          <p:sp>
            <p:nvSpPr>
              <p:cNvPr id="3" name="TextBox 30"/>
              <p:cNvSpPr txBox="1">
                <a:spLocks noRot="1" noChangeAspect="1" noMove="1" noResize="1" noEditPoints="1" noAdjustHandles="1" noChangeArrowheads="1" noChangeShapeType="1" noTextEdit="1"/>
              </p:cNvSpPr>
              <p:nvPr>
                <p:custDataLst>
                  <p:tags r:id="rId10"/>
                </p:custDataLst>
              </p:nvPr>
            </p:nvSpPr>
            <p:spPr>
              <a:xfrm>
                <a:off x="736600" y="4610100"/>
                <a:ext cx="15503525" cy="1661795"/>
              </a:xfrm>
              <a:prstGeom prst="rect">
                <a:avLst/>
              </a:prstGeom>
              <a:blipFill rotWithShape="1">
                <a:blip r:embed="rId11"/>
                <a:stretch>
                  <a:fillRect/>
                </a:stretch>
              </a:blipFill>
            </p:spPr>
            <p:txBody>
              <a:bodyPr/>
              <a:lstStyle/>
              <a:p>
                <a:r>
                  <a:rPr lang="zh-CN" altLang="en-US">
                    <a:noFill/>
                  </a:rPr>
                  <a:t> </a:t>
                </a:r>
              </a:p>
            </p:txBody>
          </p:sp>
        </mc:Fallback>
      </mc:AlternateContent>
      <p:pic>
        <p:nvPicPr>
          <p:cNvPr id="4" name="图片 3"/>
          <p:cNvPicPr>
            <a:picLocks noChangeAspect="1"/>
          </p:cNvPicPr>
          <p:nvPr/>
        </p:nvPicPr>
        <p:blipFill>
          <a:blip r:embed="rId12"/>
          <a:stretch>
            <a:fillRect/>
          </a:stretch>
        </p:blipFill>
        <p:spPr>
          <a:xfrm>
            <a:off x="10515600" y="7886700"/>
            <a:ext cx="2937510" cy="814705"/>
          </a:xfrm>
          <a:prstGeom prst="rect">
            <a:avLst/>
          </a:prstGeom>
        </p:spPr>
      </p:pic>
      <p:pic>
        <p:nvPicPr>
          <p:cNvPr id="5" name="图片 4"/>
          <p:cNvPicPr>
            <a:picLocks noChangeAspect="1"/>
          </p:cNvPicPr>
          <p:nvPr/>
        </p:nvPicPr>
        <p:blipFill>
          <a:blip r:embed="rId13"/>
          <a:stretch>
            <a:fillRect/>
          </a:stretch>
        </p:blipFill>
        <p:spPr>
          <a:xfrm>
            <a:off x="2438400" y="6421755"/>
            <a:ext cx="6332855" cy="3789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a:t>
            </a:r>
            <a:r>
              <a:rPr lang="zh-CN" altLang="en-US" sz="3600" b="1">
                <a:solidFill>
                  <a:schemeClr val="tx1"/>
                </a:solidFill>
                <a:latin typeface="微软雅黑" panose="020B0503020204020204" charset="-122"/>
                <a:ea typeface="微软雅黑" panose="020B0503020204020204" charset="-122"/>
              </a:rPr>
              <a:t>深度子空间</a:t>
            </a:r>
            <a:r>
              <a:rPr lang="zh-CN" altLang="en-US" sz="3600" b="1">
                <a:solidFill>
                  <a:schemeClr val="tx1"/>
                </a:solidFill>
                <a:latin typeface="微软雅黑" panose="020B0503020204020204" charset="-122"/>
                <a:ea typeface="微软雅黑" panose="020B0503020204020204" charset="-122"/>
              </a:rPr>
              <a:t>聚类</a:t>
            </a:r>
            <a:endParaRPr lang="zh-CN" altLang="en-US"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4"/>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非线性流形</a:t>
            </a:r>
            <a:r>
              <a:rPr lang="en-US" altLang="zh-CN" sz="2400" b="1">
                <a:solidFill>
                  <a:schemeClr val="tx1"/>
                </a:solidFill>
                <a:latin typeface="微软雅黑" panose="020B0503020204020204" charset="-122"/>
                <a:ea typeface="微软雅黑" panose="020B0503020204020204" charset="-122"/>
              </a:rPr>
              <a:t> ——&gt; </a:t>
            </a:r>
            <a:r>
              <a:rPr lang="zh-CN" altLang="en-US" sz="2400" b="1">
                <a:solidFill>
                  <a:schemeClr val="tx1"/>
                </a:solidFill>
                <a:latin typeface="微软雅黑" panose="020B0503020204020204" charset="-122"/>
                <a:ea typeface="微软雅黑" panose="020B0503020204020204" charset="-122"/>
              </a:rPr>
              <a:t>非线性流形</a:t>
            </a:r>
            <a:r>
              <a:rPr lang="en-US" altLang="zh-CN" sz="2400" b="1">
                <a:solidFill>
                  <a:schemeClr val="tx1"/>
                </a:solidFill>
                <a:latin typeface="微软雅黑" panose="020B0503020204020204" charset="-122"/>
                <a:ea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5"/>
            </p:custDataLst>
          </p:nvPr>
        </p:nvSpPr>
        <p:spPr>
          <a:xfrm>
            <a:off x="609600" y="2324100"/>
            <a:ext cx="15503525" cy="276987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传统自表达模型是基于如下假设的：</a:t>
            </a:r>
            <a:r>
              <a:rPr lang="zh-CN" altLang="en-US" sz="2400">
                <a:latin typeface="微软雅黑" panose="020B0503020204020204" charset="-122"/>
                <a:ea typeface="微软雅黑" panose="020B0503020204020204" charset="-122"/>
                <a:sym typeface="+mn-ea"/>
              </a:rPr>
              <a:t>每个簇都位于一个特定的低维子空间中，数据点可以被其所属子空间中的其他点线性表示。如果说这些数据点位于的低维子空间不是线性的，即同属子空间的数据点间不能通过线性表示来建模，那么便不满足这一前提</a:t>
            </a:r>
            <a:r>
              <a:rPr lang="zh-CN" altLang="en-US" sz="2400">
                <a:latin typeface="微软雅黑" panose="020B0503020204020204" charset="-122"/>
                <a:ea typeface="微软雅黑" panose="020B0503020204020204" charset="-122"/>
                <a:sym typeface="+mn-ea"/>
              </a:rPr>
              <a:t>了。</a:t>
            </a:r>
            <a:endParaRPr lang="zh-CN" altLang="en-US" sz="2400">
              <a:latin typeface="微软雅黑" panose="020B0503020204020204" charset="-122"/>
              <a:ea typeface="微软雅黑" panose="020B0503020204020204" charset="-122"/>
              <a:sym typeface="+mn-ea"/>
            </a:endParaRPr>
          </a:p>
          <a:p>
            <a:pPr algn="l">
              <a:lnSpc>
                <a:spcPts val="4320"/>
              </a:lnSpc>
              <a:buClrTx/>
              <a:buSzTx/>
              <a:buFontTx/>
            </a:pPr>
            <a:r>
              <a:rPr lang="zh-CN" altLang="en-US" sz="2400">
                <a:latin typeface="微软雅黑" panose="020B0503020204020204" charset="-122"/>
                <a:ea typeface="微软雅黑" panose="020B0503020204020204" charset="-122"/>
                <a:sym typeface="+mn-ea"/>
              </a:rPr>
              <a:t>那么该情况下，我们可以通过引入深度神经网络来将原特征空间映射到一个新的特征空间，使得映射之后的数据点之间满足线性子空间的</a:t>
            </a:r>
            <a:r>
              <a:rPr lang="zh-CN" altLang="en-US" sz="2400">
                <a:latin typeface="微软雅黑" panose="020B0503020204020204" charset="-122"/>
                <a:ea typeface="微软雅黑" panose="020B0503020204020204" charset="-122"/>
                <a:sym typeface="+mn-ea"/>
              </a:rPr>
              <a:t>假设：</a:t>
            </a:r>
            <a:endParaRPr lang="zh-CN" altLang="en-US" sz="2400">
              <a:latin typeface="微软雅黑" panose="020B0503020204020204" charset="-122"/>
              <a:ea typeface="微软雅黑" panose="020B0503020204020204" charset="-122"/>
              <a:sym typeface="+mn-ea"/>
            </a:endParaRPr>
          </a:p>
        </p:txBody>
      </p:sp>
      <p:sp>
        <p:nvSpPr>
          <p:cNvPr id="5" name="文本框 4"/>
          <p:cNvSpPr txBox="1"/>
          <p:nvPr/>
        </p:nvSpPr>
        <p:spPr>
          <a:xfrm>
            <a:off x="6781800" y="5219700"/>
            <a:ext cx="2819400" cy="521970"/>
          </a:xfrm>
          <a:prstGeom prst="rect">
            <a:avLst/>
          </a:prstGeom>
          <a:noFill/>
        </p:spPr>
        <p:txBody>
          <a:bodyPr wrap="square" rtlCol="0" anchor="t">
            <a:spAutoFit/>
          </a:bodyPr>
          <a:p>
            <a:pPr algn="l"/>
            <a:r>
              <a:rPr lang="en-US" altLang="zh-CN" sz="2800" i="1">
                <a:latin typeface="Cambria Math" panose="02040503050406030204" charset="0"/>
                <a:cs typeface="Cambria Math" panose="02040503050406030204" charset="0"/>
                <a:sym typeface="+mn-ea"/>
              </a:rPr>
              <a:t>X=XC   --&gt; Z=ZC</a:t>
            </a:r>
            <a:endParaRPr lang="en-US" altLang="zh-CN" sz="2800" i="1">
              <a:latin typeface="Cambria Math" panose="02040503050406030204" charset="0"/>
              <a:cs typeface="Cambria Math" panose="02040503050406030204" charset="0"/>
              <a:sym typeface="+mn-ea"/>
            </a:endParaRPr>
          </a:p>
        </p:txBody>
      </p:sp>
      <p:grpSp>
        <p:nvGrpSpPr>
          <p:cNvPr id="12" name="组合 11"/>
          <p:cNvGrpSpPr/>
          <p:nvPr/>
        </p:nvGrpSpPr>
        <p:grpSpPr>
          <a:xfrm>
            <a:off x="2153920" y="6210300"/>
            <a:ext cx="13039090" cy="3463290"/>
            <a:chOff x="3392" y="9780"/>
            <a:chExt cx="20534" cy="5454"/>
          </a:xfrm>
        </p:grpSpPr>
        <p:grpSp>
          <p:nvGrpSpPr>
            <p:cNvPr id="10" name="组合 9"/>
            <p:cNvGrpSpPr/>
            <p:nvPr/>
          </p:nvGrpSpPr>
          <p:grpSpPr>
            <a:xfrm>
              <a:off x="3392" y="9780"/>
              <a:ext cx="20534" cy="5454"/>
              <a:chOff x="3360" y="6060"/>
              <a:chExt cx="20534" cy="5454"/>
            </a:xfrm>
          </p:grpSpPr>
          <p:pic>
            <p:nvPicPr>
              <p:cNvPr id="4" name="图片 3"/>
              <p:cNvPicPr>
                <a:picLocks noChangeAspect="1"/>
              </p:cNvPicPr>
              <p:nvPr/>
            </p:nvPicPr>
            <p:blipFill>
              <a:blip r:embed="rId6"/>
              <a:stretch>
                <a:fillRect/>
              </a:stretch>
            </p:blipFill>
            <p:spPr>
              <a:xfrm>
                <a:off x="3360" y="6060"/>
                <a:ext cx="20535" cy="5455"/>
              </a:xfrm>
              <a:prstGeom prst="rect">
                <a:avLst/>
              </a:prstGeom>
            </p:spPr>
          </p:pic>
          <p:sp>
            <p:nvSpPr>
              <p:cNvPr id="8" name="矩形 7"/>
              <p:cNvSpPr/>
              <p:nvPr/>
            </p:nvSpPr>
            <p:spPr>
              <a:xfrm>
                <a:off x="12328" y="6060"/>
                <a:ext cx="2432" cy="5400"/>
              </a:xfrm>
              <a:prstGeom prst="rect">
                <a:avLst/>
              </a:prstGeom>
              <a:solidFill>
                <a:srgbClr val="A5DCDC"/>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5400">
                    <a:solidFill>
                      <a:schemeClr val="tx1"/>
                    </a:solidFill>
                  </a:rPr>
                  <a:t>f</a:t>
                </a:r>
                <a:endParaRPr lang="en-US" altLang="zh-CN" sz="5400">
                  <a:solidFill>
                    <a:schemeClr val="tx1"/>
                  </a:solidFill>
                </a:endParaRPr>
              </a:p>
            </p:txBody>
          </p:sp>
        </p:grpSp>
        <p:sp>
          <p:nvSpPr>
            <p:cNvPr id="9" name="文本框 8"/>
            <p:cNvSpPr txBox="1"/>
            <p:nvPr/>
          </p:nvSpPr>
          <p:spPr>
            <a:xfrm>
              <a:off x="112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X</a:t>
              </a:r>
              <a:endParaRPr lang="en-US" altLang="zh-CN" sz="2800" i="1">
                <a:latin typeface="Cambria Math" panose="02040503050406030204" charset="0"/>
                <a:cs typeface="Cambria Math" panose="02040503050406030204" charset="0"/>
                <a:sym typeface="+mn-ea"/>
              </a:endParaRPr>
            </a:p>
          </p:txBody>
        </p:sp>
        <p:sp>
          <p:nvSpPr>
            <p:cNvPr id="11" name="文本框 10"/>
            <p:cNvSpPr txBox="1"/>
            <p:nvPr/>
          </p:nvSpPr>
          <p:spPr>
            <a:xfrm>
              <a:off x="148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Z</a:t>
              </a:r>
              <a:endParaRPr lang="en-US" altLang="zh-CN" sz="2800" i="1">
                <a:latin typeface="Cambria Math" panose="02040503050406030204" charset="0"/>
                <a:cs typeface="Cambria Math" panose="02040503050406030204" charset="0"/>
                <a:sym typeface="+mn-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a:t>
            </a:r>
            <a:r>
              <a:rPr lang="zh-CN" altLang="en-US" sz="3600" b="1">
                <a:solidFill>
                  <a:schemeClr val="tx1"/>
                </a:solidFill>
                <a:latin typeface="微软雅黑" panose="020B0503020204020204" charset="-122"/>
                <a:ea typeface="微软雅黑" panose="020B0503020204020204" charset="-122"/>
              </a:rPr>
              <a:t>深度子空间</a:t>
            </a:r>
            <a:r>
              <a:rPr lang="zh-CN" altLang="en-US" sz="3600" b="1">
                <a:solidFill>
                  <a:schemeClr val="tx1"/>
                </a:solidFill>
                <a:latin typeface="微软雅黑" panose="020B0503020204020204" charset="-122"/>
                <a:ea typeface="微软雅黑" panose="020B0503020204020204" charset="-122"/>
              </a:rPr>
              <a:t>聚类</a:t>
            </a:r>
            <a:endParaRPr lang="zh-CN" altLang="en-US" sz="3600" b="1">
              <a:solidFill>
                <a:schemeClr val="tx1"/>
              </a:solidFill>
              <a:latin typeface="微软雅黑" panose="020B0503020204020204" charset="-122"/>
              <a:ea typeface="微软雅黑" panose="020B0503020204020204" charset="-122"/>
            </a:endParaRPr>
          </a:p>
        </p:txBody>
      </p:sp>
      <p:sp>
        <p:nvSpPr>
          <p:cNvPr id="2" name="TextBox 30"/>
          <p:cNvSpPr txBox="1"/>
          <p:nvPr>
            <p:custDataLst>
              <p:tags r:id="rId4"/>
            </p:custDataLst>
          </p:nvPr>
        </p:nvSpPr>
        <p:spPr>
          <a:xfrm>
            <a:off x="609600" y="23241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特征坍缩指的是不同类别数据在低维空间中重叠或混淆，无法形成清晰的子空间划分的</a:t>
            </a:r>
            <a:r>
              <a:rPr lang="zh-CN" altLang="en-US" sz="2400">
                <a:solidFill>
                  <a:schemeClr val="tx1"/>
                </a:solidFill>
                <a:latin typeface="微软雅黑" panose="020B0503020204020204" charset="-122"/>
                <a:ea typeface="微软雅黑" panose="020B0503020204020204" charset="-122"/>
              </a:rPr>
              <a:t>情况。</a:t>
            </a:r>
            <a:endParaRPr lang="zh-CN" altLang="en-US" sz="2400">
              <a:solidFill>
                <a:schemeClr val="tx1"/>
              </a:solidFill>
              <a:latin typeface="微软雅黑" panose="020B0503020204020204" charset="-122"/>
              <a:ea typeface="微软雅黑" panose="020B0503020204020204" charset="-122"/>
            </a:endParaRPr>
          </a:p>
        </p:txBody>
      </p:sp>
      <p:pic>
        <p:nvPicPr>
          <p:cNvPr id="3" name="图片 2" descr="崩溃"/>
          <p:cNvPicPr>
            <a:picLocks noChangeAspect="1"/>
          </p:cNvPicPr>
          <p:nvPr/>
        </p:nvPicPr>
        <p:blipFill>
          <a:blip r:embed="rId5"/>
          <a:stretch>
            <a:fillRect/>
          </a:stretch>
        </p:blipFill>
        <p:spPr>
          <a:xfrm>
            <a:off x="815340" y="3086100"/>
            <a:ext cx="15091410" cy="3181985"/>
          </a:xfrm>
          <a:prstGeom prst="rect">
            <a:avLst/>
          </a:prstGeom>
        </p:spPr>
      </p:pic>
      <p:sp>
        <p:nvSpPr>
          <p:cNvPr id="4" name="TextBox 30"/>
          <p:cNvSpPr txBox="1"/>
          <p:nvPr>
            <p:custDataLst>
              <p:tags r:id="rId6"/>
            </p:custDataLst>
          </p:nvPr>
        </p:nvSpPr>
        <p:spPr>
          <a:xfrm>
            <a:off x="609600" y="6276340"/>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该现象经研究通常体现为经过黑盒神经网络映射的新特征空间中的</a:t>
            </a:r>
            <a:r>
              <a:rPr lang="zh-CN" altLang="en-US" sz="2400" b="1">
                <a:solidFill>
                  <a:srgbClr val="0070C0"/>
                </a:solidFill>
                <a:latin typeface="微软雅黑" panose="020B0503020204020204" charset="-122"/>
                <a:ea typeface="微软雅黑" panose="020B0503020204020204" charset="-122"/>
              </a:rPr>
              <a:t>数据矩阵</a:t>
            </a:r>
            <a:r>
              <a:rPr lang="en-US" altLang="zh-CN" sz="2400" b="1">
                <a:solidFill>
                  <a:srgbClr val="0070C0"/>
                </a:solidFill>
                <a:latin typeface="微软雅黑" panose="020B0503020204020204" charset="-122"/>
                <a:ea typeface="微软雅黑" panose="020B0503020204020204" charset="-122"/>
              </a:rPr>
              <a:t>Z</a:t>
            </a:r>
            <a:r>
              <a:rPr lang="zh-CN" altLang="en-US" sz="2400" b="1">
                <a:solidFill>
                  <a:srgbClr val="0070C0"/>
                </a:solidFill>
                <a:latin typeface="微软雅黑" panose="020B0503020204020204" charset="-122"/>
                <a:ea typeface="微软雅黑" panose="020B0503020204020204" charset="-122"/>
              </a:rPr>
              <a:t>的秩过低，即没有保持住原数据中结构信息</a:t>
            </a:r>
            <a:r>
              <a:rPr lang="zh-CN" altLang="en-US" sz="2400">
                <a:solidFill>
                  <a:schemeClr val="tx1"/>
                </a:solidFill>
                <a:latin typeface="微软雅黑" panose="020B0503020204020204" charset="-122"/>
                <a:ea typeface="微软雅黑" panose="020B0503020204020204" charset="-122"/>
              </a:rPr>
              <a:t>，即使在加入了</a:t>
            </a:r>
            <a:r>
              <a:rPr lang="en-US" altLang="zh-CN" sz="2400">
                <a:solidFill>
                  <a:schemeClr val="tx1"/>
                </a:solidFill>
                <a:latin typeface="微软雅黑" panose="020B0503020204020204" charset="-122"/>
                <a:ea typeface="微软雅黑" panose="020B0503020204020204" charset="-122"/>
              </a:rPr>
              <a:t>AutoEncoder</a:t>
            </a:r>
            <a:r>
              <a:rPr lang="zh-CN" altLang="en-US" sz="2400">
                <a:solidFill>
                  <a:schemeClr val="tx1"/>
                </a:solidFill>
                <a:latin typeface="微软雅黑" panose="020B0503020204020204" charset="-122"/>
                <a:ea typeface="微软雅黑" panose="020B0503020204020204" charset="-122"/>
              </a:rPr>
              <a:t>的重建损失之后也仍然会存在该情况。因为是存在结构信息的丢失，因此也可以理解为</a:t>
            </a:r>
            <a:r>
              <a:rPr lang="zh-CN" altLang="en-US" sz="2400" b="1">
                <a:solidFill>
                  <a:srgbClr val="0070C0"/>
                </a:solidFill>
                <a:latin typeface="微软雅黑" panose="020B0503020204020204" charset="-122"/>
                <a:ea typeface="微软雅黑" panose="020B0503020204020204" charset="-122"/>
              </a:rPr>
              <a:t>对于原数据信息量的压缩太狠了，需要松弛一下映射之后特征的多样性或者丰富性</a:t>
            </a:r>
            <a:r>
              <a:rPr lang="zh-CN" altLang="en-US" sz="2400">
                <a:solidFill>
                  <a:schemeClr val="tx1"/>
                </a:solidFill>
                <a:latin typeface="微软雅黑" panose="020B0503020204020204" charset="-122"/>
                <a:ea typeface="微软雅黑" panose="020B0503020204020204" charset="-122"/>
              </a:rPr>
              <a:t>，因此</a:t>
            </a:r>
            <a:r>
              <a:rPr lang="en-US" altLang="zh-CN" sz="2400">
                <a:solidFill>
                  <a:schemeClr val="tx1"/>
                </a:solidFill>
                <a:latin typeface="微软雅黑" panose="020B0503020204020204" charset="-122"/>
                <a:ea typeface="微软雅黑" panose="020B0503020204020204" charset="-122"/>
              </a:rPr>
              <a:t>PRO-DSC</a:t>
            </a:r>
            <a:r>
              <a:rPr lang="zh-CN" altLang="en-US" sz="2400">
                <a:solidFill>
                  <a:schemeClr val="tx1"/>
                </a:solidFill>
                <a:latin typeface="微软雅黑" panose="020B0503020204020204" charset="-122"/>
                <a:ea typeface="微软雅黑" panose="020B0503020204020204" charset="-122"/>
              </a:rPr>
              <a:t>提出了一种具有理论保证的正则化项，该正则物理意义可看作是</a:t>
            </a:r>
            <a:r>
              <a:rPr lang="zh-CN" altLang="en-US" sz="2400" b="1">
                <a:solidFill>
                  <a:srgbClr val="0070C0"/>
                </a:solidFill>
                <a:latin typeface="微软雅黑" panose="020B0503020204020204" charset="-122"/>
                <a:ea typeface="微软雅黑" panose="020B0503020204020204" charset="-122"/>
              </a:rPr>
              <a:t>对于投影后的数据矩阵</a:t>
            </a:r>
            <a:r>
              <a:rPr lang="en-US" altLang="zh-CN" sz="2400" b="1">
                <a:solidFill>
                  <a:srgbClr val="0070C0"/>
                </a:solidFill>
                <a:latin typeface="微软雅黑" panose="020B0503020204020204" charset="-122"/>
                <a:ea typeface="微软雅黑" panose="020B0503020204020204" charset="-122"/>
              </a:rPr>
              <a:t>Z</a:t>
            </a:r>
            <a:r>
              <a:rPr lang="zh-CN" altLang="en-US" sz="2400" b="1">
                <a:solidFill>
                  <a:srgbClr val="0070C0"/>
                </a:solidFill>
                <a:latin typeface="微软雅黑" panose="020B0503020204020204" charset="-122"/>
                <a:ea typeface="微软雅黑" panose="020B0503020204020204" charset="-122"/>
              </a:rPr>
              <a:t>的秩的一个限制，使其不能过小</a:t>
            </a:r>
            <a:r>
              <a:rPr lang="zh-CN" altLang="en-US" sz="2400">
                <a:solidFill>
                  <a:schemeClr val="tx1"/>
                </a:solidFill>
                <a:latin typeface="微软雅黑" panose="020B0503020204020204" charset="-122"/>
                <a:ea typeface="微软雅黑" panose="020B0503020204020204" charset="-122"/>
              </a:rPr>
              <a:t>。</a:t>
            </a:r>
            <a:endParaRPr lang="zh-CN" altLang="en-US" sz="240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7"/>
          <a:stretch>
            <a:fillRect/>
          </a:stretch>
        </p:blipFill>
        <p:spPr>
          <a:xfrm>
            <a:off x="3657600" y="8644255"/>
            <a:ext cx="9817735" cy="819150"/>
          </a:xfrm>
          <a:prstGeom prst="rect">
            <a:avLst/>
          </a:prstGeom>
        </p:spPr>
      </p:pic>
      <p:sp>
        <p:nvSpPr>
          <p:cNvPr id="14" name="矩形 13"/>
          <p:cNvSpPr/>
          <p:nvPr/>
        </p:nvSpPr>
        <p:spPr>
          <a:xfrm>
            <a:off x="4495800" y="8794750"/>
            <a:ext cx="3101975" cy="6959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TextBox 30"/>
          <p:cNvSpPr txBox="1"/>
          <p:nvPr>
            <p:custDataLst>
              <p:tags r:id="rId8"/>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特征坍缩</a:t>
            </a:r>
            <a:r>
              <a:rPr lang="en-US" altLang="zh-CN" sz="2400" b="1">
                <a:solidFill>
                  <a:schemeClr val="tx1"/>
                </a:solidFill>
                <a:latin typeface="微软雅黑" panose="020B0503020204020204" charset="-122"/>
                <a:ea typeface="微软雅黑" panose="020B0503020204020204" charset="-122"/>
              </a:rPr>
              <a:t> </a:t>
            </a:r>
            <a:endParaRPr lang="en-US" altLang="zh-CN" sz="2400" b="1">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最新论文</a:t>
            </a:r>
            <a:r>
              <a:rPr lang="zh-CN" altLang="en-US" sz="12000">
                <a:solidFill>
                  <a:srgbClr val="356AFF"/>
                </a:solidFill>
                <a:latin typeface="微软雅黑" panose="020B0503020204020204" charset="-122"/>
                <a:ea typeface="微软雅黑" panose="020B0503020204020204" charset="-122"/>
              </a:rPr>
              <a:t>分享</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54300"/>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03</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6" name="TextBox 30"/>
          <p:cNvSpPr txBox="1"/>
          <p:nvPr>
            <p:custDataLst>
              <p:tags r:id="rId5"/>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Motivation: 1</a:t>
            </a:r>
            <a:r>
              <a:rPr lang="zh-CN" altLang="en-US" sz="2400">
                <a:solidFill>
                  <a:schemeClr val="tx1"/>
                </a:solidFill>
                <a:latin typeface="微软雅黑" panose="020B0503020204020204" charset="-122"/>
                <a:ea typeface="微软雅黑" panose="020B0503020204020204" charset="-122"/>
              </a:rPr>
              <a:t>）传统自表达模型基于数据间存在不同线性子空间的假设，无法处理非线性流形数据；</a:t>
            </a:r>
            <a:r>
              <a:rPr lang="en-US" altLang="zh-CN" sz="2400">
                <a:solidFill>
                  <a:schemeClr val="tx1"/>
                </a:solidFill>
                <a:latin typeface="微软雅黑" panose="020B0503020204020204" charset="-122"/>
                <a:ea typeface="微软雅黑" panose="020B0503020204020204" charset="-122"/>
              </a:rPr>
              <a:t>2</a:t>
            </a:r>
            <a:r>
              <a:rPr lang="zh-CN" altLang="en-US" sz="2400">
                <a:solidFill>
                  <a:schemeClr val="tx1"/>
                </a:solidFill>
                <a:latin typeface="微软雅黑" panose="020B0503020204020204" charset="-122"/>
                <a:ea typeface="微软雅黑" panose="020B0503020204020204" charset="-122"/>
              </a:rPr>
              <a:t>）深度学习方法（如自编码器）是黑盒模型，缺乏对数据结构的显示建模和可解释性。</a:t>
            </a:r>
            <a:endParaRPr lang="zh-CN" altLang="en-US" sz="2400">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6"/>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grpSp>
        <p:nvGrpSpPr>
          <p:cNvPr id="12" name="组合 11"/>
          <p:cNvGrpSpPr/>
          <p:nvPr/>
        </p:nvGrpSpPr>
        <p:grpSpPr>
          <a:xfrm>
            <a:off x="2057400" y="3162300"/>
            <a:ext cx="13039090" cy="3463290"/>
            <a:chOff x="3392" y="9780"/>
            <a:chExt cx="20534" cy="5454"/>
          </a:xfrm>
        </p:grpSpPr>
        <p:grpSp>
          <p:nvGrpSpPr>
            <p:cNvPr id="3" name="组合 2"/>
            <p:cNvGrpSpPr/>
            <p:nvPr/>
          </p:nvGrpSpPr>
          <p:grpSpPr>
            <a:xfrm>
              <a:off x="3392" y="9780"/>
              <a:ext cx="20534" cy="5454"/>
              <a:chOff x="3360" y="6060"/>
              <a:chExt cx="20534" cy="5454"/>
            </a:xfrm>
          </p:grpSpPr>
          <p:pic>
            <p:nvPicPr>
              <p:cNvPr id="5" name="图片 4"/>
              <p:cNvPicPr>
                <a:picLocks noChangeAspect="1"/>
              </p:cNvPicPr>
              <p:nvPr/>
            </p:nvPicPr>
            <p:blipFill>
              <a:blip r:embed="rId7"/>
              <a:stretch>
                <a:fillRect/>
              </a:stretch>
            </p:blipFill>
            <p:spPr>
              <a:xfrm>
                <a:off x="3360" y="6060"/>
                <a:ext cx="20535" cy="5455"/>
              </a:xfrm>
              <a:prstGeom prst="rect">
                <a:avLst/>
              </a:prstGeom>
            </p:spPr>
          </p:pic>
          <p:sp>
            <p:nvSpPr>
              <p:cNvPr id="9" name="矩形 8"/>
              <p:cNvSpPr/>
              <p:nvPr/>
            </p:nvSpPr>
            <p:spPr>
              <a:xfrm>
                <a:off x="12328" y="6060"/>
                <a:ext cx="2432" cy="5400"/>
              </a:xfrm>
              <a:prstGeom prst="rect">
                <a:avLst/>
              </a:prstGeom>
              <a:solidFill>
                <a:srgbClr val="A5DCDC"/>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5400">
                    <a:solidFill>
                      <a:schemeClr val="tx1"/>
                    </a:solidFill>
                  </a:rPr>
                  <a:t>f</a:t>
                </a:r>
                <a:endParaRPr lang="en-US" altLang="zh-CN" sz="5400">
                  <a:solidFill>
                    <a:schemeClr val="tx1"/>
                  </a:solidFill>
                </a:endParaRPr>
              </a:p>
            </p:txBody>
          </p:sp>
        </p:grpSp>
        <p:sp>
          <p:nvSpPr>
            <p:cNvPr id="11" name="文本框 10"/>
            <p:cNvSpPr txBox="1"/>
            <p:nvPr/>
          </p:nvSpPr>
          <p:spPr>
            <a:xfrm>
              <a:off x="112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X</a:t>
              </a:r>
              <a:endParaRPr lang="en-US" altLang="zh-CN" sz="2800" i="1">
                <a:latin typeface="Cambria Math" panose="02040503050406030204" charset="0"/>
                <a:cs typeface="Cambria Math" panose="02040503050406030204" charset="0"/>
                <a:sym typeface="+mn-ea"/>
              </a:endParaRPr>
            </a:p>
          </p:txBody>
        </p:sp>
        <p:sp>
          <p:nvSpPr>
            <p:cNvPr id="14" name="文本框 13"/>
            <p:cNvSpPr txBox="1"/>
            <p:nvPr/>
          </p:nvSpPr>
          <p:spPr>
            <a:xfrm>
              <a:off x="14880" y="12540"/>
              <a:ext cx="759" cy="822"/>
            </a:xfrm>
            <a:prstGeom prst="rect">
              <a:avLst/>
            </a:prstGeom>
            <a:noFill/>
          </p:spPr>
          <p:txBody>
            <a:bodyPr wrap="square" rtlCol="0" anchor="t">
              <a:spAutoFit/>
            </a:bodyPr>
            <a:p>
              <a:r>
                <a:rPr lang="en-US" altLang="zh-CN" sz="2800" i="1">
                  <a:latin typeface="Cambria Math" panose="02040503050406030204" charset="0"/>
                  <a:cs typeface="Cambria Math" panose="02040503050406030204" charset="0"/>
                  <a:sym typeface="+mn-ea"/>
                </a:rPr>
                <a:t>Z</a:t>
              </a:r>
              <a:endParaRPr lang="en-US" altLang="zh-CN" sz="2800" i="1">
                <a:latin typeface="Cambria Math" panose="02040503050406030204" charset="0"/>
                <a:cs typeface="Cambria Math" panose="02040503050406030204" charset="0"/>
                <a:sym typeface="+mn-ea"/>
              </a:endParaRPr>
            </a:p>
          </p:txBody>
        </p:sp>
      </p:grpSp>
      <p:pic>
        <p:nvPicPr>
          <p:cNvPr id="15" name="图片 14"/>
          <p:cNvPicPr>
            <a:picLocks noChangeAspect="1"/>
          </p:cNvPicPr>
          <p:nvPr/>
        </p:nvPicPr>
        <p:blipFill>
          <a:blip r:embed="rId8"/>
          <a:stretch>
            <a:fillRect/>
          </a:stretch>
        </p:blipFill>
        <p:spPr>
          <a:xfrm>
            <a:off x="1981200" y="6854825"/>
            <a:ext cx="13116560" cy="26936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190" name="Freeform 30"/>
          <p:cNvSpPr/>
          <p:nvPr>
            <p:custDataLst>
              <p:tags r:id="rId3"/>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4"/>
            <a:stretch>
              <a:fillRect/>
            </a:stretch>
          </a:blipFill>
        </p:spPr>
      </p:sp>
      <p:sp>
        <p:nvSpPr>
          <p:cNvPr id="7" name="TextBox 30"/>
          <p:cNvSpPr txBox="1"/>
          <p:nvPr>
            <p:custDataLst>
              <p:tags r:id="rId5"/>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6"/>
          <a:stretch>
            <a:fillRect/>
          </a:stretch>
        </p:blipFill>
        <p:spPr>
          <a:xfrm>
            <a:off x="2362200" y="1790700"/>
            <a:ext cx="12237720" cy="2895600"/>
          </a:xfrm>
          <a:prstGeom prst="rect">
            <a:avLst/>
          </a:prstGeom>
        </p:spPr>
      </p:pic>
      <mc:AlternateContent xmlns:mc="http://schemas.openxmlformats.org/markup-compatibility/2006">
        <mc:Choice xmlns:a14="http://schemas.microsoft.com/office/drawing/2010/main" Requires="a14">
          <p:sp>
            <p:nvSpPr>
              <p:cNvPr id="4" name="TextBox 30"/>
              <p:cNvSpPr txBox="1"/>
              <p:nvPr>
                <p:custDataLst>
                  <p:tags r:id="rId7"/>
                </p:custDataLst>
              </p:nvPr>
            </p:nvSpPr>
            <p:spPr>
              <a:xfrm>
                <a:off x="609600" y="4686300"/>
                <a:ext cx="15503525" cy="332359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这里数据矩阵</a:t>
                </a:r>
                <a:r>
                  <a:rPr lang="en-US" altLang="zh-CN" sz="2400">
                    <a:solidFill>
                      <a:schemeClr val="tx1"/>
                    </a:solidFill>
                    <a:latin typeface="微软雅黑" panose="020B0503020204020204" charset="-122"/>
                    <a:ea typeface="微软雅黑" panose="020B0503020204020204" charset="-122"/>
                  </a:rPr>
                  <a:t>X</a:t>
                </a:r>
                <a:r>
                  <a:rPr lang="zh-CN" altLang="en-US" sz="2400">
                    <a:solidFill>
                      <a:schemeClr val="tx1"/>
                    </a:solidFill>
                    <a:latin typeface="微软雅黑" panose="020B0503020204020204" charset="-122"/>
                    <a:ea typeface="微软雅黑" panose="020B0503020204020204" charset="-122"/>
                  </a:rPr>
                  <a:t>改用了</a:t>
                </a:r>
                <a:r>
                  <a:rPr lang="en-US" altLang="zh-CN" sz="2400">
                    <a:solidFill>
                      <a:schemeClr val="tx1"/>
                    </a:solidFill>
                    <a:latin typeface="微软雅黑" panose="020B0503020204020204" charset="-122"/>
                    <a:ea typeface="微软雅黑" panose="020B0503020204020204" charset="-122"/>
                  </a:rPr>
                  <a:t>H</a:t>
                </a:r>
                <a:r>
                  <a:rPr lang="zh-CN" altLang="en-US" sz="2400">
                    <a:solidFill>
                      <a:schemeClr val="tx1"/>
                    </a:solidFill>
                    <a:latin typeface="微软雅黑" panose="020B0503020204020204" charset="-122"/>
                    <a:ea typeface="微软雅黑" panose="020B0503020204020204" charset="-122"/>
                  </a:rPr>
                  <a:t>进行表示，</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𝑟</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𝛾</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𝜅</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的选择皆为预设，而自表达系数</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则为自表达层需要学习的参数。</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endParaRPr lang="en-US" altLang="zh-CN"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DELVE</a:t>
                </a:r>
                <a:r>
                  <a:rPr lang="zh-CN" altLang="en-US" sz="2400">
                    <a:solidFill>
                      <a:schemeClr val="tx1"/>
                    </a:solidFill>
                    <a:latin typeface="Cambria Math" panose="02040503050406030204" charset="0"/>
                    <a:ea typeface="微软雅黑" panose="020B0503020204020204" charset="-122"/>
                    <a:cs typeface="Cambria Math" panose="02040503050406030204" charset="0"/>
                  </a:rPr>
                  <a:t>通过堆叠多层的自表达层来构建深度自表达网络，现假设初始数据矩阵为</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，则有</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0</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，堆叠多层的操作可表示为如下形式：</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acc>
                          <m:acc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acc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acc>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en-US" altLang="zh-CN" sz="2400">
                    <a:solidFill>
                      <a:schemeClr val="tx1"/>
                    </a:solidFill>
                    <a:latin typeface="Cambria Math" panose="02040503050406030204" charset="0"/>
                    <a:ea typeface="微软雅黑" panose="020B0503020204020204" charset="-122"/>
                    <a:cs typeface="Cambria Math" panose="02040503050406030204" charset="0"/>
                  </a:rPr>
                  <a:t>,   </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nary>
                      <m:naryPr>
                        <m:chr m:val="∏"/>
                        <m:limLoc m:val="undOvr"/>
                        <m:subHide m:val="on"/>
                        <m:supHide m:val="on"/>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naryPr>
                      <m:sub/>
                      <m:sup/>
                      <m:e>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acc>
                              <m:acc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acc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acc>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e>
                    </m:nary>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，其中</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表示基于</a:t>
                </a:r>
                <a:r>
                  <a:rPr lang="en-US" altLang="zh-CN" sz="2400">
                    <a:solidFill>
                      <a:schemeClr val="tx1"/>
                    </a:solidFill>
                    <a:latin typeface="Cambria Math" panose="02040503050406030204" charset="0"/>
                    <a:ea typeface="微软雅黑" panose="020B0503020204020204" charset="-122"/>
                    <a:cs typeface="Cambria Math" panose="02040503050406030204" charset="0"/>
                  </a:rPr>
                  <a:t>L2 norm</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的归一化</a:t>
                </a:r>
                <a:r>
                  <a:rPr lang="zh-CN" altLang="en-US" sz="2400">
                    <a:solidFill>
                      <a:schemeClr val="tx1"/>
                    </a:solidFill>
                    <a:latin typeface="Cambria Math" panose="02040503050406030204" charset="0"/>
                    <a:ea typeface="微软雅黑" panose="020B0503020204020204" charset="-122"/>
                    <a:cs typeface="Cambria Math" panose="02040503050406030204" charset="0"/>
                  </a:rPr>
                  <a:t>操作。</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该建模的优化目标形式如下式：</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4" name="TextBox 30"/>
              <p:cNvSpPr txBox="1">
                <a:spLocks noRot="1" noChangeAspect="1" noMove="1" noResize="1" noEditPoints="1" noAdjustHandles="1" noChangeArrowheads="1" noChangeShapeType="1" noTextEdit="1"/>
              </p:cNvSpPr>
              <p:nvPr>
                <p:custDataLst>
                  <p:tags r:id="rId8"/>
                </p:custDataLst>
              </p:nvPr>
            </p:nvSpPr>
            <p:spPr>
              <a:xfrm>
                <a:off x="609600" y="4686300"/>
                <a:ext cx="15503525" cy="3323590"/>
              </a:xfrm>
              <a:prstGeom prst="rect">
                <a:avLst/>
              </a:prstGeom>
              <a:blipFill rotWithShape="1">
                <a:blip r:embed="rId9"/>
                <a:stretch>
                  <a:fillRect/>
                </a:stretch>
              </a:blipFill>
            </p:spPr>
            <p:txBody>
              <a:bodyPr/>
              <a:lstStyle/>
              <a:p>
                <a:r>
                  <a:rPr lang="zh-CN" altLang="en-US">
                    <a:noFill/>
                  </a:rPr>
                  <a:t> </a:t>
                </a:r>
              </a:p>
            </p:txBody>
          </p:sp>
        </mc:Fallback>
      </mc:AlternateContent>
      <p:pic>
        <p:nvPicPr>
          <p:cNvPr id="8" name="图片 7"/>
          <p:cNvPicPr>
            <a:picLocks noChangeAspect="1"/>
          </p:cNvPicPr>
          <p:nvPr/>
        </p:nvPicPr>
        <p:blipFill>
          <a:blip r:embed="rId10"/>
          <a:stretch>
            <a:fillRect/>
          </a:stretch>
        </p:blipFill>
        <p:spPr>
          <a:xfrm>
            <a:off x="3737610" y="8115300"/>
            <a:ext cx="9486900" cy="914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4" name="TextBox 30"/>
              <p:cNvSpPr txBox="1"/>
              <p:nvPr>
                <p:custDataLst>
                  <p:tags r:id="rId4"/>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整体算法优化的方式为逐层优化，即在第</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层优化得到</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en-US" altLang="zh-CN" sz="2400">
                    <a:solidFill>
                      <a:schemeClr val="tx1"/>
                    </a:solidFill>
                    <a:latin typeface="Cambria Math" panose="02040503050406030204" charset="0"/>
                    <a:ea typeface="微软雅黑" panose="020B0503020204020204" charset="-122"/>
                    <a:cs typeface="Cambria Math" panose="02040503050406030204" charset="0"/>
                  </a:rPr>
                  <a:t> </a:t>
                </a:r>
                <a:r>
                  <a:rPr lang="zh-CN" altLang="en-US" sz="2400">
                    <a:solidFill>
                      <a:schemeClr val="tx1"/>
                    </a:solidFill>
                    <a:latin typeface="Cambria Math" panose="02040503050406030204" charset="0"/>
                    <a:ea typeface="微软雅黑" panose="020B0503020204020204" charset="-122"/>
                    <a:cs typeface="Cambria Math" panose="02040503050406030204" charset="0"/>
                  </a:rPr>
                  <a:t>之后，再对下一层的</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进行优化，前面层的优化过程不受后面层的影响。算法的伪代码</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如下：</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4" name="TextBox 30"/>
              <p:cNvSpPr txBox="1">
                <a:spLocks noRot="1" noChangeAspect="1" noMove="1" noResize="1" noEditPoints="1" noAdjustHandles="1" noChangeArrowheads="1" noChangeShapeType="1" noTextEdit="1"/>
              </p:cNvSpPr>
              <p:nvPr>
                <p:custDataLst>
                  <p:tags r:id="rId5"/>
                </p:custDataLst>
              </p:nvPr>
            </p:nvSpPr>
            <p:spPr>
              <a:xfrm>
                <a:off x="609600" y="1714500"/>
                <a:ext cx="15503525" cy="1107440"/>
              </a:xfrm>
              <a:prstGeom prst="rect">
                <a:avLst/>
              </a:prstGeom>
              <a:blipFill rotWithShape="1">
                <a:blip r:embed="rId6"/>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7"/>
          <a:stretch>
            <a:fillRect/>
          </a:stretch>
        </p:blipFill>
        <p:spPr>
          <a:xfrm>
            <a:off x="2514600" y="2933700"/>
            <a:ext cx="12291060" cy="3695700"/>
          </a:xfrm>
          <a:prstGeom prst="rect">
            <a:avLst/>
          </a:prstGeom>
        </p:spPr>
      </p:pic>
      <mc:AlternateContent xmlns:mc="http://schemas.openxmlformats.org/markup-compatibility/2006">
        <mc:Choice xmlns:a14="http://schemas.microsoft.com/office/drawing/2010/main" Requires="a14">
          <p:sp>
            <p:nvSpPr>
              <p:cNvPr id="5" name="TextBox 30"/>
              <p:cNvSpPr txBox="1"/>
              <p:nvPr>
                <p:custDataLst>
                  <p:tags r:id="rId8"/>
                </p:custDataLst>
              </p:nvPr>
            </p:nvSpPr>
            <p:spPr>
              <a:xfrm>
                <a:off x="609600" y="6591300"/>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注意到自表达层中</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唯一的非线性操作即为基于</a:t>
                </a:r>
                <a:r>
                  <a:rPr lang="en-US" altLang="zh-CN" sz="2400" b="1">
                    <a:solidFill>
                      <a:srgbClr val="0070C0"/>
                    </a:solidFill>
                    <a:latin typeface="Cambria Math" panose="02040503050406030204" charset="0"/>
                    <a:ea typeface="微软雅黑" panose="020B0503020204020204" charset="-122"/>
                    <a:cs typeface="Cambria Math" panose="02040503050406030204" charset="0"/>
                  </a:rPr>
                  <a:t>L2</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范数的归一化操作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，如果没有该操作，那么则完全变为对于原数据矩阵</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的线性操作，而多个自表达层堆叠也就成了对原数据进行多次线性变换，即</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，最终</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等价于单层的线性操作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，最终模型给出的结果会逐渐坍缩到原点，即多个线性变化后回到</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的情况（我理解的是多</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相乘坍缩为接近全</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的矩阵），无法实现理想中的逐步</a:t>
                </a:r>
                <a:r>
                  <a:rPr lang="zh-CN" altLang="en-US" sz="2400">
                    <a:solidFill>
                      <a:schemeClr val="tx1"/>
                    </a:solidFill>
                    <a:latin typeface="Cambria Math" panose="02040503050406030204" charset="0"/>
                    <a:ea typeface="微软雅黑" panose="020B0503020204020204" charset="-122"/>
                    <a:cs typeface="Cambria Math" panose="02040503050406030204" charset="0"/>
                  </a:rPr>
                  <a:t>线性化。</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9"/>
                </p:custDataLst>
              </p:nvPr>
            </p:nvSpPr>
            <p:spPr>
              <a:xfrm>
                <a:off x="609600" y="6591300"/>
                <a:ext cx="15503525" cy="2215515"/>
              </a:xfrm>
              <a:prstGeom prst="rect">
                <a:avLst/>
              </a:prstGeom>
              <a:blipFill rotWithShape="1">
                <a:blip r:embed="rId10"/>
                <a:stretch>
                  <a:fillRect/>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4"/>
          <a:stretch>
            <a:fillRect/>
          </a:stretch>
        </p:blipFill>
        <p:spPr>
          <a:xfrm>
            <a:off x="2438400" y="1790700"/>
            <a:ext cx="13200380" cy="5214620"/>
          </a:xfrm>
          <a:prstGeom prst="rect">
            <a:avLst/>
          </a:prstGeom>
        </p:spPr>
      </p:pic>
      <p:pic>
        <p:nvPicPr>
          <p:cNvPr id="15" name="图片 14"/>
          <p:cNvPicPr>
            <a:picLocks noChangeAspect="1"/>
          </p:cNvPicPr>
          <p:nvPr/>
        </p:nvPicPr>
        <p:blipFill>
          <a:blip r:embed="rId5"/>
          <a:stretch>
            <a:fillRect/>
          </a:stretch>
        </p:blipFill>
        <p:spPr>
          <a:xfrm>
            <a:off x="2492375" y="7200900"/>
            <a:ext cx="13146405" cy="2693670"/>
          </a:xfrm>
          <a:prstGeom prst="rect">
            <a:avLst/>
          </a:prstGeom>
        </p:spPr>
      </p:pic>
      <p:sp>
        <p:nvSpPr>
          <p:cNvPr id="2" name="文本框 1"/>
          <p:cNvSpPr txBox="1"/>
          <p:nvPr/>
        </p:nvSpPr>
        <p:spPr>
          <a:xfrm>
            <a:off x="533400" y="1779270"/>
            <a:ext cx="1725295" cy="5138420"/>
          </a:xfrm>
          <a:prstGeom prst="rect">
            <a:avLst/>
          </a:prstGeom>
          <a:noFill/>
        </p:spPr>
        <p:txBody>
          <a:bodyPr wrap="square" rtlCol="0" anchor="t">
            <a:noAutofit/>
          </a:bodyPr>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从结果上看，基于</a:t>
            </a:r>
            <a:r>
              <a:rPr lang="en-US" altLang="zh-CN" sz="2400">
                <a:latin typeface="Cambria Math" panose="02040503050406030204" charset="0"/>
                <a:ea typeface="微软雅黑" panose="020B0503020204020204" charset="-122"/>
                <a:cs typeface="Cambria Math" panose="02040503050406030204" charset="0"/>
                <a:sym typeface="+mn-ea"/>
              </a:rPr>
              <a:t>L2</a:t>
            </a:r>
            <a:r>
              <a:rPr lang="zh-CN" altLang="en-US" sz="2400">
                <a:latin typeface="Cambria Math" panose="02040503050406030204" charset="0"/>
                <a:ea typeface="微软雅黑" panose="020B0503020204020204" charset="-122"/>
                <a:cs typeface="Cambria Math" panose="02040503050406030204" charset="0"/>
                <a:sym typeface="+mn-ea"/>
              </a:rPr>
              <a:t>范数的归一化操作在逐渐消除流形局部的曲率，让流形</a:t>
            </a:r>
            <a:r>
              <a:rPr lang="en-US" altLang="zh-CN" sz="2400">
                <a:latin typeface="Cambria Math" panose="02040503050406030204" charset="0"/>
                <a:ea typeface="微软雅黑" panose="020B0503020204020204" charset="-122"/>
                <a:cs typeface="Cambria Math" panose="02040503050406030204" charset="0"/>
                <a:sym typeface="+mn-ea"/>
              </a:rPr>
              <a:t>”</a:t>
            </a:r>
            <a:r>
              <a:rPr lang="zh-CN" altLang="en-US" sz="2400">
                <a:latin typeface="Cambria Math" panose="02040503050406030204" charset="0"/>
                <a:ea typeface="微软雅黑" panose="020B0503020204020204" charset="-122"/>
                <a:cs typeface="Cambria Math" panose="02040503050406030204" charset="0"/>
                <a:sym typeface="+mn-ea"/>
              </a:rPr>
              <a:t>变平</a:t>
            </a:r>
            <a:r>
              <a:rPr lang="en-US" altLang="zh-CN" sz="2400">
                <a:latin typeface="Cambria Math" panose="02040503050406030204" charset="0"/>
                <a:ea typeface="微软雅黑" panose="020B0503020204020204" charset="-122"/>
                <a:cs typeface="Cambria Math" panose="02040503050406030204" charset="0"/>
                <a:sym typeface="+mn-ea"/>
              </a:rPr>
              <a:t>“</a:t>
            </a:r>
            <a:endParaRPr lang="en-US" altLang="zh-CN" sz="2400">
              <a:latin typeface="Cambria Math" panose="02040503050406030204" charset="0"/>
              <a:ea typeface="微软雅黑" panose="020B0503020204020204" charset="-122"/>
              <a:cs typeface="Cambria Math" panose="02040503050406030204"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5"/>
          <a:stretch>
            <a:fillRect/>
          </a:stretch>
        </p:blipFill>
        <p:spPr>
          <a:xfrm>
            <a:off x="2133600" y="2724150"/>
            <a:ext cx="14616430" cy="6563995"/>
          </a:xfrm>
          <a:prstGeom prst="rect">
            <a:avLst/>
          </a:prstGeom>
        </p:spPr>
      </p:pic>
      <p:sp>
        <p:nvSpPr>
          <p:cNvPr id="4" name="矩形 3"/>
          <p:cNvSpPr/>
          <p:nvPr/>
        </p:nvSpPr>
        <p:spPr>
          <a:xfrm>
            <a:off x="13182600" y="7200900"/>
            <a:ext cx="3081655" cy="94805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2209800" y="8267700"/>
            <a:ext cx="14361160" cy="2832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4191000" y="6515100"/>
            <a:ext cx="1329055" cy="19723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TextBox 30"/>
          <p:cNvSpPr txBox="1"/>
          <p:nvPr>
            <p:custDataLst>
              <p:tags r:id="rId6"/>
            </p:custDataLst>
          </p:nvPr>
        </p:nvSpPr>
        <p:spPr>
          <a:xfrm>
            <a:off x="3276600" y="9334500"/>
            <a:ext cx="4485005" cy="553720"/>
          </a:xfrm>
          <a:prstGeom prst="rect">
            <a:avLst/>
          </a:prstGeom>
        </p:spPr>
        <p:txBody>
          <a:bodyPr wrap="square" lIns="0" tIns="0" rIns="0" bIns="0" rtlCol="0" anchor="t">
            <a:spAutoFit/>
          </a:bodyPr>
          <a:lstStyle/>
          <a:p>
            <a:pPr algn="l">
              <a:lnSpc>
                <a:spcPts val="4320"/>
              </a:lnSpc>
              <a:buClrTx/>
              <a:buSzTx/>
              <a:buFontTx/>
            </a:pPr>
            <a:r>
              <a:rPr lang="en-US" altLang="zh-CN" sz="2400" b="1">
                <a:solidFill>
                  <a:srgbClr val="FF0000"/>
                </a:solidFill>
                <a:latin typeface="微软雅黑" panose="020B0503020204020204" charset="-122"/>
                <a:ea typeface="微软雅黑" panose="020B0503020204020204" charset="-122"/>
              </a:rPr>
              <a:t>Effective and Efficient   </a:t>
            </a:r>
            <a:endParaRPr lang="en-US" altLang="zh-CN" sz="2400" b="1">
              <a:solidFill>
                <a:srgbClr val="FF0000"/>
              </a:solidFill>
              <a:latin typeface="微软雅黑" panose="020B0503020204020204" charset="-122"/>
              <a:ea typeface="微软雅黑" panose="020B0503020204020204" charset="-122"/>
            </a:endParaRPr>
          </a:p>
        </p:txBody>
      </p:sp>
      <p:sp>
        <p:nvSpPr>
          <p:cNvPr id="17" name="文本框 16"/>
          <p:cNvSpPr txBox="1"/>
          <p:nvPr/>
        </p:nvSpPr>
        <p:spPr>
          <a:xfrm>
            <a:off x="16535400" y="7444740"/>
            <a:ext cx="1466850" cy="460375"/>
          </a:xfrm>
          <a:prstGeom prst="rect">
            <a:avLst/>
          </a:prstGeom>
          <a:noFill/>
        </p:spPr>
        <p:txBody>
          <a:bodyPr wrap="square" rtlCol="0" anchor="t">
            <a:spAutoFit/>
          </a:bodyPr>
          <a:p>
            <a:r>
              <a:rPr lang="en-US" altLang="zh-CN" sz="2400" b="1">
                <a:solidFill>
                  <a:srgbClr val="FF0000"/>
                </a:solidFill>
                <a:latin typeface="微软雅黑" panose="020B0503020204020204" charset="-122"/>
                <a:ea typeface="微软雅黑" panose="020B0503020204020204" charset="-122"/>
                <a:sym typeface="+mn-ea"/>
              </a:rPr>
              <a:t>Scalable</a:t>
            </a:r>
            <a:endParaRPr lang="en-US" altLang="zh-CN" sz="2400" b="1">
              <a:solidFill>
                <a:srgbClr val="FF0000"/>
              </a:solidFill>
              <a:latin typeface="微软雅黑" panose="020B0503020204020204" charset="-122"/>
              <a:ea typeface="微软雅黑" panose="020B0503020204020204" charset="-122"/>
              <a:sym typeface="+mn-ea"/>
            </a:endParaRPr>
          </a:p>
        </p:txBody>
      </p:sp>
      <p:pic>
        <p:nvPicPr>
          <p:cNvPr id="18" name="图片 17"/>
          <p:cNvPicPr>
            <a:picLocks noChangeAspect="1"/>
          </p:cNvPicPr>
          <p:nvPr/>
        </p:nvPicPr>
        <p:blipFill>
          <a:blip r:embed="rId7"/>
          <a:stretch>
            <a:fillRect/>
          </a:stretch>
        </p:blipFill>
        <p:spPr>
          <a:xfrm>
            <a:off x="12650470" y="128905"/>
            <a:ext cx="4099560" cy="2497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5"/>
          <a:stretch>
            <a:fillRect/>
          </a:stretch>
        </p:blipFill>
        <p:spPr>
          <a:xfrm>
            <a:off x="4800600" y="2247900"/>
            <a:ext cx="7320915" cy="5027295"/>
          </a:xfrm>
          <a:prstGeom prst="rect">
            <a:avLst/>
          </a:prstGeom>
        </p:spPr>
      </p:pic>
      <mc:AlternateContent xmlns:mc="http://schemas.openxmlformats.org/markup-compatibility/2006">
        <mc:Choice xmlns:a14="http://schemas.microsoft.com/office/drawing/2010/main" Requires="a14">
          <p:sp>
            <p:nvSpPr>
              <p:cNvPr id="5" name="TextBox 30"/>
              <p:cNvSpPr txBox="1"/>
              <p:nvPr>
                <p:custDataLst>
                  <p:tags r:id="rId6"/>
                </p:custDataLst>
              </p:nvPr>
            </p:nvSpPr>
            <p:spPr>
              <a:xfrm>
                <a:off x="609600" y="7429500"/>
                <a:ext cx="15503525" cy="16617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图（</a:t>
                </a:r>
                <a:r>
                  <a:rPr lang="en-US" altLang="zh-CN" sz="2400">
                    <a:solidFill>
                      <a:schemeClr val="tx1"/>
                    </a:solidFill>
                    <a:latin typeface="微软雅黑" panose="020B0503020204020204" charset="-122"/>
                    <a:ea typeface="微软雅黑" panose="020B0503020204020204" charset="-122"/>
                  </a:rPr>
                  <a:t>a</a:t>
                </a:r>
                <a:r>
                  <a:rPr lang="zh-CN" altLang="en-US" sz="2400">
                    <a:solidFill>
                      <a:schemeClr val="tx1"/>
                    </a:solidFill>
                    <a:latin typeface="微软雅黑" panose="020B0503020204020204" charset="-122"/>
                    <a:ea typeface="微软雅黑" panose="020B0503020204020204" charset="-122"/>
                  </a:rPr>
                  <a:t>）显示前几层</a:t>
                </a:r>
                <a:r>
                  <a:rPr lang="en-US" altLang="zh-CN" sz="2400">
                    <a:solidFill>
                      <a:schemeClr val="tx1"/>
                    </a:solidFill>
                    <a:latin typeface="微软雅黑" panose="020B0503020204020204" charset="-122"/>
                    <a:ea typeface="微软雅黑" panose="020B0503020204020204" charset="-122"/>
                  </a:rPr>
                  <a:t>ACC</a:t>
                </a:r>
                <a:r>
                  <a:rPr lang="zh-CN" altLang="en-US" sz="2400">
                    <a:solidFill>
                      <a:schemeClr val="tx1"/>
                    </a:solidFill>
                    <a:latin typeface="微软雅黑" panose="020B0503020204020204" charset="-122"/>
                    <a:ea typeface="微软雅黑" panose="020B0503020204020204" charset="-122"/>
                  </a:rPr>
                  <a:t>迅速提升，展现了模型的</a:t>
                </a:r>
                <a:r>
                  <a:rPr lang="en-US" altLang="zh-CN" sz="2400">
                    <a:solidFill>
                      <a:schemeClr val="tx1"/>
                    </a:solidFill>
                    <a:latin typeface="微软雅黑" panose="020B0503020204020204" charset="-122"/>
                    <a:ea typeface="微软雅黑" panose="020B0503020204020204" charset="-122"/>
                  </a:rPr>
                  <a:t>effectiveness</a:t>
                </a:r>
                <a:r>
                  <a:rPr lang="zh-CN" altLang="en-US" sz="2400">
                    <a:solidFill>
                      <a:schemeClr val="tx1"/>
                    </a:solidFill>
                    <a:latin typeface="微软雅黑" panose="020B0503020204020204" charset="-122"/>
                    <a:ea typeface="微软雅黑" panose="020B0503020204020204" charset="-122"/>
                  </a:rPr>
                  <a:t>，而层数堆叠过多之后会出现</a:t>
                </a:r>
                <a:r>
                  <a:rPr lang="en-US" altLang="zh-CN" sz="2400">
                    <a:solidFill>
                      <a:schemeClr val="tx1"/>
                    </a:solidFill>
                    <a:latin typeface="微软雅黑" panose="020B0503020204020204" charset="-122"/>
                    <a:ea typeface="微软雅黑" panose="020B0503020204020204" charset="-122"/>
                  </a:rPr>
                  <a:t>ACC</a:t>
                </a:r>
                <a:r>
                  <a:rPr lang="zh-CN" altLang="en-US" sz="2400">
                    <a:solidFill>
                      <a:schemeClr val="tx1"/>
                    </a:solidFill>
                    <a:latin typeface="微软雅黑" panose="020B0503020204020204" charset="-122"/>
                    <a:ea typeface="微软雅黑" panose="020B0503020204020204" charset="-122"/>
                  </a:rPr>
                  <a:t>下降，类比于</a:t>
                </a:r>
                <a:r>
                  <a:rPr lang="en-US" altLang="zh-CN" sz="2400">
                    <a:solidFill>
                      <a:schemeClr val="tx1"/>
                    </a:solidFill>
                    <a:latin typeface="微软雅黑" panose="020B0503020204020204" charset="-122"/>
                    <a:ea typeface="微软雅黑" panose="020B0503020204020204" charset="-122"/>
                  </a:rPr>
                  <a:t>DNN</a:t>
                </a:r>
                <a:r>
                  <a:rPr lang="zh-CN" altLang="en-US" sz="2400">
                    <a:solidFill>
                      <a:schemeClr val="tx1"/>
                    </a:solidFill>
                    <a:latin typeface="微软雅黑" panose="020B0503020204020204" charset="-122"/>
                    <a:ea typeface="微软雅黑" panose="020B0503020204020204" charset="-122"/>
                  </a:rPr>
                  <a:t>训练中的过拟合，图（</a:t>
                </a:r>
                <a:r>
                  <a:rPr lang="en-US" altLang="zh-CN" sz="2400">
                    <a:solidFill>
                      <a:schemeClr val="tx1"/>
                    </a:solidFill>
                    <a:latin typeface="微软雅黑" panose="020B0503020204020204" charset="-122"/>
                    <a:ea typeface="微软雅黑" panose="020B0503020204020204" charset="-122"/>
                  </a:rPr>
                  <a:t>b</a:t>
                </a:r>
                <a:r>
                  <a:rPr lang="zh-CN" altLang="en-US" sz="2400">
                    <a:solidFill>
                      <a:schemeClr val="tx1"/>
                    </a:solidFill>
                    <a:latin typeface="微软雅黑" panose="020B0503020204020204" charset="-122"/>
                    <a:ea typeface="微软雅黑" panose="020B0503020204020204" charset="-122"/>
                  </a:rPr>
                  <a:t>）则可类比于损失曲线。从图中还可以看出参数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𝛾</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的选择也需要适中，过大会导致模型难以训练到收敛，而过小会导致容易出现过拟合，模型可训练性</a:t>
                </a:r>
                <a:r>
                  <a:rPr lang="zh-CN" altLang="en-US" sz="2400">
                    <a:solidFill>
                      <a:schemeClr val="tx1"/>
                    </a:solidFill>
                    <a:latin typeface="Cambria Math" panose="02040503050406030204" charset="0"/>
                    <a:ea typeface="微软雅黑" panose="020B0503020204020204" charset="-122"/>
                    <a:cs typeface="Cambria Math" panose="02040503050406030204" charset="0"/>
                  </a:rPr>
                  <a:t>较低。</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7"/>
                </p:custDataLst>
              </p:nvPr>
            </p:nvSpPr>
            <p:spPr>
              <a:xfrm>
                <a:off x="609600" y="7429500"/>
                <a:ext cx="15503525" cy="1661795"/>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5" name="TextBox 30"/>
              <p:cNvSpPr txBox="1"/>
              <p:nvPr>
                <p:custDataLst>
                  <p:tags r:id="rId5"/>
                </p:custDataLst>
              </p:nvPr>
            </p:nvSpPr>
            <p:spPr>
              <a:xfrm>
                <a:off x="609600" y="6667500"/>
                <a:ext cx="15503525" cy="221551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超参数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是弹性网络中与</a:t>
                </a:r>
                <a:r>
                  <a:rPr lang="en-US" altLang="zh-CN" sz="2400">
                    <a:solidFill>
                      <a:schemeClr val="tx1"/>
                    </a:solidFill>
                    <a:latin typeface="Cambria Math" panose="02040503050406030204" charset="0"/>
                    <a:ea typeface="微软雅黑" panose="020B0503020204020204" charset="-122"/>
                    <a:cs typeface="Cambria Math" panose="02040503050406030204" charset="0"/>
                  </a:rPr>
                  <a:t>L1</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正则</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正相关的系数，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越大，解越稀疏，子空间保持性越强，连通性越差，相对应的图（</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r>
                  <a:rPr lang="en-US" altLang="zh-CN" sz="2400">
                    <a:solidFill>
                      <a:schemeClr val="tx1"/>
                    </a:solidFill>
                    <a:latin typeface="Cambria Math" panose="02040503050406030204" charset="0"/>
                    <a:ea typeface="微软雅黑" panose="020B0503020204020204" charset="-122"/>
                    <a:cs typeface="Cambria Math" panose="02040503050406030204" charset="0"/>
                  </a:rPr>
                  <a:t>d</a:t>
                </a:r>
                <a:r>
                  <a:rPr lang="zh-CN" altLang="en-US"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中随着层数堆叠</a:t>
                </a:r>
                <a:r>
                  <a:rPr lang="en-US" altLang="zh-CN" sz="2400">
                    <a:solidFill>
                      <a:schemeClr val="tx1"/>
                    </a:solidFill>
                    <a:latin typeface="Cambria Math" panose="02040503050406030204" charset="0"/>
                    <a:ea typeface="微软雅黑" panose="020B0503020204020204" charset="-122"/>
                    <a:cs typeface="Cambria Math" panose="02040503050406030204" charset="0"/>
                  </a:rPr>
                  <a:t>SRE</a:t>
                </a:r>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r>
                  <a:rPr lang="en-US" altLang="zh-CN" sz="2400">
                    <a:solidFill>
                      <a:schemeClr val="tx1"/>
                    </a:solidFill>
                    <a:latin typeface="Cambria Math" panose="02040503050406030204" charset="0"/>
                    <a:ea typeface="微软雅黑" panose="020B0503020204020204" charset="-122"/>
                    <a:cs typeface="Cambria Math" panose="02040503050406030204" charset="0"/>
                  </a:rPr>
                  <a:t>connectivity</a:t>
                </a:r>
                <a:r>
                  <a:rPr lang="zh-CN" altLang="en-US" sz="2400">
                    <a:solidFill>
                      <a:schemeClr val="tx1"/>
                    </a:solidFill>
                    <a:latin typeface="Cambria Math" panose="02040503050406030204" charset="0"/>
                    <a:ea typeface="微软雅黑" panose="020B0503020204020204" charset="-122"/>
                    <a:cs typeface="Cambria Math" panose="02040503050406030204" charset="0"/>
                  </a:rPr>
                  <a:t>会收敛为很小的值。</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图（</a:t>
                </a:r>
                <a:r>
                  <a:rPr lang="en-US" altLang="zh-CN" sz="2400">
                    <a:solidFill>
                      <a:schemeClr val="tx1"/>
                    </a:solidFill>
                    <a:latin typeface="Cambria Math" panose="02040503050406030204" charset="0"/>
                    <a:ea typeface="微软雅黑" panose="020B0503020204020204" charset="-122"/>
                    <a:cs typeface="Cambria Math" panose="02040503050406030204" charset="0"/>
                  </a:rPr>
                  <a:t>a</a:t>
                </a:r>
                <a:r>
                  <a:rPr lang="zh-CN" altLang="en-US" sz="2400">
                    <a:solidFill>
                      <a:schemeClr val="tx1"/>
                    </a:solidFill>
                    <a:latin typeface="Cambria Math" panose="02040503050406030204" charset="0"/>
                    <a:ea typeface="微软雅黑" panose="020B0503020204020204" charset="-122"/>
                    <a:cs typeface="Cambria Math" panose="02040503050406030204" charset="0"/>
                  </a:rPr>
                  <a:t>）和（</a:t>
                </a:r>
                <a:r>
                  <a:rPr lang="en-US" altLang="zh-CN" sz="2400">
                    <a:solidFill>
                      <a:schemeClr val="tx1"/>
                    </a:solidFill>
                    <a:latin typeface="Cambria Math" panose="02040503050406030204" charset="0"/>
                    <a:ea typeface="微软雅黑" panose="020B0503020204020204" charset="-122"/>
                    <a:cs typeface="Cambria Math" panose="02040503050406030204" charset="0"/>
                  </a:rPr>
                  <a:t>b</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）中可看出，如果</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𝜆</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，即单层自表达层转化为纯</a:t>
                </a:r>
                <a:r>
                  <a:rPr lang="en-US" altLang="zh-CN" sz="2400">
                    <a:solidFill>
                      <a:schemeClr val="tx1"/>
                    </a:solidFill>
                    <a:latin typeface="Cambria Math" panose="02040503050406030204" charset="0"/>
                    <a:ea typeface="微软雅黑" panose="020B0503020204020204" charset="-122"/>
                    <a:cs typeface="Cambria Math" panose="02040503050406030204" charset="0"/>
                  </a:rPr>
                  <a:t>SSC</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的情况，网络的损失曲线更快趋于饱和，而聚类准确率快速下降，出现连通性不足且在稀疏性方向上出现优化过拟合</a:t>
                </a:r>
                <a:r>
                  <a:rPr lang="zh-CN" altLang="en-US" sz="2400">
                    <a:solidFill>
                      <a:schemeClr val="tx1"/>
                    </a:solidFill>
                    <a:latin typeface="Cambria Math" panose="02040503050406030204" charset="0"/>
                    <a:ea typeface="微软雅黑" panose="020B0503020204020204" charset="-122"/>
                    <a:cs typeface="Cambria Math" panose="02040503050406030204" charset="0"/>
                  </a:rPr>
                  <a:t>情况。</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6"/>
                </p:custDataLst>
              </p:nvPr>
            </p:nvSpPr>
            <p:spPr>
              <a:xfrm>
                <a:off x="609600" y="6667500"/>
                <a:ext cx="15503525" cy="2215515"/>
              </a:xfrm>
              <a:prstGeom prst="rect">
                <a:avLst/>
              </a:prstGeom>
              <a:blipFill rotWithShape="1">
                <a:blip r:embed="rId7"/>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8"/>
          <a:stretch>
            <a:fillRect/>
          </a:stretch>
        </p:blipFill>
        <p:spPr>
          <a:xfrm>
            <a:off x="609600" y="2400300"/>
            <a:ext cx="16049625" cy="41560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6" name="TextBox 30"/>
          <p:cNvSpPr txBox="1"/>
          <p:nvPr>
            <p:custDataLst>
              <p:tags r:id="rId3"/>
            </p:custDataLst>
          </p:nvPr>
        </p:nvSpPr>
        <p:spPr>
          <a:xfrm>
            <a:off x="609600" y="1714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sp>
        <p:nvSpPr>
          <p:cNvPr id="7" name="TextBox 30"/>
          <p:cNvSpPr txBox="1"/>
          <p:nvPr>
            <p:custDataLst>
              <p:tags r:id="rId4"/>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endParaRPr lang="en-US" altLang="zh-CN" sz="3600" b="1">
              <a:solidFill>
                <a:schemeClr val="tx1"/>
              </a:solidFill>
              <a:latin typeface="微软雅黑" panose="020B0503020204020204" charset="-122"/>
              <a:ea typeface="微软雅黑" panose="020B0503020204020204" charset="-122"/>
            </a:endParaRPr>
          </a:p>
        </p:txBody>
      </p:sp>
      <p:sp>
        <p:nvSpPr>
          <p:cNvPr id="5" name="TextBox 30"/>
          <p:cNvSpPr txBox="1"/>
          <p:nvPr>
            <p:custDataLst>
              <p:tags r:id="rId5"/>
            </p:custDataLst>
          </p:nvPr>
        </p:nvSpPr>
        <p:spPr>
          <a:xfrm>
            <a:off x="609600" y="2470785"/>
            <a:ext cx="9566275" cy="1837690"/>
          </a:xfrm>
          <a:prstGeom prst="rect">
            <a:avLst/>
          </a:prstGeom>
        </p:spPr>
        <p:txBody>
          <a:bodyPr wrap="square" lIns="0" tIns="0" rIns="0" bIns="0" rtlCol="0" anchor="t">
            <a:no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图中当像素点受稀疏噪声的破坏率达到</a:t>
            </a:r>
            <a:r>
              <a:rPr lang="en-US" altLang="zh-CN" sz="2400">
                <a:solidFill>
                  <a:schemeClr val="tx1"/>
                </a:solidFill>
                <a:latin typeface="Cambria Math" panose="02040503050406030204" charset="0"/>
                <a:ea typeface="微软雅黑" panose="020B0503020204020204" charset="-122"/>
                <a:cs typeface="Cambria Math" panose="02040503050406030204" charset="0"/>
              </a:rPr>
              <a:t>70%</a:t>
            </a:r>
            <a:r>
              <a:rPr lang="zh-CN" altLang="en-US" sz="2400">
                <a:solidFill>
                  <a:schemeClr val="tx1"/>
                </a:solidFill>
                <a:latin typeface="Cambria Math" panose="02040503050406030204" charset="0"/>
                <a:ea typeface="微软雅黑" panose="020B0503020204020204" charset="-122"/>
                <a:cs typeface="Cambria Math" panose="02040503050406030204" charset="0"/>
              </a:rPr>
              <a:t>以上时，</a:t>
            </a:r>
            <a:r>
              <a:rPr lang="en-US" altLang="zh-CN" sz="2400">
                <a:solidFill>
                  <a:schemeClr val="tx1"/>
                </a:solidFill>
                <a:latin typeface="Cambria Math" panose="02040503050406030204" charset="0"/>
                <a:ea typeface="微软雅黑" panose="020B0503020204020204" charset="-122"/>
                <a:cs typeface="Cambria Math" panose="02040503050406030204" charset="0"/>
              </a:rPr>
              <a:t>DELVE</a:t>
            </a:r>
            <a:r>
              <a:rPr lang="zh-CN" altLang="en-US" sz="2400">
                <a:solidFill>
                  <a:schemeClr val="tx1"/>
                </a:solidFill>
                <a:latin typeface="Cambria Math" panose="02040503050406030204" charset="0"/>
                <a:ea typeface="微软雅黑" panose="020B0503020204020204" charset="-122"/>
                <a:cs typeface="Cambria Math" panose="02040503050406030204" charset="0"/>
              </a:rPr>
              <a:t>才出现性能快速下降的情况，而</a:t>
            </a:r>
            <a:r>
              <a:rPr lang="en-US" altLang="zh-CN" sz="2400">
                <a:solidFill>
                  <a:schemeClr val="tx1"/>
                </a:solidFill>
                <a:latin typeface="Cambria Math" panose="02040503050406030204" charset="0"/>
                <a:ea typeface="微软雅黑" panose="020B0503020204020204" charset="-122"/>
                <a:cs typeface="Cambria Math" panose="02040503050406030204" charset="0"/>
              </a:rPr>
              <a:t>DSCNet</a:t>
            </a:r>
            <a:r>
              <a:rPr lang="zh-CN" altLang="en-US" sz="2400">
                <a:solidFill>
                  <a:schemeClr val="tx1"/>
                </a:solidFill>
                <a:latin typeface="Cambria Math" panose="02040503050406030204" charset="0"/>
                <a:ea typeface="微软雅黑" panose="020B0503020204020204" charset="-122"/>
                <a:cs typeface="Cambria Math" panose="02040503050406030204" charset="0"/>
              </a:rPr>
              <a:t>系列的方法在低破坏率的情况下就已经出现了明显的性能下降，这一发现充分展现了</a:t>
            </a:r>
            <a:r>
              <a:rPr lang="en-US" altLang="zh-CN" sz="2400">
                <a:solidFill>
                  <a:schemeClr val="tx1"/>
                </a:solidFill>
                <a:latin typeface="Cambria Math" panose="02040503050406030204" charset="0"/>
                <a:ea typeface="微软雅黑" panose="020B0503020204020204" charset="-122"/>
                <a:cs typeface="Cambria Math" panose="02040503050406030204" charset="0"/>
              </a:rPr>
              <a:t>DELVE</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的鲁棒性与</a:t>
            </a:r>
            <a:r>
              <a:rPr lang="zh-CN" altLang="en-US" sz="2400">
                <a:solidFill>
                  <a:schemeClr val="tx1"/>
                </a:solidFill>
                <a:latin typeface="Cambria Math" panose="02040503050406030204" charset="0"/>
                <a:ea typeface="微软雅黑" panose="020B0503020204020204" charset="-122"/>
                <a:cs typeface="Cambria Math" panose="02040503050406030204" charset="0"/>
              </a:rPr>
              <a:t>灵活性。</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pic>
        <p:nvPicPr>
          <p:cNvPr id="2" name="图片 1"/>
          <p:cNvPicPr>
            <a:picLocks noChangeAspect="1"/>
          </p:cNvPicPr>
          <p:nvPr/>
        </p:nvPicPr>
        <p:blipFill>
          <a:blip r:embed="rId6"/>
          <a:stretch>
            <a:fillRect/>
          </a:stretch>
        </p:blipFill>
        <p:spPr>
          <a:xfrm>
            <a:off x="10896600" y="2400300"/>
            <a:ext cx="6884670" cy="7114540"/>
          </a:xfrm>
          <a:prstGeom prst="rect">
            <a:avLst/>
          </a:prstGeom>
        </p:spPr>
      </p:pic>
      <p:pic>
        <p:nvPicPr>
          <p:cNvPr id="8" name="图片 7"/>
          <p:cNvPicPr>
            <a:picLocks noChangeAspect="1"/>
          </p:cNvPicPr>
          <p:nvPr/>
        </p:nvPicPr>
        <p:blipFill>
          <a:blip r:embed="rId7"/>
          <a:stretch>
            <a:fillRect/>
          </a:stretch>
        </p:blipFill>
        <p:spPr>
          <a:xfrm>
            <a:off x="2743200" y="4308475"/>
            <a:ext cx="5598795" cy="749935"/>
          </a:xfrm>
          <a:prstGeom prst="rect">
            <a:avLst/>
          </a:prstGeom>
        </p:spPr>
      </p:pic>
      <p:pic>
        <p:nvPicPr>
          <p:cNvPr id="10" name="图片 9"/>
          <p:cNvPicPr>
            <a:picLocks noChangeAspect="1"/>
          </p:cNvPicPr>
          <p:nvPr/>
        </p:nvPicPr>
        <p:blipFill>
          <a:blip r:embed="rId8"/>
          <a:stretch>
            <a:fillRect/>
          </a:stretch>
        </p:blipFill>
        <p:spPr>
          <a:xfrm>
            <a:off x="228600" y="5448300"/>
            <a:ext cx="9946640" cy="40767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pic>
        <p:nvPicPr>
          <p:cNvPr id="5" name="图片 4"/>
          <p:cNvPicPr>
            <a:picLocks noChangeAspect="1"/>
          </p:cNvPicPr>
          <p:nvPr/>
        </p:nvPicPr>
        <p:blipFill>
          <a:blip r:embed="rId3"/>
          <a:stretch>
            <a:fillRect/>
          </a:stretch>
        </p:blipFill>
        <p:spPr>
          <a:xfrm>
            <a:off x="1522095" y="2247900"/>
            <a:ext cx="13957935" cy="5044440"/>
          </a:xfrm>
          <a:prstGeom prst="rect">
            <a:avLst/>
          </a:prstGeom>
        </p:spPr>
      </p:pic>
      <p:sp>
        <p:nvSpPr>
          <p:cNvPr id="9" name="TextBox 30"/>
          <p:cNvSpPr txBox="1"/>
          <p:nvPr>
            <p:custDataLst>
              <p:tags r:id="rId4"/>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descr="崩溃"/>
          <p:cNvPicPr>
            <a:picLocks noChangeAspect="1"/>
          </p:cNvPicPr>
          <p:nvPr/>
        </p:nvPicPr>
        <p:blipFill>
          <a:blip r:embed="rId5"/>
          <a:stretch>
            <a:fillRect/>
          </a:stretch>
        </p:blipFill>
        <p:spPr>
          <a:xfrm>
            <a:off x="1600835" y="7505700"/>
            <a:ext cx="11821160" cy="2492375"/>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13488035" y="8420100"/>
                <a:ext cx="3502025" cy="481965"/>
              </a:xfrm>
              <a:prstGeom prst="rect">
                <a:avLst/>
              </a:prstGeom>
              <a:noFill/>
            </p:spPr>
            <p:txBody>
              <a:bodyPr wrap="none" rtlCol="0" anchor="t">
                <a:noAutofit/>
              </a:bodyPr>
              <a:p>
                <a:pPr algn="l"/>
                <a14:m>
                  <m:oMathPara xmlns:m="http://schemas.openxmlformats.org/officeDocument/2006/math">
                    <m:oMathParaPr>
                      <m:jc m:val="centerGroup"/>
                    </m:oMathParaPr>
                    <m:oMath xmlns:m="http://schemas.openxmlformats.org/officeDocument/2006/math">
                      <m:r>
                        <a:rPr lang="en-US" altLang="zh-CN" sz="3200" i="1">
                          <a:solidFill>
                            <a:srgbClr val="FF0000"/>
                          </a:solidFill>
                          <a:latin typeface="Cambria Math" panose="02040503050406030204" charset="0"/>
                          <a:cs typeface="Cambria Math" panose="02040503050406030204" charset="0"/>
                        </a:rPr>
                        <m:t>𝑅𝑎𝑛𝑘</m:t>
                      </m:r>
                      <m:r>
                        <a:rPr lang="en-US" altLang="zh-CN" sz="3200" i="1">
                          <a:solidFill>
                            <a:srgbClr val="FF0000"/>
                          </a:solidFill>
                          <a:latin typeface="Cambria Math" panose="02040503050406030204" charset="0"/>
                          <a:cs typeface="Cambria Math" panose="02040503050406030204" charset="0"/>
                        </a:rPr>
                        <m:t>(</m:t>
                      </m:r>
                      <m:sSup>
                        <m:sSupPr>
                          <m:ctrlPr>
                            <a:rPr lang="en-US" altLang="zh-CN" sz="3200" i="1">
                              <a:solidFill>
                                <a:srgbClr val="FF0000"/>
                              </a:solidFill>
                              <a:latin typeface="Cambria Math" panose="02040503050406030204" charset="0"/>
                              <a:cs typeface="Cambria Math" panose="02040503050406030204" charset="0"/>
                            </a:rPr>
                          </m:ctrlPr>
                        </m:sSupPr>
                        <m:e>
                          <m:r>
                            <a:rPr lang="en-US" altLang="zh-CN" sz="3200" i="1">
                              <a:solidFill>
                                <a:srgbClr val="FF0000"/>
                              </a:solidFill>
                              <a:latin typeface="Cambria Math" panose="02040503050406030204" charset="0"/>
                              <a:cs typeface="Cambria Math" panose="02040503050406030204" charset="0"/>
                            </a:rPr>
                            <m:t>𝑍</m:t>
                          </m:r>
                        </m:e>
                        <m:sup>
                          <m:r>
                            <a:rPr lang="en-US" altLang="zh-CN" sz="3200" i="1">
                              <a:solidFill>
                                <a:srgbClr val="FF0000"/>
                              </a:solidFill>
                              <a:latin typeface="Cambria Math" panose="02040503050406030204" charset="0"/>
                              <a:cs typeface="Cambria Math" panose="02040503050406030204" charset="0"/>
                            </a:rPr>
                            <m:t>∗</m:t>
                          </m:r>
                        </m:sup>
                      </m:sSup>
                      <m:r>
                        <a:rPr lang="en-US" altLang="zh-CN" sz="3200" i="1">
                          <a:solidFill>
                            <a:srgbClr val="FF0000"/>
                          </a:solidFill>
                          <a:latin typeface="Cambria Math" panose="02040503050406030204" charset="0"/>
                          <a:cs typeface="Cambria Math" panose="02040503050406030204" charset="0"/>
                        </a:rPr>
                        <m:t>) &lt;&lt; </m:t>
                      </m:r>
                      <m:r>
                        <a:rPr lang="en-US" altLang="zh-CN" sz="3200" i="1">
                          <a:solidFill>
                            <a:srgbClr val="FF0000"/>
                          </a:solidFill>
                          <a:latin typeface="Cambria Math" panose="02040503050406030204" charset="0"/>
                          <a:cs typeface="Cambria Math" panose="02040503050406030204" charset="0"/>
                        </a:rPr>
                        <m:t>𝑚𝑖𝑛</m:t>
                      </m:r>
                      <m:r>
                        <a:rPr lang="en-US" altLang="zh-CN" sz="3200" i="1">
                          <a:solidFill>
                            <a:srgbClr val="FF0000"/>
                          </a:solidFill>
                          <a:latin typeface="Cambria Math" panose="02040503050406030204" charset="0"/>
                          <a:cs typeface="Cambria Math" panose="02040503050406030204" charset="0"/>
                        </a:rPr>
                        <m:t>(</m:t>
                      </m:r>
                      <m:r>
                        <a:rPr lang="en-US" altLang="zh-CN" sz="3200" i="1">
                          <a:solidFill>
                            <a:srgbClr val="FF0000"/>
                          </a:solidFill>
                          <a:latin typeface="Cambria Math" panose="02040503050406030204" charset="0"/>
                          <a:cs typeface="Cambria Math" panose="02040503050406030204" charset="0"/>
                        </a:rPr>
                        <m:t>𝑑</m:t>
                      </m:r>
                      <m:r>
                        <a:rPr lang="en-US" altLang="zh-CN" sz="3200" i="1">
                          <a:solidFill>
                            <a:srgbClr val="FF0000"/>
                          </a:solidFill>
                          <a:latin typeface="Cambria Math" panose="02040503050406030204" charset="0"/>
                          <a:cs typeface="Cambria Math" panose="02040503050406030204" charset="0"/>
                        </a:rPr>
                        <m:t>, </m:t>
                      </m:r>
                      <m:r>
                        <a:rPr lang="en-US" altLang="zh-CN" sz="3200" i="1">
                          <a:solidFill>
                            <a:srgbClr val="FF0000"/>
                          </a:solidFill>
                          <a:latin typeface="Cambria Math" panose="02040503050406030204" charset="0"/>
                          <a:cs typeface="Cambria Math" panose="02040503050406030204" charset="0"/>
                        </a:rPr>
                        <m:t>𝑁</m:t>
                      </m:r>
                      <m:r>
                        <a:rPr lang="en-US" altLang="zh-CN" sz="3200" i="1">
                          <a:solidFill>
                            <a:srgbClr val="FF0000"/>
                          </a:solidFill>
                          <a:latin typeface="Cambria Math" panose="02040503050406030204" charset="0"/>
                          <a:ea typeface="MS Mincho" charset="0"/>
                          <a:cs typeface="Cambria Math" panose="02040503050406030204" charset="0"/>
                        </a:rPr>
                        <m:t>)</m:t>
                      </m:r>
                    </m:oMath>
                  </m:oMathPara>
                </a14:m>
                <a:endParaRPr lang="en-US" altLang="zh-CN" sz="3200" i="1">
                  <a:solidFill>
                    <a:srgbClr val="FF0000"/>
                  </a:solidFill>
                  <a:latin typeface="Cambria Math" panose="02040503050406030204" charset="0"/>
                  <a:ea typeface="MS Mincho"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13488035" y="8420100"/>
                <a:ext cx="3502025" cy="481965"/>
              </a:xfrm>
              <a:prstGeom prst="rect">
                <a:avLst/>
              </a:prstGeom>
              <a:blipFill rotWithShape="1">
                <a:blip r:embed="rId6"/>
                <a:stretch>
                  <a:fillRect r="-32620" b="-1067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4"/>
          <a:stretch>
            <a:fillRect/>
          </a:stretch>
        </p:blipFill>
        <p:spPr>
          <a:xfrm>
            <a:off x="5029200" y="2552700"/>
            <a:ext cx="5563870" cy="746760"/>
          </a:xfrm>
          <a:prstGeom prst="rect">
            <a:avLst/>
          </a:prstGeom>
        </p:spPr>
      </p:pic>
      <p:sp>
        <p:nvSpPr>
          <p:cNvPr id="6" name="TextBox 30"/>
          <p:cNvSpPr txBox="1"/>
          <p:nvPr>
            <p:custDataLst>
              <p:tags r:id="rId5"/>
            </p:custDataLst>
          </p:nvPr>
        </p:nvSpPr>
        <p:spPr>
          <a:xfrm>
            <a:off x="609600" y="35433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由马毅老师提出，近似于对于矩阵核范数的一个近似，用于对矩阵的秩作正则化约束，将该项加入到优化目标中，呈现如下</a:t>
            </a:r>
            <a:r>
              <a:rPr lang="zh-CN" altLang="en-US" sz="2400">
                <a:solidFill>
                  <a:schemeClr val="tx1"/>
                </a:solidFill>
                <a:latin typeface="微软雅黑" panose="020B0503020204020204" charset="-122"/>
                <a:ea typeface="微软雅黑" panose="020B0503020204020204" charset="-122"/>
              </a:rPr>
              <a:t>形式：</a:t>
            </a:r>
            <a:endParaRPr lang="zh-CN" altLang="en-US" sz="2400">
              <a:solidFill>
                <a:schemeClr val="tx1"/>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6"/>
          <a:stretch>
            <a:fillRect/>
          </a:stretch>
        </p:blipFill>
        <p:spPr>
          <a:xfrm>
            <a:off x="2623185" y="4945380"/>
            <a:ext cx="13042265" cy="2354580"/>
          </a:xfrm>
          <a:prstGeom prst="rect">
            <a:avLst/>
          </a:prstGeom>
        </p:spPr>
      </p:pic>
      <p:sp>
        <p:nvSpPr>
          <p:cNvPr id="10" name="矩形 9"/>
          <p:cNvSpPr/>
          <p:nvPr/>
        </p:nvSpPr>
        <p:spPr>
          <a:xfrm>
            <a:off x="4495800" y="5829300"/>
            <a:ext cx="3429000" cy="9144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TextBox 30"/>
          <p:cNvSpPr txBox="1"/>
          <p:nvPr>
            <p:custDataLst>
              <p:tags r:id="rId7"/>
            </p:custDataLst>
          </p:nvPr>
        </p:nvSpPr>
        <p:spPr>
          <a:xfrm>
            <a:off x="762000" y="74676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latin typeface="微软雅黑" panose="020B0503020204020204" charset="-122"/>
                <a:ea typeface="微软雅黑" panose="020B0503020204020204" charset="-122"/>
                <a:sym typeface="+mn-ea"/>
              </a:rPr>
              <a:t>该正则物理意义可看作是</a:t>
            </a:r>
            <a:r>
              <a:rPr lang="zh-CN" altLang="en-US" sz="2400" b="1">
                <a:solidFill>
                  <a:srgbClr val="0070C0"/>
                </a:solidFill>
                <a:latin typeface="微软雅黑" panose="020B0503020204020204" charset="-122"/>
                <a:ea typeface="微软雅黑" panose="020B0503020204020204" charset="-122"/>
                <a:sym typeface="+mn-ea"/>
              </a:rPr>
              <a:t>对于投影后的数据矩阵</a:t>
            </a:r>
            <a:r>
              <a:rPr lang="en-US" altLang="zh-CN" sz="2400" b="1">
                <a:solidFill>
                  <a:srgbClr val="0070C0"/>
                </a:solidFill>
                <a:latin typeface="微软雅黑" panose="020B0503020204020204" charset="-122"/>
                <a:ea typeface="微软雅黑" panose="020B0503020204020204" charset="-122"/>
                <a:sym typeface="+mn-ea"/>
              </a:rPr>
              <a:t>Z</a:t>
            </a:r>
            <a:r>
              <a:rPr lang="zh-CN" altLang="en-US" sz="2400" b="1">
                <a:solidFill>
                  <a:srgbClr val="0070C0"/>
                </a:solidFill>
                <a:latin typeface="微软雅黑" panose="020B0503020204020204" charset="-122"/>
                <a:ea typeface="微软雅黑" panose="020B0503020204020204" charset="-122"/>
                <a:sym typeface="+mn-ea"/>
              </a:rPr>
              <a:t>的秩的一个限制，使其不能过小</a:t>
            </a:r>
            <a:r>
              <a:rPr lang="zh-CN" altLang="en-US" sz="2400">
                <a:latin typeface="微软雅黑" panose="020B0503020204020204" charset="-122"/>
                <a:ea typeface="微软雅黑" panose="020B0503020204020204" charset="-122"/>
                <a:sym typeface="+mn-ea"/>
              </a:rPr>
              <a:t>。</a:t>
            </a:r>
            <a:r>
              <a:rPr lang="zh-CN" altLang="en-US" sz="2400">
                <a:solidFill>
                  <a:schemeClr val="tx1"/>
                </a:solidFill>
                <a:latin typeface="微软雅黑" panose="020B0503020204020204" charset="-122"/>
                <a:ea typeface="微软雅黑" panose="020B0503020204020204" charset="-122"/>
              </a:rPr>
              <a:t>由于原</a:t>
            </a:r>
            <a:r>
              <a:rPr lang="en-US" altLang="zh-CN" sz="2400">
                <a:solidFill>
                  <a:schemeClr val="tx1"/>
                </a:solidFill>
                <a:latin typeface="微软雅黑" panose="020B0503020204020204" charset="-122"/>
                <a:ea typeface="微软雅黑" panose="020B0503020204020204" charset="-122"/>
              </a:rPr>
              <a:t>log det</a:t>
            </a:r>
            <a:r>
              <a:rPr lang="zh-CN" altLang="en-US" sz="2400">
                <a:solidFill>
                  <a:schemeClr val="tx1"/>
                </a:solidFill>
                <a:latin typeface="微软雅黑" panose="020B0503020204020204" charset="-122"/>
                <a:ea typeface="微软雅黑" panose="020B0503020204020204" charset="-122"/>
              </a:rPr>
              <a:t>与矩阵秩呈正相关的关系，而优化问题为最小化问题，因此该项有</a:t>
            </a:r>
            <a:r>
              <a:rPr lang="zh-CN" altLang="en-US" sz="2400" b="1">
                <a:solidFill>
                  <a:srgbClr val="0070C0"/>
                </a:solidFill>
                <a:latin typeface="微软雅黑" panose="020B0503020204020204" charset="-122"/>
                <a:ea typeface="微软雅黑" panose="020B0503020204020204" charset="-122"/>
              </a:rPr>
              <a:t>负号</a:t>
            </a:r>
            <a:endParaRPr lang="zh-CN" altLang="en-US" sz="2400" b="1">
              <a:solidFill>
                <a:srgbClr val="0070C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4"/>
          <a:stretch>
            <a:fillRect/>
          </a:stretch>
        </p:blipFill>
        <p:spPr>
          <a:xfrm>
            <a:off x="5029200" y="2552700"/>
            <a:ext cx="5563870" cy="746760"/>
          </a:xfrm>
          <a:prstGeom prst="rect">
            <a:avLst/>
          </a:prstGeom>
        </p:spPr>
      </p:pic>
      <p:sp>
        <p:nvSpPr>
          <p:cNvPr id="6" name="TextBox 30"/>
          <p:cNvSpPr txBox="1"/>
          <p:nvPr>
            <p:custDataLst>
              <p:tags r:id="rId5"/>
            </p:custDataLst>
          </p:nvPr>
        </p:nvSpPr>
        <p:spPr>
          <a:xfrm>
            <a:off x="609600" y="3543300"/>
            <a:ext cx="15503525" cy="110744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由马毅老师提出，近似于对于矩阵核范数的一个近似，用于对矩阵的秩作正则化约束，将该项加入到优化目标中，呈现如下</a:t>
            </a:r>
            <a:r>
              <a:rPr lang="zh-CN" altLang="en-US" sz="2400">
                <a:solidFill>
                  <a:schemeClr val="tx1"/>
                </a:solidFill>
                <a:latin typeface="微软雅黑" panose="020B0503020204020204" charset="-122"/>
                <a:ea typeface="微软雅黑" panose="020B0503020204020204" charset="-122"/>
              </a:rPr>
              <a:t>形式：</a:t>
            </a:r>
            <a:endParaRPr lang="zh-CN" altLang="en-US" sz="2400">
              <a:solidFill>
                <a:schemeClr val="tx1"/>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6"/>
          <a:stretch>
            <a:fillRect/>
          </a:stretch>
        </p:blipFill>
        <p:spPr>
          <a:xfrm>
            <a:off x="2623185" y="4945380"/>
            <a:ext cx="13042265" cy="2354580"/>
          </a:xfrm>
          <a:prstGeom prst="rect">
            <a:avLst/>
          </a:prstGeom>
        </p:spPr>
      </p:pic>
      <p:sp>
        <p:nvSpPr>
          <p:cNvPr id="10" name="矩形 9"/>
          <p:cNvSpPr/>
          <p:nvPr/>
        </p:nvSpPr>
        <p:spPr>
          <a:xfrm>
            <a:off x="4495800" y="5829300"/>
            <a:ext cx="3429000" cy="9144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TextBox 30"/>
          <p:cNvSpPr txBox="1"/>
          <p:nvPr>
            <p:custDataLst>
              <p:tags r:id="rId7"/>
            </p:custDataLst>
          </p:nvPr>
        </p:nvSpPr>
        <p:spPr>
          <a:xfrm>
            <a:off x="762000" y="74676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由于原</a:t>
            </a:r>
            <a:r>
              <a:rPr lang="en-US" altLang="zh-CN" sz="2400">
                <a:solidFill>
                  <a:schemeClr val="tx1"/>
                </a:solidFill>
                <a:latin typeface="微软雅黑" panose="020B0503020204020204" charset="-122"/>
                <a:ea typeface="微软雅黑" panose="020B0503020204020204" charset="-122"/>
              </a:rPr>
              <a:t>log det</a:t>
            </a:r>
            <a:r>
              <a:rPr lang="zh-CN" altLang="en-US" sz="2400">
                <a:solidFill>
                  <a:schemeClr val="tx1"/>
                </a:solidFill>
                <a:latin typeface="微软雅黑" panose="020B0503020204020204" charset="-122"/>
                <a:ea typeface="微软雅黑" panose="020B0503020204020204" charset="-122"/>
              </a:rPr>
              <a:t>与矩阵秩呈正相关的关系，而优化问题为最小化问题，因此该项有</a:t>
            </a:r>
            <a:r>
              <a:rPr lang="zh-CN" altLang="en-US" sz="2400">
                <a:solidFill>
                  <a:schemeClr val="tx1"/>
                </a:solidFill>
                <a:latin typeface="微软雅黑" panose="020B0503020204020204" charset="-122"/>
                <a:ea typeface="微软雅黑" panose="020B0503020204020204" charset="-122"/>
              </a:rPr>
              <a:t>负号</a:t>
            </a:r>
            <a:endParaRPr lang="zh-CN" altLang="en-US" sz="2400">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4"/>
          <a:stretch>
            <a:fillRect/>
          </a:stretch>
        </p:blipFill>
        <p:spPr>
          <a:xfrm>
            <a:off x="3162300" y="2400300"/>
            <a:ext cx="11963400" cy="7094855"/>
          </a:xfrm>
          <a:prstGeom prst="rect">
            <a:avLst/>
          </a:prstGeom>
        </p:spPr>
      </p:pic>
      <p:sp>
        <p:nvSpPr>
          <p:cNvPr id="14" name="矩形 13"/>
          <p:cNvSpPr/>
          <p:nvPr/>
        </p:nvSpPr>
        <p:spPr>
          <a:xfrm>
            <a:off x="3200400" y="3086100"/>
            <a:ext cx="2543175" cy="5181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nvSpPr>
        <p:spPr>
          <a:xfrm>
            <a:off x="10972800" y="6057900"/>
            <a:ext cx="2543175" cy="5181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1905000" y="2400300"/>
            <a:ext cx="12792075" cy="1248410"/>
          </a:xfrm>
          <a:prstGeom prst="rect">
            <a:avLst/>
          </a:prstGeom>
        </p:spPr>
      </p:pic>
      <p:sp>
        <p:nvSpPr>
          <p:cNvPr id="6" name="TextBox 30"/>
          <p:cNvSpPr txBox="1"/>
          <p:nvPr>
            <p:custDataLst>
              <p:tags r:id="rId5"/>
            </p:custDataLst>
          </p:nvPr>
        </p:nvSpPr>
        <p:spPr>
          <a:xfrm>
            <a:off x="609600" y="39243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Theorem 1</a:t>
            </a:r>
            <a:r>
              <a:rPr lang="zh-CN" altLang="en-US" sz="2400">
                <a:solidFill>
                  <a:schemeClr val="tx1"/>
                </a:solidFill>
                <a:latin typeface="微软雅黑" panose="020B0503020204020204" charset="-122"/>
                <a:ea typeface="微软雅黑" panose="020B0503020204020204" charset="-122"/>
              </a:rPr>
              <a:t>说明了当</a:t>
            </a:r>
            <a:r>
              <a:rPr lang="en-US" altLang="zh-CN" sz="2400">
                <a:solidFill>
                  <a:schemeClr val="tx1"/>
                </a:solidFill>
                <a:latin typeface="微软雅黑" panose="020B0503020204020204" charset="-122"/>
                <a:ea typeface="微软雅黑" panose="020B0503020204020204" charset="-122"/>
              </a:rPr>
              <a:t>Z</a:t>
            </a:r>
            <a:r>
              <a:rPr lang="zh-CN" altLang="en-US" sz="2400">
                <a:solidFill>
                  <a:schemeClr val="tx1"/>
                </a:solidFill>
                <a:latin typeface="微软雅黑" panose="020B0503020204020204" charset="-122"/>
                <a:ea typeface="微软雅黑" panose="020B0503020204020204" charset="-122"/>
              </a:rPr>
              <a:t>和</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都达到最优解时，上文中的</a:t>
            </a:r>
            <a:r>
              <a:rPr lang="en-US" altLang="zh-CN" sz="2400">
                <a:solidFill>
                  <a:schemeClr val="tx1"/>
                </a:solidFill>
                <a:latin typeface="微软雅黑" panose="020B0503020204020204" charset="-122"/>
                <a:ea typeface="微软雅黑" panose="020B0503020204020204" charset="-122"/>
              </a:rPr>
              <a:t>G</a:t>
            </a:r>
            <a:r>
              <a:rPr lang="zh-CN" altLang="en-US" sz="2400">
                <a:solidFill>
                  <a:schemeClr val="tx1"/>
                </a:solidFill>
                <a:latin typeface="微软雅黑" panose="020B0503020204020204" charset="-122"/>
                <a:ea typeface="微软雅黑" panose="020B0503020204020204" charset="-122"/>
              </a:rPr>
              <a:t>和</a:t>
            </a:r>
            <a:r>
              <a:rPr lang="en-US" altLang="zh-CN" sz="2400">
                <a:solidFill>
                  <a:schemeClr val="tx1"/>
                </a:solidFill>
                <a:latin typeface="微软雅黑" panose="020B0503020204020204" charset="-122"/>
                <a:ea typeface="微软雅黑" panose="020B0503020204020204" charset="-122"/>
              </a:rPr>
              <a:t>M</a:t>
            </a:r>
            <a:r>
              <a:rPr lang="zh-CN" altLang="en-US" sz="2400">
                <a:solidFill>
                  <a:schemeClr val="tx1"/>
                </a:solidFill>
                <a:latin typeface="微软雅黑" panose="020B0503020204020204" charset="-122"/>
                <a:ea typeface="微软雅黑" panose="020B0503020204020204" charset="-122"/>
              </a:rPr>
              <a:t>矩阵共享一个相同的特征空间，即能寻找到一组共享的特征向量，只有特征值有区别</a:t>
            </a:r>
            <a:r>
              <a:rPr lang="zh-CN" altLang="en-US" sz="2400">
                <a:solidFill>
                  <a:schemeClr val="tx1"/>
                </a:solidFill>
                <a:latin typeface="微软雅黑" panose="020B0503020204020204" charset="-122"/>
                <a:ea typeface="微软雅黑" panose="020B0503020204020204" charset="-122"/>
              </a:rPr>
              <a:t>而已。</a:t>
            </a:r>
            <a:endParaRPr lang="zh-CN" altLang="en-US" sz="2400">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6"/>
          <a:stretch>
            <a:fillRect/>
          </a:stretch>
        </p:blipFill>
        <p:spPr>
          <a:xfrm>
            <a:off x="2133600" y="5307330"/>
            <a:ext cx="12311380" cy="2651125"/>
          </a:xfrm>
          <a:prstGeom prst="rect">
            <a:avLst/>
          </a:prstGeom>
        </p:spPr>
      </p:pic>
      <p:sp>
        <p:nvSpPr>
          <p:cNvPr id="4" name="TextBox 30"/>
          <p:cNvSpPr txBox="1"/>
          <p:nvPr>
            <p:custDataLst>
              <p:tags r:id="rId7"/>
            </p:custDataLst>
          </p:nvPr>
        </p:nvSpPr>
        <p:spPr>
          <a:xfrm>
            <a:off x="609600" y="805053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微软雅黑" panose="020B0503020204020204" charset="-122"/>
                <a:ea typeface="微软雅黑" panose="020B0503020204020204" charset="-122"/>
              </a:rPr>
              <a:t>将</a:t>
            </a:r>
            <a:r>
              <a:rPr lang="en-US" altLang="zh-CN" sz="2400">
                <a:solidFill>
                  <a:schemeClr val="tx1"/>
                </a:solidFill>
                <a:latin typeface="微软雅黑" panose="020B0503020204020204" charset="-122"/>
                <a:ea typeface="微软雅黑" panose="020B0503020204020204" charset="-122"/>
              </a:rPr>
              <a:t>Z</a:t>
            </a:r>
            <a:r>
              <a:rPr lang="zh-CN" altLang="en-US" sz="2400">
                <a:solidFill>
                  <a:schemeClr val="tx1"/>
                </a:solidFill>
                <a:latin typeface="微软雅黑" panose="020B0503020204020204" charset="-122"/>
                <a:ea typeface="微软雅黑" panose="020B0503020204020204" charset="-122"/>
              </a:rPr>
              <a:t>和</a:t>
            </a:r>
            <a:r>
              <a:rPr lang="en-US" altLang="zh-CN" sz="2400">
                <a:solidFill>
                  <a:schemeClr val="tx1"/>
                </a:solidFill>
                <a:latin typeface="微软雅黑" panose="020B0503020204020204" charset="-122"/>
                <a:ea typeface="微软雅黑" panose="020B0503020204020204" charset="-122"/>
              </a:rPr>
              <a:t>C</a:t>
            </a:r>
            <a:r>
              <a:rPr lang="zh-CN" altLang="en-US" sz="2400">
                <a:solidFill>
                  <a:schemeClr val="tx1"/>
                </a:solidFill>
                <a:latin typeface="微软雅黑" panose="020B0503020204020204" charset="-122"/>
                <a:ea typeface="微软雅黑" panose="020B0503020204020204" charset="-122"/>
              </a:rPr>
              <a:t>用特征向量和特征值分解之后带入，可以将原式转化为一个关于特征值的优化问题，可以求得</a:t>
            </a:r>
            <a:r>
              <a:rPr lang="zh-CN" altLang="en-US" sz="2400">
                <a:solidFill>
                  <a:schemeClr val="tx1"/>
                </a:solidFill>
                <a:latin typeface="微软雅黑" panose="020B0503020204020204" charset="-122"/>
                <a:ea typeface="微软雅黑" panose="020B0503020204020204" charset="-122"/>
              </a:rPr>
              <a:t>闭式解。</a:t>
            </a:r>
            <a:endParaRPr lang="zh-CN" altLang="en-US" sz="2400">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4"/>
          <a:stretch>
            <a:fillRect/>
          </a:stretch>
        </p:blipFill>
        <p:spPr>
          <a:xfrm>
            <a:off x="2590800" y="2705100"/>
            <a:ext cx="12174220" cy="1882140"/>
          </a:xfrm>
          <a:prstGeom prst="rect">
            <a:avLst/>
          </a:prstGeom>
        </p:spPr>
      </p:pic>
      <mc:AlternateContent xmlns:mc="http://schemas.openxmlformats.org/markup-compatibility/2006">
        <mc:Choice xmlns:a14="http://schemas.microsoft.com/office/drawing/2010/main" Requires="a14">
          <p:sp>
            <p:nvSpPr>
              <p:cNvPr id="7" name="TextBox 30"/>
              <p:cNvSpPr txBox="1"/>
              <p:nvPr>
                <p:custDataLst>
                  <p:tags r:id="rId5"/>
                </p:custDataLst>
              </p:nvPr>
            </p:nvSpPr>
            <p:spPr>
              <a:xfrm>
                <a:off x="609600" y="4621530"/>
                <a:ext cx="15503525" cy="1661795"/>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Theorem 2 </a:t>
                </a:r>
                <a:r>
                  <a:rPr lang="zh-CN" altLang="en-US" sz="2400">
                    <a:solidFill>
                      <a:schemeClr val="tx1"/>
                    </a:solidFill>
                    <a:latin typeface="微软雅黑" panose="020B0503020204020204" charset="-122"/>
                    <a:ea typeface="微软雅黑" panose="020B0503020204020204" charset="-122"/>
                  </a:rPr>
                  <a:t>说明当超参数</a:t>
                </a:r>
                <a14:m>
                  <m:oMath xmlns:m="http://schemas.openxmlformats.org/officeDocument/2006/math">
                    <m:r>
                      <a:rPr lang="en-US" altLang="zh-CN" sz="2400" i="1">
                        <a:solidFill>
                          <a:schemeClr val="tx1"/>
                        </a:solidFill>
                        <a:latin typeface="Cambria Math" panose="02040503050406030204" charset="0"/>
                        <a:ea typeface="微软雅黑" panose="020B0503020204020204" charset="-122"/>
                        <a:cs typeface="Cambria Math" panose="02040503050406030204" charset="0"/>
                      </a:rPr>
                      <m:t>𝛾</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满足一定情况时，能够保证最优</a:t>
                </a:r>
                <a:r>
                  <a:rPr lang="en-US" altLang="zh-CN" sz="2400">
                    <a:solidFill>
                      <a:schemeClr val="tx1"/>
                    </a:solidFill>
                    <a:latin typeface="Cambria Math" panose="02040503050406030204" charset="0"/>
                    <a:ea typeface="微软雅黑" panose="020B0503020204020204" charset="-122"/>
                    <a:cs typeface="Cambria Math" panose="02040503050406030204" charset="0"/>
                  </a:rPr>
                  <a:t>Z</a:t>
                </a:r>
                <a:r>
                  <a:rPr lang="zh-CN" altLang="en-US" sz="2400">
                    <a:solidFill>
                      <a:schemeClr val="tx1"/>
                    </a:solidFill>
                    <a:latin typeface="Cambria Math" panose="02040503050406030204" charset="0"/>
                    <a:ea typeface="微软雅黑" panose="020B0503020204020204" charset="-122"/>
                    <a:cs typeface="Cambria Math" panose="02040503050406030204" charset="0"/>
                  </a:rPr>
                  <a:t>矩阵的秩要等于</a:t>
                </a:r>
                <a:r>
                  <a:rPr lang="en-US" altLang="zh-CN" sz="2400">
                    <a:solidFill>
                      <a:schemeClr val="tx1"/>
                    </a:solidFill>
                    <a:latin typeface="Cambria Math" panose="02040503050406030204" charset="0"/>
                    <a:ea typeface="微软雅黑" panose="020B0503020204020204" charset="-122"/>
                    <a:cs typeface="Cambria Math" panose="02040503050406030204" charset="0"/>
                  </a:rPr>
                  <a:t>min(d, N)</a:t>
                </a:r>
                <a:r>
                  <a:rPr lang="zh-CN" altLang="en-US" sz="2400">
                    <a:solidFill>
                      <a:schemeClr val="tx1"/>
                    </a:solidFill>
                    <a:latin typeface="Cambria Math" panose="02040503050406030204" charset="0"/>
                    <a:ea typeface="微软雅黑" panose="020B0503020204020204" charset="-122"/>
                    <a:cs typeface="Cambria Math" panose="02040503050406030204" charset="0"/>
                  </a:rPr>
                  <a:t>，并且每个特征值的值都可以表示出来，这就说明在加入指定的</a:t>
                </a:r>
                <a:r>
                  <a:rPr lang="en-US" altLang="zh-CN" sz="2400">
                    <a:solidFill>
                      <a:schemeClr val="tx1"/>
                    </a:solidFill>
                    <a:latin typeface="Cambria Math" panose="02040503050406030204" charset="0"/>
                    <a:ea typeface="微软雅黑" panose="020B0503020204020204" charset="-122"/>
                    <a:cs typeface="Cambria Math" panose="02040503050406030204" charset="0"/>
                  </a:rPr>
                  <a:t>log det</a:t>
                </a:r>
                <a:r>
                  <a:rPr lang="zh-CN" altLang="en-US" sz="2400">
                    <a:solidFill>
                      <a:schemeClr val="tx1"/>
                    </a:solidFill>
                    <a:latin typeface="Cambria Math" panose="02040503050406030204" charset="0"/>
                    <a:ea typeface="微软雅黑" panose="020B0503020204020204" charset="-122"/>
                    <a:cs typeface="Cambria Math" panose="02040503050406030204" charset="0"/>
                  </a:rPr>
                  <a:t>正则项后，该优化问题的最优解或者说优化的方向不会出现坍缩问题了，因为每一步优化中得到的</a:t>
                </a:r>
                <a:r>
                  <a:rPr lang="en-US" altLang="zh-CN" sz="2400">
                    <a:solidFill>
                      <a:schemeClr val="tx1"/>
                    </a:solidFill>
                    <a:latin typeface="Cambria Math" panose="02040503050406030204" charset="0"/>
                    <a:ea typeface="微软雅黑" panose="020B0503020204020204" charset="-122"/>
                    <a:cs typeface="Cambria Math" panose="02040503050406030204" charset="0"/>
                  </a:rPr>
                  <a:t>Z</a:t>
                </a:r>
                <a:r>
                  <a:rPr lang="zh-CN" altLang="en-US" sz="2400">
                    <a:solidFill>
                      <a:schemeClr val="tx1"/>
                    </a:solidFill>
                    <a:latin typeface="Cambria Math" panose="02040503050406030204" charset="0"/>
                    <a:ea typeface="微软雅黑" panose="020B0503020204020204" charset="-122"/>
                    <a:cs typeface="Cambria Math" panose="02040503050406030204" charset="0"/>
                  </a:rPr>
                  <a:t>都是不低秩</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7" name="TextBox 30"/>
              <p:cNvSpPr txBox="1">
                <a:spLocks noRot="1" noChangeAspect="1" noMove="1" noResize="1" noEditPoints="1" noAdjustHandles="1" noChangeArrowheads="1" noChangeShapeType="1" noTextEdit="1"/>
              </p:cNvSpPr>
              <p:nvPr>
                <p:custDataLst>
                  <p:tags r:id="rId6"/>
                </p:custDataLst>
              </p:nvPr>
            </p:nvSpPr>
            <p:spPr>
              <a:xfrm>
                <a:off x="609600" y="4621530"/>
                <a:ext cx="15503525" cy="1661795"/>
              </a:xfrm>
              <a:prstGeom prst="rect">
                <a:avLst/>
              </a:prstGeom>
              <a:blipFill rotWithShape="1">
                <a:blip r:embed="rId7"/>
                <a:stretch>
                  <a:fillRect/>
                </a:stretch>
              </a:blipFill>
            </p:spPr>
            <p:txBody>
              <a:bodyPr/>
              <a:lstStyle/>
              <a:p>
                <a:r>
                  <a:rPr lang="zh-CN" altLang="en-US">
                    <a:noFill/>
                  </a:rPr>
                  <a:t> </a:t>
                </a:r>
              </a:p>
            </p:txBody>
          </p:sp>
        </mc:Fallback>
      </mc:AlternateContent>
      <p:pic>
        <p:nvPicPr>
          <p:cNvPr id="12" name="图片 11"/>
          <p:cNvPicPr>
            <a:picLocks noChangeAspect="1"/>
          </p:cNvPicPr>
          <p:nvPr/>
        </p:nvPicPr>
        <p:blipFill>
          <a:blip r:embed="rId8"/>
          <a:stretch>
            <a:fillRect/>
          </a:stretch>
        </p:blipFill>
        <p:spPr>
          <a:xfrm>
            <a:off x="3200400" y="6283325"/>
            <a:ext cx="10941685" cy="3930015"/>
          </a:xfrm>
          <a:prstGeom prst="rect">
            <a:avLst/>
          </a:prstGeom>
        </p:spPr>
      </p:pic>
      <p:pic>
        <p:nvPicPr>
          <p:cNvPr id="14" name="图片 13"/>
          <p:cNvPicPr>
            <a:picLocks noChangeAspect="1"/>
          </p:cNvPicPr>
          <p:nvPr/>
        </p:nvPicPr>
        <p:blipFill>
          <a:blip r:embed="rId9"/>
          <a:srcRect b="22349"/>
          <a:stretch>
            <a:fillRect/>
          </a:stretch>
        </p:blipFill>
        <p:spPr>
          <a:xfrm>
            <a:off x="2362200" y="6287135"/>
            <a:ext cx="13312140" cy="38817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2362200" y="2400300"/>
            <a:ext cx="11947525" cy="2118360"/>
          </a:xfrm>
          <a:prstGeom prst="rect">
            <a:avLst/>
          </a:prstGeom>
        </p:spPr>
      </p:pic>
      <mc:AlternateContent xmlns:mc="http://schemas.openxmlformats.org/markup-compatibility/2006">
        <mc:Choice xmlns:a14="http://schemas.microsoft.com/office/drawing/2010/main" Requires="a14">
          <p:sp>
            <p:nvSpPr>
              <p:cNvPr id="3" name="TextBox 30"/>
              <p:cNvSpPr txBox="1"/>
              <p:nvPr>
                <p:custDataLst>
                  <p:tags r:id="rId5"/>
                </p:custDataLst>
              </p:nvPr>
            </p:nvSpPr>
            <p:spPr>
              <a:xfrm>
                <a:off x="609600" y="462153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微软雅黑" panose="020B0503020204020204" charset="-122"/>
                    <a:ea typeface="微软雅黑" panose="020B0503020204020204" charset="-122"/>
                  </a:rPr>
                  <a:t>Theorem 3 </a:t>
                </a:r>
                <a:r>
                  <a:rPr lang="zh-CN" altLang="en-US" sz="2400">
                    <a:solidFill>
                      <a:schemeClr val="tx1"/>
                    </a:solidFill>
                    <a:latin typeface="微软雅黑" panose="020B0503020204020204" charset="-122"/>
                    <a:ea typeface="微软雅黑" panose="020B0503020204020204" charset="-122"/>
                  </a:rPr>
                  <a:t>说明当</a:t>
                </a:r>
                <a14:m>
                  <m:oMath xmlns:m="http://schemas.openxmlformats.org/officeDocument/2006/math">
                    <m:d>
                      <m:dPr>
                        <m:begChr m:val="〈"/>
                        <m:endChr m:val="〉"/>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dPr>
                      <m:e>
                        <m:d>
                          <m:d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d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𝐼</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d>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d>
                              <m:d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d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𝐼</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d>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𝑇</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 </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𝐺</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𝐺</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e>
                    </m:d>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&gt;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0</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的时候，</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𝐺</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会呈现出对角块矩阵的性质，该性质对应着特征空间是不坍缩的，隶属于不同的特征空间向量之间内积为</a:t>
                </a:r>
                <a:r>
                  <a:rPr lang="en-US" altLang="zh-CN" sz="2400">
                    <a:solidFill>
                      <a:schemeClr val="tx1"/>
                    </a:solidFill>
                    <a:latin typeface="Cambria Math" panose="02040503050406030204" charset="0"/>
                    <a:ea typeface="微软雅黑" panose="020B0503020204020204" charset="-122"/>
                    <a:cs typeface="Cambria Math" panose="02040503050406030204" charset="0"/>
                  </a:rPr>
                  <a:t>0</a:t>
                </a:r>
                <a:r>
                  <a:rPr lang="zh-CN" altLang="en-US" sz="2400">
                    <a:solidFill>
                      <a:schemeClr val="tx1"/>
                    </a:solidFill>
                    <a:latin typeface="Cambria Math" panose="02040503050406030204" charset="0"/>
                    <a:ea typeface="微软雅黑" panose="020B0503020204020204" charset="-122"/>
                    <a:cs typeface="Cambria Math" panose="02040503050406030204" charset="0"/>
                  </a:rPr>
                  <a:t>，同属的则内积</a:t>
                </a:r>
                <a:r>
                  <a:rPr lang="zh-CN" altLang="en-US" sz="2400">
                    <a:solidFill>
                      <a:schemeClr val="tx1"/>
                    </a:solidFill>
                    <a:latin typeface="Cambria Math" panose="02040503050406030204" charset="0"/>
                    <a:ea typeface="微软雅黑" panose="020B0503020204020204" charset="-122"/>
                    <a:cs typeface="Cambria Math" panose="02040503050406030204" charset="0"/>
                  </a:rPr>
                  <a:t>较大。</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3" name="TextBox 30"/>
              <p:cNvSpPr txBox="1">
                <a:spLocks noRot="1" noChangeAspect="1" noMove="1" noResize="1" noEditPoints="1" noAdjustHandles="1" noChangeArrowheads="1" noChangeShapeType="1" noTextEdit="1"/>
              </p:cNvSpPr>
              <p:nvPr>
                <p:custDataLst>
                  <p:tags r:id="rId6"/>
                </p:custDataLst>
              </p:nvPr>
            </p:nvSpPr>
            <p:spPr>
              <a:xfrm>
                <a:off x="609600" y="4621530"/>
                <a:ext cx="15503525" cy="1107440"/>
              </a:xfrm>
              <a:prstGeom prst="rect">
                <a:avLst/>
              </a:prstGeom>
              <a:blipFill rotWithShape="1">
                <a:blip r:embed="rId7"/>
                <a:stretch>
                  <a:fillRect/>
                </a:stretch>
              </a:blipFill>
            </p:spPr>
            <p:txBody>
              <a:bodyPr/>
              <a:lstStyle/>
              <a:p>
                <a:r>
                  <a:rPr lang="zh-CN" altLang="en-US">
                    <a:noFill/>
                  </a:rPr>
                  <a:t> </a:t>
                </a:r>
              </a:p>
            </p:txBody>
          </p:sp>
        </mc:Fallback>
      </mc:AlternateContent>
      <p:grpSp>
        <p:nvGrpSpPr>
          <p:cNvPr id="12" name="组合 11"/>
          <p:cNvGrpSpPr/>
          <p:nvPr/>
        </p:nvGrpSpPr>
        <p:grpSpPr>
          <a:xfrm>
            <a:off x="609600" y="5793740"/>
            <a:ext cx="12437745" cy="4069715"/>
            <a:chOff x="3877" y="9022"/>
            <a:chExt cx="18658" cy="5678"/>
          </a:xfrm>
        </p:grpSpPr>
        <p:pic>
          <p:nvPicPr>
            <p:cNvPr id="4" name="图片 3"/>
            <p:cNvPicPr>
              <a:picLocks noChangeAspect="1"/>
            </p:cNvPicPr>
            <p:nvPr/>
          </p:nvPicPr>
          <p:blipFill>
            <a:blip r:embed="rId8"/>
            <a:srcRect b="15254"/>
            <a:stretch>
              <a:fillRect/>
            </a:stretch>
          </p:blipFill>
          <p:spPr>
            <a:xfrm>
              <a:off x="3877" y="9022"/>
              <a:ext cx="18658" cy="5678"/>
            </a:xfrm>
            <a:prstGeom prst="rect">
              <a:avLst/>
            </a:prstGeom>
          </p:spPr>
        </p:pic>
        <p:sp>
          <p:nvSpPr>
            <p:cNvPr id="11" name="矩形 10"/>
            <p:cNvSpPr/>
            <p:nvPr/>
          </p:nvSpPr>
          <p:spPr>
            <a:xfrm>
              <a:off x="18840" y="14100"/>
              <a:ext cx="3600" cy="600"/>
            </a:xfrm>
            <a:prstGeom prst="rect">
              <a:avLst/>
            </a:prstGeom>
            <a:solidFill>
              <a:srgbClr val="FFFFFF"/>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6" name="组合 15"/>
          <p:cNvGrpSpPr/>
          <p:nvPr/>
        </p:nvGrpSpPr>
        <p:grpSpPr>
          <a:xfrm>
            <a:off x="13106400" y="5784215"/>
            <a:ext cx="4932680" cy="4089400"/>
            <a:chOff x="20640" y="9109"/>
            <a:chExt cx="7768" cy="6440"/>
          </a:xfrm>
        </p:grpSpPr>
        <p:pic>
          <p:nvPicPr>
            <p:cNvPr id="14" name="图片 13"/>
            <p:cNvPicPr>
              <a:picLocks noChangeAspect="1"/>
            </p:cNvPicPr>
            <p:nvPr/>
          </p:nvPicPr>
          <p:blipFill>
            <a:blip r:embed="rId9"/>
            <a:stretch>
              <a:fillRect/>
            </a:stretch>
          </p:blipFill>
          <p:spPr>
            <a:xfrm>
              <a:off x="20640" y="9109"/>
              <a:ext cx="7768" cy="6440"/>
            </a:xfrm>
            <a:prstGeom prst="rect">
              <a:avLst/>
            </a:prstGeom>
          </p:spPr>
        </p:pic>
        <p:sp>
          <p:nvSpPr>
            <p:cNvPr id="15" name="矩形 14"/>
            <p:cNvSpPr/>
            <p:nvPr/>
          </p:nvSpPr>
          <p:spPr>
            <a:xfrm>
              <a:off x="24720" y="15180"/>
              <a:ext cx="3592" cy="369"/>
            </a:xfrm>
            <a:prstGeom prst="rect">
              <a:avLst/>
            </a:prstGeom>
            <a:solidFill>
              <a:srgbClr val="FFFFFF"/>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sp>
        <p:nvSpPr>
          <p:cNvPr id="3" name="TextBox 30"/>
          <p:cNvSpPr txBox="1"/>
          <p:nvPr>
            <p:custDataLst>
              <p:tags r:id="rId4"/>
            </p:custDataLst>
          </p:nvPr>
        </p:nvSpPr>
        <p:spPr>
          <a:xfrm>
            <a:off x="609600" y="866013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从图中可以看出</a:t>
            </a:r>
            <a:r>
              <a:rPr lang="en-US" altLang="zh-CN" sz="2400">
                <a:solidFill>
                  <a:schemeClr val="tx1"/>
                </a:solidFill>
                <a:latin typeface="Cambria Math" panose="02040503050406030204" charset="0"/>
                <a:ea typeface="微软雅黑" panose="020B0503020204020204" charset="-122"/>
                <a:cs typeface="Cambria Math" panose="02040503050406030204" charset="0"/>
              </a:rPr>
              <a:t>SEDSC</a:t>
            </a:r>
            <a:r>
              <a:rPr lang="zh-CN" altLang="en-US" sz="2400">
                <a:solidFill>
                  <a:schemeClr val="tx1"/>
                </a:solidFill>
                <a:latin typeface="Cambria Math" panose="02040503050406030204" charset="0"/>
                <a:ea typeface="微软雅黑" panose="020B0503020204020204" charset="-122"/>
                <a:cs typeface="Cambria Math" panose="02040503050406030204" charset="0"/>
              </a:rPr>
              <a:t>明显会出现探索现象，而</a:t>
            </a:r>
            <a:r>
              <a:rPr lang="en-US" altLang="zh-CN" sz="2400">
                <a:solidFill>
                  <a:schemeClr val="tx1"/>
                </a:solidFill>
                <a:latin typeface="Cambria Math" panose="02040503050406030204" charset="0"/>
                <a:ea typeface="微软雅黑" panose="020B0503020204020204" charset="-122"/>
                <a:cs typeface="Cambria Math" panose="02040503050406030204" charset="0"/>
              </a:rPr>
              <a:t>PRO-DSC</a:t>
            </a:r>
            <a:r>
              <a:rPr lang="zh-CN" altLang="en-US" sz="2400">
                <a:solidFill>
                  <a:schemeClr val="tx1"/>
                </a:solidFill>
                <a:latin typeface="Cambria Math" panose="02040503050406030204" charset="0"/>
                <a:ea typeface="微软雅黑" panose="020B0503020204020204" charset="-122"/>
                <a:cs typeface="Cambria Math" panose="02040503050406030204" charset="0"/>
              </a:rPr>
              <a:t>可以将数据点正确地划分到正交子空间</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sp>
        <p:nvSpPr>
          <p:cNvPr id="6" name="TextBox 30"/>
          <p:cNvSpPr txBox="1"/>
          <p:nvPr>
            <p:custDataLst>
              <p:tags r:id="rId5"/>
            </p:custDataLst>
          </p:nvPr>
        </p:nvSpPr>
        <p:spPr>
          <a:xfrm>
            <a:off x="609600" y="2095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6"/>
          <a:stretch>
            <a:fillRect/>
          </a:stretch>
        </p:blipFill>
        <p:spPr>
          <a:xfrm>
            <a:off x="1600200" y="2781300"/>
            <a:ext cx="14065885" cy="5864225"/>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4"/>
            </p:custDataLst>
          </p:nvPr>
        </p:nvSpPr>
        <p:spPr>
          <a:xfrm>
            <a:off x="609600" y="2095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5"/>
          <a:stretch>
            <a:fillRect/>
          </a:stretch>
        </p:blipFill>
        <p:spPr>
          <a:xfrm>
            <a:off x="609600" y="3162300"/>
            <a:ext cx="16823055" cy="609854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9" name="TextBox 30"/>
          <p:cNvSpPr txBox="1"/>
          <p:nvPr>
            <p:custDataLst>
              <p:tags r:id="rId3"/>
            </p:custDataLst>
          </p:nvPr>
        </p:nvSpPr>
        <p:spPr>
          <a:xfrm>
            <a:off x="609600" y="10287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EXPLORING A PRINCIPLED FRAMEWORK FOR DEEP SUBSPACE CLUSTERING (PRO-DSC)</a:t>
            </a:r>
            <a:endParaRPr lang="en-US" altLang="zh-CN" sz="3600" b="1">
              <a:solidFill>
                <a:schemeClr val="tx1"/>
              </a:solidFill>
              <a:latin typeface="微软雅黑" panose="020B0503020204020204" charset="-122"/>
              <a:ea typeface="微软雅黑" panose="020B0503020204020204" charset="-122"/>
            </a:endParaRPr>
          </a:p>
        </p:txBody>
      </p:sp>
      <p:sp>
        <p:nvSpPr>
          <p:cNvPr id="6" name="TextBox 30"/>
          <p:cNvSpPr txBox="1"/>
          <p:nvPr>
            <p:custDataLst>
              <p:tags r:id="rId4"/>
            </p:custDataLst>
          </p:nvPr>
        </p:nvSpPr>
        <p:spPr>
          <a:xfrm>
            <a:off x="609600" y="2095500"/>
            <a:ext cx="15503525" cy="553720"/>
          </a:xfrm>
          <a:prstGeom prst="rect">
            <a:avLst/>
          </a:prstGeom>
        </p:spPr>
        <p:txBody>
          <a:bodyPr wrap="square" lIns="0" tIns="0" rIns="0" bIns="0" rtlCol="0" anchor="t">
            <a:spAutoFit/>
          </a:bodyPr>
          <a:lstStyle/>
          <a:p>
            <a:pPr algn="l">
              <a:lnSpc>
                <a:spcPts val="4320"/>
              </a:lnSpc>
              <a:buClrTx/>
              <a:buSzTx/>
              <a:buFontTx/>
            </a:pPr>
            <a:r>
              <a:rPr lang="zh-CN" altLang="en-US" sz="2400" b="1">
                <a:solidFill>
                  <a:schemeClr val="tx1"/>
                </a:solidFill>
                <a:latin typeface="微软雅黑" panose="020B0503020204020204" charset="-122"/>
                <a:ea typeface="微软雅黑" panose="020B0503020204020204" charset="-122"/>
              </a:rPr>
              <a:t>实验部分</a:t>
            </a:r>
            <a:endParaRPr lang="zh-CN" altLang="en-US" sz="2400" b="1">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5"/>
          <a:stretch>
            <a:fillRect/>
          </a:stretch>
        </p:blipFill>
        <p:spPr>
          <a:xfrm>
            <a:off x="2895600" y="2705100"/>
            <a:ext cx="11250295" cy="2462530"/>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5105336" y="5223764"/>
                <a:ext cx="5868670" cy="77660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r>
                        <a:rPr lang="en-US" altLang="zh-CN" sz="2400" i="1">
                          <a:latin typeface="Cambria Math" panose="02040503050406030204" charset="0"/>
                          <a:cs typeface="Cambria Math" panose="02040503050406030204" charset="0"/>
                        </a:rPr>
                        <m:t>=</m:t>
                      </m:r>
                      <m:f>
                        <m:fPr>
                          <m:ctrlPr>
                            <a:rPr lang="en-US" altLang="zh-CN" sz="2400" i="1">
                              <a:latin typeface="Cambria Math" panose="02040503050406030204" charset="0"/>
                              <a:cs typeface="Cambria Math" panose="02040503050406030204" charset="0"/>
                            </a:rPr>
                          </m:ctrlPr>
                        </m:fPr>
                        <m:num>
                          <m:r>
                            <a:rPr lang="en-US" altLang="zh-CN" sz="2400" i="1">
                              <a:latin typeface="Cambria Math" panose="02040503050406030204" charset="0"/>
                              <a:cs typeface="Cambria Math" panose="02040503050406030204" charset="0"/>
                            </a:rPr>
                            <m:t>1</m:t>
                          </m:r>
                        </m:num>
                        <m:den>
                          <m:r>
                            <a:rPr lang="en-US" altLang="zh-CN" sz="2400" i="1">
                              <a:latin typeface="Cambria Math" panose="02040503050406030204" charset="0"/>
                              <a:cs typeface="Cambria Math" panose="02040503050406030204" charset="0"/>
                            </a:rPr>
                            <m:t>2</m:t>
                          </m:r>
                        </m:den>
                      </m:f>
                      <m:d>
                        <m:dPr>
                          <m:ctrlPr>
                            <a:rPr lang="en-US" altLang="zh-CN" sz="2400" i="1">
                              <a:latin typeface="Cambria Math" panose="02040503050406030204" charset="0"/>
                              <a:cs typeface="Cambria Math" panose="02040503050406030204" charset="0"/>
                            </a:rPr>
                          </m:ctrlPr>
                        </m:dPr>
                        <m:e>
                          <m:d>
                            <m:dPr>
                              <m:begChr m:val="|"/>
                              <m:endChr m:val="|"/>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Sub>
                            </m:e>
                          </m:d>
                          <m:r>
                            <a:rPr lang="en-US" altLang="zh-CN" sz="2400" i="1">
                              <a:latin typeface="Cambria Math" panose="02040503050406030204" charset="0"/>
                              <a:cs typeface="Cambria Math" panose="02040503050406030204" charset="0"/>
                            </a:rPr>
                            <m:t>+</m:t>
                          </m:r>
                          <m:d>
                            <m:dPr>
                              <m:begChr m:val="|"/>
                              <m:endChr m:val="|"/>
                              <m:ctrlPr>
                                <a:rPr lang="en-US" altLang="zh-CN" sz="2400" i="1">
                                  <a:latin typeface="Cambria Math" panose="02040503050406030204" charset="0"/>
                                  <a:cs typeface="Cambria Math" panose="02040503050406030204" charset="0"/>
                                </a:rPr>
                              </m:ctrlPr>
                            </m:dPr>
                            <m:e>
                              <m:sSubSup>
                                <m:sSubSupPr>
                                  <m:ctrlPr>
                                    <a:rPr lang="en-US" altLang="zh-CN" sz="2400" i="1">
                                      <a:latin typeface="Cambria Math" panose="02040503050406030204" charset="0"/>
                                      <a:cs typeface="Cambria Math" panose="02040503050406030204" charset="0"/>
                                    </a:rPr>
                                  </m:ctrlPr>
                                </m:sSubSup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up>
                                  <m:r>
                                    <a:rPr lang="en-US" altLang="zh-CN" sz="2400" i="1">
                                      <a:latin typeface="Cambria Math" panose="02040503050406030204" charset="0"/>
                                      <a:cs typeface="Cambria Math" panose="02040503050406030204" charset="0"/>
                                    </a:rPr>
                                    <m:t>𝑇</m:t>
                                  </m:r>
                                </m:sup>
                              </m:sSubSup>
                            </m:e>
                          </m:d>
                        </m:e>
                      </m:d>
                      <m:r>
                        <a:rPr lang="en-US" altLang="zh-CN" sz="2400" i="1">
                          <a:latin typeface="Cambria Math" panose="02040503050406030204" charset="0"/>
                          <a:cs typeface="Cambria Math" panose="02040503050406030204" charset="0"/>
                        </a:rPr>
                        <m:t>,   </m:t>
                      </m:r>
                      <m:r>
                        <a:rPr lang="en-US" altLang="zh-CN" sz="2400" i="1">
                          <a:latin typeface="Cambria Math" panose="02040503050406030204" charset="0"/>
                          <a:cs typeface="Cambria Math" panose="02040503050406030204" charset="0"/>
                        </a:rPr>
                        <m:t>𝑟</m:t>
                      </m:r>
                      <m:d>
                        <m:dPr>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Sub>
                        </m:e>
                      </m:d>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charset="0"/>
                              <a:cs typeface="Cambria Math" panose="02040503050406030204" charset="0"/>
                            </a:rPr>
                          </m:ctrlPr>
                        </m:sSubPr>
                        <m:e>
                          <m:d>
                            <m:dPr>
                              <m:begChr m:val="‖"/>
                              <m:endChr m:val="‖"/>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e>
                          </m:d>
                        </m:e>
                        <m:sub>
                          <m:r>
                            <a:rPr lang="en-US" altLang="zh-CN" sz="2400" i="1">
                              <a:latin typeface="Cambria Math" panose="02040503050406030204" charset="0"/>
                              <a:cs typeface="Cambria Math" panose="02040503050406030204" charset="0"/>
                            </a:rPr>
                            <m:t>𝜅</m:t>
                          </m:r>
                        </m:sub>
                      </m:sSub>
                    </m:oMath>
                  </m:oMathPara>
                </a14:m>
                <a:endParaRPr lang="en-US" altLang="zh-CN" sz="2400" i="1">
                  <a:latin typeface="Cambria Math" panose="02040503050406030204" charset="0"/>
                  <a:cs typeface="Cambria Math" panose="02040503050406030204"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5105336" y="5223764"/>
                <a:ext cx="5868670" cy="776605"/>
              </a:xfrm>
              <a:prstGeom prst="rect">
                <a:avLst/>
              </a:prstGeom>
              <a:blipFill rotWithShape="1">
                <a:blip r:embed="rId6"/>
                <a:stretch>
                  <a:fillRect l="-10" t="-33" r="10"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TextBox 30"/>
              <p:cNvSpPr txBox="1"/>
              <p:nvPr>
                <p:custDataLst>
                  <p:tags r:id="rId7"/>
                </p:custDataLst>
              </p:nvPr>
            </p:nvSpPr>
            <p:spPr>
              <a:xfrm>
                <a:off x="609600" y="5916930"/>
                <a:ext cx="15503525" cy="1107440"/>
              </a:xfrm>
              <a:prstGeom prst="rect">
                <a:avLst/>
              </a:prstGeom>
            </p:spPr>
            <p:txBody>
              <a:bodyPr wrap="square" lIns="0" tIns="0" rIns="0" bIns="0" rtlCol="0" anchor="t">
                <a:spAutoFit/>
              </a:bodyPr>
              <a:lstStyle/>
              <a:p>
                <a:pPr algn="l">
                  <a:lnSpc>
                    <a:spcPts val="4320"/>
                  </a:lnSpc>
                  <a:buClrTx/>
                  <a:buSzTx/>
                  <a:buFontTx/>
                </a:pPr>
                <a14:m>
                  <m:oMath xmlns:m="http://schemas.openxmlformats.org/officeDocument/2006/math">
                    <m:r>
                      <a:rPr lang="en-US" altLang="zh-CN" sz="2400" i="1">
                        <a:latin typeface="Cambria Math" panose="02040503050406030204" charset="0"/>
                        <a:cs typeface="Cambria Math" panose="02040503050406030204" charset="0"/>
                      </a:rPr>
                      <m:t>𝑟</m:t>
                    </m:r>
                    <m:d>
                      <m:dPr>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𝐶</m:t>
                            </m:r>
                          </m:e>
                          <m:sub>
                            <m:r>
                              <a:rPr lang="en-US" altLang="zh-CN" sz="2400" i="1">
                                <a:latin typeface="Cambria Math" panose="02040503050406030204" charset="0"/>
                                <a:cs typeface="Cambria Math" panose="02040503050406030204" charset="0"/>
                              </a:rPr>
                              <m:t>𝛹</m:t>
                            </m:r>
                          </m:sub>
                        </m:sSub>
                      </m:e>
                    </m:d>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是关于系数矩阵的正则化器，以上形式是对系数矩阵施加块对角的正则化，</a:t>
                </a:r>
                <a14:m>
                  <m:oMath xmlns:m="http://schemas.openxmlformats.org/officeDocument/2006/math">
                    <m:sSub>
                      <m:sSubPr>
                        <m:ctrlPr>
                          <a:rPr lang="en-US" altLang="zh-CN" sz="2400" i="1">
                            <a:latin typeface="Cambria Math" panose="02040503050406030204" charset="0"/>
                            <a:cs typeface="Cambria Math" panose="02040503050406030204" charset="0"/>
                          </a:rPr>
                        </m:ctrlPr>
                      </m:sSubPr>
                      <m:e>
                        <m:d>
                          <m:dPr>
                            <m:begChr m:val="‖"/>
                            <m:endChr m:val="‖"/>
                            <m:ctrlPr>
                              <a:rPr lang="en-US" altLang="zh-CN" sz="2400" i="1">
                                <a:latin typeface="Cambria Math" panose="02040503050406030204" charset="0"/>
                                <a:cs typeface="Cambria Math" panose="02040503050406030204" charset="0"/>
                              </a:rPr>
                            </m:ctrlPr>
                          </m:dPr>
                          <m:e>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e>
                        </m:d>
                      </m:e>
                      <m:sub>
                        <m:r>
                          <a:rPr lang="en-US" altLang="zh-CN" sz="2400" i="1">
                            <a:latin typeface="Cambria Math" panose="02040503050406030204" charset="0"/>
                            <a:cs typeface="Cambria Math" panose="02040503050406030204" charset="0"/>
                          </a:rPr>
                          <m:t>𝜅</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指</a:t>
                </a:r>
                <a14:m>
                  <m:oMath xmlns:m="http://schemas.openxmlformats.org/officeDocument/2006/math">
                    <m:sSub>
                      <m:sSubPr>
                        <m:ctrlPr>
                          <a:rPr lang="en-US" altLang="zh-CN" sz="2400" i="1">
                            <a:latin typeface="Cambria Math" panose="02040503050406030204" charset="0"/>
                            <a:cs typeface="Cambria Math" panose="02040503050406030204" charset="0"/>
                          </a:rPr>
                        </m:ctrlPr>
                      </m:sSub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𝛹</m:t>
                        </m:r>
                      </m:sub>
                    </m:sSub>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拉普拉斯矩阵的第</a:t>
                </a:r>
                <a14:m>
                  <m:oMath xmlns:m="http://schemas.openxmlformats.org/officeDocument/2006/math">
                    <m:r>
                      <a:rPr lang="en-US" altLang="zh-CN" sz="2400" i="1">
                        <a:latin typeface="Cambria Math" panose="02040503050406030204" charset="0"/>
                        <a:cs typeface="Cambria Math" panose="02040503050406030204" charset="0"/>
                      </a:rPr>
                      <m:t>𝜅</m:t>
                    </m:r>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小的</a:t>
                </a:r>
                <a:r>
                  <a:rPr lang="zh-CN" altLang="en-US" sz="2400">
                    <a:solidFill>
                      <a:schemeClr val="tx1"/>
                    </a:solidFill>
                    <a:latin typeface="Cambria Math" panose="02040503050406030204" charset="0"/>
                    <a:ea typeface="微软雅黑" panose="020B0503020204020204" charset="-122"/>
                    <a:cs typeface="Cambria Math" panose="02040503050406030204" charset="0"/>
                  </a:rPr>
                  <a:t>特征值。</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8"/>
                </p:custDataLst>
              </p:nvPr>
            </p:nvSpPr>
            <p:spPr>
              <a:xfrm>
                <a:off x="609600" y="5916930"/>
                <a:ext cx="15503525" cy="1107440"/>
              </a:xfrm>
              <a:prstGeom prst="rect">
                <a:avLst/>
              </a:prstGeom>
              <a:blipFill rotWithShape="1">
                <a:blip r:embed="rId9"/>
                <a:stretch>
                  <a:fillRect/>
                </a:stretch>
              </a:blipFill>
            </p:spPr>
            <p:txBody>
              <a:bodyPr/>
              <a:lstStyle/>
              <a:p>
                <a:r>
                  <a:rPr lang="zh-CN" altLang="en-US">
                    <a:noFill/>
                  </a:rPr>
                  <a:t> </a:t>
                </a:r>
              </a:p>
            </p:txBody>
          </p:sp>
        </mc:Fallback>
      </mc:AlternateContent>
      <p:pic>
        <p:nvPicPr>
          <p:cNvPr id="7" name="图片 6"/>
          <p:cNvPicPr>
            <a:picLocks noChangeAspect="1"/>
          </p:cNvPicPr>
          <p:nvPr/>
        </p:nvPicPr>
        <p:blipFill>
          <a:blip r:embed="rId10"/>
          <a:stretch>
            <a:fillRect/>
          </a:stretch>
        </p:blipFill>
        <p:spPr>
          <a:xfrm>
            <a:off x="4038600" y="7024370"/>
            <a:ext cx="9178290" cy="300228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91" name="Freeform 35"/>
          <p:cNvSpPr/>
          <p:nvPr>
            <p:custDataLst>
              <p:tags r:id="rId1"/>
            </p:custDataLst>
          </p:nvPr>
        </p:nvSpPr>
        <p:spPr>
          <a:xfrm>
            <a:off x="0" y="1"/>
            <a:ext cx="3624132" cy="2858674"/>
          </a:xfrm>
          <a:custGeom>
            <a:avLst/>
            <a:gdLst/>
            <a:ahLst/>
            <a:cxnLst/>
            <a:rect l="l" t="t" r="r" b="b"/>
            <a:pathLst>
              <a:path w="3624132" h="2858674">
                <a:moveTo>
                  <a:pt x="0" y="0"/>
                </a:moveTo>
                <a:lnTo>
                  <a:pt x="3624132" y="0"/>
                </a:lnTo>
                <a:lnTo>
                  <a:pt x="3624132" y="2858675"/>
                </a:lnTo>
                <a:lnTo>
                  <a:pt x="0" y="28586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 name="Group 2"/>
          <p:cNvGrpSpPr/>
          <p:nvPr/>
        </p:nvGrpSpPr>
        <p:grpSpPr>
          <a:xfrm>
            <a:off x="13120137" y="4702694"/>
            <a:ext cx="881613" cy="881613"/>
            <a:chOff x="0" y="0"/>
            <a:chExt cx="1175484" cy="1175484"/>
          </a:xfrm>
        </p:grpSpPr>
        <p:sp>
          <p:nvSpPr>
            <p:cNvPr id="3" name="Freeform 3"/>
            <p:cNvSpPr/>
            <p:nvPr/>
          </p:nvSpPr>
          <p:spPr>
            <a:xfrm>
              <a:off x="0" y="0"/>
              <a:ext cx="1175512" cy="1175512"/>
            </a:xfrm>
            <a:custGeom>
              <a:avLst/>
              <a:gdLst/>
              <a:ahLst/>
              <a:cxnLst/>
              <a:rect l="l" t="t" r="r" b="b"/>
              <a:pathLst>
                <a:path w="1175512" h="1175512">
                  <a:moveTo>
                    <a:pt x="0" y="587756"/>
                  </a:moveTo>
                  <a:cubicBezTo>
                    <a:pt x="0" y="263144"/>
                    <a:pt x="263144" y="0"/>
                    <a:pt x="587756" y="0"/>
                  </a:cubicBezTo>
                  <a:cubicBezTo>
                    <a:pt x="912368" y="0"/>
                    <a:pt x="1175512" y="263144"/>
                    <a:pt x="1175512" y="587756"/>
                  </a:cubicBezTo>
                  <a:cubicBezTo>
                    <a:pt x="1175512" y="912368"/>
                    <a:pt x="912368" y="1175512"/>
                    <a:pt x="587756" y="1175512"/>
                  </a:cubicBezTo>
                  <a:cubicBezTo>
                    <a:pt x="263144" y="1175512"/>
                    <a:pt x="0" y="912368"/>
                    <a:pt x="0" y="587756"/>
                  </a:cubicBezTo>
                  <a:close/>
                </a:path>
              </a:pathLst>
            </a:custGeom>
            <a:solidFill>
              <a:srgbClr val="FFFFFF"/>
            </a:solidFill>
          </p:spPr>
        </p:sp>
      </p:grpSp>
      <p:sp>
        <p:nvSpPr>
          <p:cNvPr id="4" name="Freeform 4"/>
          <p:cNvSpPr/>
          <p:nvPr/>
        </p:nvSpPr>
        <p:spPr>
          <a:xfrm>
            <a:off x="0" y="7739793"/>
            <a:ext cx="4166946" cy="2547208"/>
          </a:xfrm>
          <a:custGeom>
            <a:avLst/>
            <a:gdLst/>
            <a:ahLst/>
            <a:cxnLst/>
            <a:rect l="l" t="t" r="r" b="b"/>
            <a:pathLst>
              <a:path w="4166946" h="2547208">
                <a:moveTo>
                  <a:pt x="0" y="0"/>
                </a:moveTo>
                <a:lnTo>
                  <a:pt x="4166946" y="0"/>
                </a:lnTo>
                <a:lnTo>
                  <a:pt x="4166946" y="2547208"/>
                </a:lnTo>
                <a:lnTo>
                  <a:pt x="0" y="25472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5351812" y="7673386"/>
            <a:ext cx="2936188" cy="2613614"/>
          </a:xfrm>
          <a:custGeom>
            <a:avLst/>
            <a:gdLst/>
            <a:ahLst/>
            <a:cxnLst/>
            <a:rect l="l" t="t" r="r" b="b"/>
            <a:pathLst>
              <a:path w="2936188" h="2613614">
                <a:moveTo>
                  <a:pt x="0" y="0"/>
                </a:moveTo>
                <a:lnTo>
                  <a:pt x="2936188" y="0"/>
                </a:lnTo>
                <a:lnTo>
                  <a:pt x="2936188" y="2613614"/>
                </a:lnTo>
                <a:lnTo>
                  <a:pt x="0" y="26136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806348" y="-9525"/>
            <a:ext cx="3491176" cy="2688062"/>
          </a:xfrm>
          <a:custGeom>
            <a:avLst/>
            <a:gdLst/>
            <a:ahLst/>
            <a:cxnLst/>
            <a:rect l="l" t="t" r="r" b="b"/>
            <a:pathLst>
              <a:path w="3491176" h="2688062">
                <a:moveTo>
                  <a:pt x="0" y="0"/>
                </a:moveTo>
                <a:lnTo>
                  <a:pt x="3491177" y="0"/>
                </a:lnTo>
                <a:lnTo>
                  <a:pt x="3491177" y="2688062"/>
                </a:lnTo>
                <a:lnTo>
                  <a:pt x="0" y="26880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14881124" y="492074"/>
            <a:ext cx="663678" cy="663678"/>
            <a:chOff x="0" y="0"/>
            <a:chExt cx="884904" cy="884904"/>
          </a:xfrm>
        </p:grpSpPr>
        <p:sp>
          <p:nvSpPr>
            <p:cNvPr id="8" name="Freeform 8"/>
            <p:cNvSpPr/>
            <p:nvPr/>
          </p:nvSpPr>
          <p:spPr>
            <a:xfrm>
              <a:off x="0" y="0"/>
              <a:ext cx="884936" cy="884936"/>
            </a:xfrm>
            <a:custGeom>
              <a:avLst/>
              <a:gdLst/>
              <a:ahLst/>
              <a:cxnLst/>
              <a:rect l="l" t="t" r="r" b="b"/>
              <a:pathLst>
                <a:path w="884936" h="884936">
                  <a:moveTo>
                    <a:pt x="0" y="442468"/>
                  </a:moveTo>
                  <a:cubicBezTo>
                    <a:pt x="0" y="198120"/>
                    <a:pt x="198120" y="0"/>
                    <a:pt x="442468" y="0"/>
                  </a:cubicBezTo>
                  <a:cubicBezTo>
                    <a:pt x="686816" y="0"/>
                    <a:pt x="884936" y="198120"/>
                    <a:pt x="884936" y="442468"/>
                  </a:cubicBezTo>
                  <a:cubicBezTo>
                    <a:pt x="884936" y="686816"/>
                    <a:pt x="686816" y="884936"/>
                    <a:pt x="442468" y="884936"/>
                  </a:cubicBezTo>
                  <a:cubicBezTo>
                    <a:pt x="198120" y="884936"/>
                    <a:pt x="0" y="686816"/>
                    <a:pt x="0" y="442468"/>
                  </a:cubicBezTo>
                  <a:close/>
                </a:path>
              </a:pathLst>
            </a:custGeom>
            <a:solidFill>
              <a:srgbClr val="356AFF"/>
            </a:solidFill>
          </p:spPr>
        </p:sp>
      </p:grpSp>
      <p:sp>
        <p:nvSpPr>
          <p:cNvPr id="9" name="Freeform 9"/>
          <p:cNvSpPr/>
          <p:nvPr/>
        </p:nvSpPr>
        <p:spPr>
          <a:xfrm>
            <a:off x="1563274"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3750397" y="4944540"/>
            <a:ext cx="10787204" cy="1846580"/>
          </a:xfrm>
          <a:prstGeom prst="rect">
            <a:avLst/>
          </a:prstGeom>
        </p:spPr>
        <p:txBody>
          <a:bodyPr lIns="0" tIns="0" rIns="0" bIns="0" rtlCol="0" anchor="t">
            <a:spAutoFit/>
          </a:bodyPr>
          <a:lstStyle/>
          <a:p>
            <a:pPr algn="ctr">
              <a:lnSpc>
                <a:spcPts val="14400"/>
              </a:lnSpc>
            </a:pPr>
            <a:r>
              <a:rPr lang="zh-CN" altLang="en-US" sz="12000">
                <a:solidFill>
                  <a:srgbClr val="356AFF"/>
                </a:solidFill>
                <a:latin typeface="微软雅黑" panose="020B0503020204020204" charset="-122"/>
                <a:ea typeface="微软雅黑" panose="020B0503020204020204" charset="-122"/>
              </a:rPr>
              <a:t>疑问</a:t>
            </a:r>
            <a:r>
              <a:rPr lang="zh-CN" altLang="en-US" sz="12000">
                <a:solidFill>
                  <a:srgbClr val="356AFF"/>
                </a:solidFill>
                <a:latin typeface="微软雅黑" panose="020B0503020204020204" charset="-122"/>
                <a:ea typeface="微软雅黑" panose="020B0503020204020204" charset="-122"/>
              </a:rPr>
              <a:t>与思考</a:t>
            </a:r>
            <a:endParaRPr lang="zh-CN" altLang="en-US" sz="12000">
              <a:solidFill>
                <a:srgbClr val="356AFF"/>
              </a:solidFill>
              <a:latin typeface="微软雅黑" panose="020B0503020204020204" charset="-122"/>
              <a:ea typeface="微软雅黑" panose="020B0503020204020204" charset="-122"/>
            </a:endParaRPr>
          </a:p>
        </p:txBody>
      </p:sp>
      <p:sp>
        <p:nvSpPr>
          <p:cNvPr id="11" name="TextBox 11"/>
          <p:cNvSpPr txBox="1"/>
          <p:nvPr/>
        </p:nvSpPr>
        <p:spPr>
          <a:xfrm>
            <a:off x="4628964" y="2390905"/>
            <a:ext cx="9030070" cy="2654300"/>
          </a:xfrm>
          <a:prstGeom prst="rect">
            <a:avLst/>
          </a:prstGeom>
        </p:spPr>
        <p:txBody>
          <a:bodyPr lIns="0" tIns="0" rIns="0" bIns="0" rtlCol="0" anchor="t">
            <a:spAutoFit/>
          </a:bodyPr>
          <a:lstStyle/>
          <a:p>
            <a:pPr algn="ctr">
              <a:lnSpc>
                <a:spcPts val="20700"/>
              </a:lnSpc>
            </a:pPr>
            <a:r>
              <a:rPr lang="en-US" sz="17250">
                <a:solidFill>
                  <a:srgbClr val="8497B0"/>
                </a:solidFill>
                <a:latin typeface="Montserrat Ultra-Bold" panose="00000900000000000000"/>
              </a:rPr>
              <a:t>04</a:t>
            </a:r>
            <a:endParaRPr lang="en-US" sz="17250">
              <a:solidFill>
                <a:srgbClr val="8497B0"/>
              </a:solidFill>
              <a:latin typeface="Montserrat Ultra-Bold" panose="00000900000000000000"/>
            </a:endParaRPr>
          </a:p>
        </p:txBody>
      </p:sp>
      <p:grpSp>
        <p:nvGrpSpPr>
          <p:cNvPr id="13" name="Group 13"/>
          <p:cNvGrpSpPr/>
          <p:nvPr/>
        </p:nvGrpSpPr>
        <p:grpSpPr>
          <a:xfrm>
            <a:off x="17352170" y="2226470"/>
            <a:ext cx="439840" cy="439840"/>
            <a:chOff x="0" y="0"/>
            <a:chExt cx="586454" cy="586454"/>
          </a:xfrm>
        </p:grpSpPr>
        <p:sp>
          <p:nvSpPr>
            <p:cNvPr id="14" name="Freeform 14"/>
            <p:cNvSpPr/>
            <p:nvPr/>
          </p:nvSpPr>
          <p:spPr>
            <a:xfrm>
              <a:off x="0" y="0"/>
              <a:ext cx="586486" cy="586486"/>
            </a:xfrm>
            <a:custGeom>
              <a:avLst/>
              <a:gdLst/>
              <a:ahLst/>
              <a:cxnLst/>
              <a:rect l="l" t="t" r="r" b="b"/>
              <a:pathLst>
                <a:path w="586486" h="586486">
                  <a:moveTo>
                    <a:pt x="0" y="293243"/>
                  </a:moveTo>
                  <a:cubicBezTo>
                    <a:pt x="0" y="131318"/>
                    <a:pt x="131318" y="0"/>
                    <a:pt x="293243" y="0"/>
                  </a:cubicBezTo>
                  <a:cubicBezTo>
                    <a:pt x="455168" y="0"/>
                    <a:pt x="586486" y="131318"/>
                    <a:pt x="586486" y="293243"/>
                  </a:cubicBezTo>
                  <a:cubicBezTo>
                    <a:pt x="586486" y="455168"/>
                    <a:pt x="455168" y="586486"/>
                    <a:pt x="293243" y="586486"/>
                  </a:cubicBezTo>
                  <a:cubicBezTo>
                    <a:pt x="131318" y="586486"/>
                    <a:pt x="0" y="455168"/>
                    <a:pt x="0" y="293243"/>
                  </a:cubicBezTo>
                  <a:close/>
                </a:path>
              </a:pathLst>
            </a:custGeom>
            <a:solidFill>
              <a:srgbClr val="356AFF"/>
            </a:solidFill>
          </p:spPr>
        </p:sp>
      </p:grpSp>
      <p:grpSp>
        <p:nvGrpSpPr>
          <p:cNvPr id="16" name="Group 16"/>
          <p:cNvGrpSpPr/>
          <p:nvPr/>
        </p:nvGrpSpPr>
        <p:grpSpPr>
          <a:xfrm>
            <a:off x="15597742" y="8893346"/>
            <a:ext cx="569742" cy="569742"/>
            <a:chOff x="0" y="0"/>
            <a:chExt cx="759656" cy="759656"/>
          </a:xfrm>
        </p:grpSpPr>
        <p:sp>
          <p:nvSpPr>
            <p:cNvPr id="17" name="Freeform 17"/>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grpSp>
        <p:nvGrpSpPr>
          <p:cNvPr id="20" name="Group 20"/>
          <p:cNvGrpSpPr/>
          <p:nvPr/>
        </p:nvGrpSpPr>
        <p:grpSpPr>
          <a:xfrm>
            <a:off x="492919" y="7834312"/>
            <a:ext cx="885825" cy="885825"/>
            <a:chOff x="0" y="0"/>
            <a:chExt cx="1181100" cy="1181100"/>
          </a:xfrm>
        </p:grpSpPr>
        <p:sp>
          <p:nvSpPr>
            <p:cNvPr id="21" name="Freeform 21"/>
            <p:cNvSpPr/>
            <p:nvPr/>
          </p:nvSpPr>
          <p:spPr>
            <a:xfrm>
              <a:off x="0" y="0"/>
              <a:ext cx="1181100" cy="1181100"/>
            </a:xfrm>
            <a:custGeom>
              <a:avLst/>
              <a:gdLst/>
              <a:ahLst/>
              <a:cxnLst/>
              <a:rect l="l" t="t" r="r" b="b"/>
              <a:pathLst>
                <a:path w="1181100" h="1181100">
                  <a:moveTo>
                    <a:pt x="1181100" y="590550"/>
                  </a:moveTo>
                  <a:cubicBezTo>
                    <a:pt x="1181100" y="264414"/>
                    <a:pt x="916686" y="0"/>
                    <a:pt x="590550" y="0"/>
                  </a:cubicBezTo>
                  <a:cubicBezTo>
                    <a:pt x="264414" y="0"/>
                    <a:pt x="0" y="264414"/>
                    <a:pt x="0" y="590550"/>
                  </a:cubicBezTo>
                  <a:cubicBezTo>
                    <a:pt x="0" y="916686"/>
                    <a:pt x="264414" y="1181100"/>
                    <a:pt x="590550" y="1181100"/>
                  </a:cubicBezTo>
                  <a:cubicBezTo>
                    <a:pt x="916686" y="1181100"/>
                    <a:pt x="1181100" y="916686"/>
                    <a:pt x="1181100" y="590550"/>
                  </a:cubicBezTo>
                  <a:close/>
                </a:path>
              </a:pathLst>
            </a:custGeom>
            <a:solidFill>
              <a:srgbClr val="2C57D4"/>
            </a:solidFill>
          </p:spPr>
        </p:sp>
      </p:grpSp>
      <p:sp>
        <p:nvSpPr>
          <p:cNvPr id="190" name="Freeform 30"/>
          <p:cNvSpPr/>
          <p:nvPr>
            <p:custDataLst>
              <p:tags r:id="rId12"/>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13"/>
            <a:stretch>
              <a:fillRect/>
            </a:stretch>
          </a:blipFill>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1. DELVE</a:t>
            </a:r>
            <a:r>
              <a:rPr lang="zh-CN" altLang="en-US" sz="3600" b="1">
                <a:solidFill>
                  <a:schemeClr val="tx1"/>
                </a:solidFill>
                <a:latin typeface="微软雅黑" panose="020B0503020204020204" charset="-122"/>
                <a:ea typeface="微软雅黑" panose="020B0503020204020204" charset="-122"/>
              </a:rPr>
              <a:t>中的归一化</a:t>
            </a:r>
            <a:r>
              <a:rPr lang="zh-CN" altLang="en-US" sz="3600" b="1">
                <a:solidFill>
                  <a:schemeClr val="tx1"/>
                </a:solidFill>
                <a:latin typeface="微软雅黑" panose="020B0503020204020204" charset="-122"/>
                <a:ea typeface="微软雅黑" panose="020B0503020204020204" charset="-122"/>
              </a:rPr>
              <a:t>操作</a:t>
            </a:r>
            <a:endParaRPr lang="zh-CN" altLang="en-US" sz="3600" b="1">
              <a:solidFill>
                <a:schemeClr val="tx1"/>
              </a:solidFill>
              <a:latin typeface="微软雅黑" panose="020B0503020204020204" charset="-122"/>
              <a:ea typeface="微软雅黑" panose="020B0503020204020204" charset="-122"/>
            </a:endParaRPr>
          </a:p>
        </p:txBody>
      </p:sp>
      <mc:AlternateContent xmlns:mc="http://schemas.openxmlformats.org/markup-compatibility/2006">
        <mc:Choice xmlns:a14="http://schemas.microsoft.com/office/drawing/2010/main" Requires="a14">
          <p:sp>
            <p:nvSpPr>
              <p:cNvPr id="5" name="TextBox 30"/>
              <p:cNvSpPr txBox="1"/>
              <p:nvPr>
                <p:custDataLst>
                  <p:tags r:id="rId4"/>
                </p:custDataLst>
              </p:nvPr>
            </p:nvSpPr>
            <p:spPr>
              <a:xfrm>
                <a:off x="609600" y="1714500"/>
                <a:ext cx="15503525" cy="6094095"/>
              </a:xfrm>
              <a:prstGeom prst="rect">
                <a:avLst/>
              </a:prstGeom>
            </p:spPr>
            <p:txBody>
              <a:bodyPr wrap="square" lIns="0" tIns="0" rIns="0" bIns="0" rtlCol="0" anchor="t">
                <a:spAutoFit/>
              </a:bodyPr>
              <a:lstStyle/>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注意到自表达层中</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唯一的非线性操作即为基于</a:t>
                </a:r>
                <a:r>
                  <a:rPr lang="en-US" altLang="zh-CN" sz="2400" b="1">
                    <a:solidFill>
                      <a:srgbClr val="0070C0"/>
                    </a:solidFill>
                    <a:latin typeface="Cambria Math" panose="02040503050406030204" charset="0"/>
                    <a:ea typeface="微软雅黑" panose="020B0503020204020204" charset="-122"/>
                    <a:cs typeface="Cambria Math" panose="02040503050406030204" charset="0"/>
                  </a:rPr>
                  <a:t>L2</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范数的归一化操作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，如果没有该操作，那么则完全变为对于原数据矩阵</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的线性操作，而多个自表达层堆叠也就成了对原数据进行多次线性变换，即</a:t>
                </a:r>
                <a14:m>
                  <m:oMath xmlns:m="http://schemas.openxmlformats.org/officeDocument/2006/math">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𝐻</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𝑋</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𝑙</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Sup>
                      <m:sSupPr>
                        <m:ctrlPr>
                          <a:rPr lang="en-US" altLang="zh-CN" sz="2400" i="1">
                            <a:solidFill>
                              <a:schemeClr val="tx1"/>
                            </a:solidFill>
                            <a:latin typeface="Cambria Math" panose="02040503050406030204" charset="0"/>
                            <a:ea typeface="微软雅黑" panose="020B0503020204020204" charset="-122"/>
                            <a:cs typeface="Cambria Math" panose="02040503050406030204" charset="0"/>
                          </a:rPr>
                        </m:ctrlPr>
                      </m:sSupPr>
                      <m:e>
                        <m:r>
                          <a:rPr lang="en-US" altLang="zh-CN" sz="2400" i="1">
                            <a:solidFill>
                              <a:schemeClr val="tx1"/>
                            </a:solidFill>
                            <a:latin typeface="Cambria Math" panose="02040503050406030204" charset="0"/>
                            <a:ea typeface="微软雅黑" panose="020B0503020204020204" charset="-122"/>
                            <a:cs typeface="Cambria Math" panose="02040503050406030204" charset="0"/>
                          </a:rPr>
                          <m:t>𝐶</m:t>
                        </m:r>
                      </m:e>
                      <m:sup>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1</m:t>
                        </m:r>
                        <m:r>
                          <a:rPr lang="en-US" altLang="zh-CN" sz="2400" i="1">
                            <a:solidFill>
                              <a:schemeClr val="tx1"/>
                            </a:solidFill>
                            <a:latin typeface="Cambria Math" panose="02040503050406030204" charset="0"/>
                            <a:ea typeface="微软雅黑" panose="020B0503020204020204" charset="-122"/>
                            <a:cs typeface="Cambria Math" panose="02040503050406030204" charset="0"/>
                          </a:rPr>
                          <m:t>)</m:t>
                        </m:r>
                      </m:sup>
                    </m:sSup>
                  </m:oMath>
                </a14:m>
                <a:r>
                  <a:rPr lang="zh-CN" altLang="en-US" sz="2400">
                    <a:solidFill>
                      <a:schemeClr val="tx1"/>
                    </a:solidFill>
                    <a:latin typeface="Cambria Math" panose="02040503050406030204" charset="0"/>
                    <a:ea typeface="微软雅黑" panose="020B0503020204020204" charset="-122"/>
                    <a:cs typeface="Cambria Math" panose="02040503050406030204" charset="0"/>
                  </a:rPr>
                  <a:t>，最终</a:t>
                </a:r>
                <a:r>
                  <a:rPr lang="zh-CN" altLang="en-US" sz="2400" b="1">
                    <a:solidFill>
                      <a:srgbClr val="0070C0"/>
                    </a:solidFill>
                    <a:latin typeface="Cambria Math" panose="02040503050406030204" charset="0"/>
                    <a:ea typeface="微软雅黑" panose="020B0503020204020204" charset="-122"/>
                    <a:cs typeface="Cambria Math" panose="02040503050406030204" charset="0"/>
                  </a:rPr>
                  <a:t>等价于单层的线性操作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，最终模型给出的结果会逐渐坍缩到原点，即多个线性变化后回到</a:t>
                </a:r>
                <a:r>
                  <a:rPr lang="en-US" altLang="zh-CN" sz="2400">
                    <a:solidFill>
                      <a:schemeClr val="tx1"/>
                    </a:solidFill>
                    <a:latin typeface="Cambria Math" panose="02040503050406030204" charset="0"/>
                    <a:ea typeface="微软雅黑" panose="020B0503020204020204" charset="-122"/>
                    <a:cs typeface="Cambria Math" panose="02040503050406030204" charset="0"/>
                  </a:rPr>
                  <a:t>X</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的情况（我理解的是多</a:t>
                </a:r>
                <a:r>
                  <a:rPr lang="en-US" altLang="zh-CN" sz="2400">
                    <a:solidFill>
                      <a:schemeClr val="tx1"/>
                    </a:solidFill>
                    <a:latin typeface="Cambria Math" panose="02040503050406030204" charset="0"/>
                    <a:ea typeface="微软雅黑" panose="020B0503020204020204" charset="-122"/>
                    <a:cs typeface="Cambria Math" panose="02040503050406030204" charset="0"/>
                  </a:rPr>
                  <a:t>C</a:t>
                </a:r>
                <a:r>
                  <a:rPr lang="zh-CN" altLang="en-US" sz="2400">
                    <a:solidFill>
                      <a:schemeClr val="tx1"/>
                    </a:solidFill>
                    <a:latin typeface="Cambria Math" panose="02040503050406030204" charset="0"/>
                    <a:ea typeface="微软雅黑" panose="020B0503020204020204" charset="-122"/>
                    <a:cs typeface="Cambria Math" panose="02040503050406030204" charset="0"/>
                  </a:rPr>
                  <a:t>相乘坍缩为接近全</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的矩阵），无法实现理想中的逐步</a:t>
                </a:r>
                <a:r>
                  <a:rPr lang="zh-CN" altLang="en-US" sz="2400">
                    <a:solidFill>
                      <a:schemeClr val="tx1"/>
                    </a:solidFill>
                    <a:latin typeface="Cambria Math" panose="02040503050406030204" charset="0"/>
                    <a:ea typeface="微软雅黑" panose="020B0503020204020204" charset="-122"/>
                    <a:cs typeface="Cambria Math" panose="02040503050406030204" charset="0"/>
                  </a:rPr>
                  <a:t>线性化。</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zh-CN" altLang="en-US" sz="2400">
                    <a:solidFill>
                      <a:schemeClr val="tx1"/>
                    </a:solidFill>
                    <a:latin typeface="Cambria Math" panose="02040503050406030204" charset="0"/>
                    <a:ea typeface="微软雅黑" panose="020B0503020204020204" charset="-122"/>
                    <a:cs typeface="Cambria Math" panose="02040503050406030204" charset="0"/>
                  </a:rPr>
                  <a:t>思考：</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1. </a:t>
                </a:r>
                <a:r>
                  <a:rPr lang="zh-CN" altLang="en-US" sz="2400">
                    <a:solidFill>
                      <a:schemeClr val="tx1"/>
                    </a:solidFill>
                    <a:latin typeface="Cambria Math" panose="02040503050406030204" charset="0"/>
                    <a:ea typeface="微软雅黑" panose="020B0503020204020204" charset="-122"/>
                    <a:cs typeface="Cambria Math" panose="02040503050406030204" charset="0"/>
                  </a:rPr>
                  <a:t>为什么使用</a:t>
                </a:r>
                <a:r>
                  <a:rPr lang="en-US" altLang="zh-CN" sz="2400">
                    <a:solidFill>
                      <a:schemeClr val="tx1"/>
                    </a:solidFill>
                    <a:latin typeface="Cambria Math" panose="02040503050406030204" charset="0"/>
                    <a:ea typeface="微软雅黑" panose="020B0503020204020204" charset="-122"/>
                    <a:cs typeface="Cambria Math" panose="02040503050406030204" charset="0"/>
                  </a:rPr>
                  <a:t>L2</a:t>
                </a:r>
                <a:r>
                  <a:rPr lang="zh-CN" altLang="en-US" sz="2400">
                    <a:solidFill>
                      <a:schemeClr val="tx1"/>
                    </a:solidFill>
                    <a:latin typeface="Cambria Math" panose="02040503050406030204" charset="0"/>
                    <a:ea typeface="微软雅黑" panose="020B0503020204020204" charset="-122"/>
                    <a:cs typeface="Cambria Math" panose="02040503050406030204" charset="0"/>
                  </a:rPr>
                  <a:t>范数归一化？即将所有数据点投影回单位超球体上，这一操作在</a:t>
                </a:r>
                <a:r>
                  <a:rPr lang="en-US" altLang="zh-CN" sz="2400">
                    <a:solidFill>
                      <a:schemeClr val="tx1"/>
                    </a:solidFill>
                    <a:latin typeface="Cambria Math" panose="02040503050406030204" charset="0"/>
                    <a:ea typeface="微软雅黑" panose="020B0503020204020204" charset="-122"/>
                    <a:cs typeface="Cambria Math" panose="02040503050406030204" charset="0"/>
                  </a:rPr>
                  <a:t>nGPT</a:t>
                </a:r>
                <a:r>
                  <a:rPr lang="zh-CN" altLang="en-US" sz="2400">
                    <a:solidFill>
                      <a:schemeClr val="tx1"/>
                    </a:solidFill>
                    <a:latin typeface="Cambria Math" panose="02040503050406030204" charset="0"/>
                    <a:ea typeface="微软雅黑" panose="020B0503020204020204" charset="-122"/>
                    <a:cs typeface="Cambria Math" panose="02040503050406030204" charset="0"/>
                  </a:rPr>
                  <a:t>中也使用到了，究竟有什么好处，可以从哪些角度出发去探究？比如几何角度，</a:t>
                </a:r>
                <a:r>
                  <a:rPr lang="zh-CN" altLang="en-US" sz="2400">
                    <a:solidFill>
                      <a:schemeClr val="tx1"/>
                    </a:solidFill>
                    <a:latin typeface="Cambria Math" panose="02040503050406030204" charset="0"/>
                    <a:ea typeface="微软雅黑" panose="020B0503020204020204" charset="-122"/>
                    <a:cs typeface="Cambria Math" panose="02040503050406030204" charset="0"/>
                  </a:rPr>
                  <a:t>优化角度。</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2. </a:t>
                </a:r>
                <a:r>
                  <a:rPr lang="zh-CN" altLang="en-US" sz="2400">
                    <a:solidFill>
                      <a:schemeClr val="tx1"/>
                    </a:solidFill>
                    <a:latin typeface="Cambria Math" panose="02040503050406030204" charset="0"/>
                    <a:ea typeface="微软雅黑" panose="020B0503020204020204" charset="-122"/>
                    <a:cs typeface="Cambria Math" panose="02040503050406030204" charset="0"/>
                  </a:rPr>
                  <a:t>可不可以用其他非线性操作取代这一步，效果会如何变化，哪些操作会比较合理，这个问题如果能说出一二肯定也能学到不少</a:t>
                </a:r>
                <a:r>
                  <a:rPr lang="zh-CN" altLang="en-US" sz="2400">
                    <a:solidFill>
                      <a:schemeClr val="tx1"/>
                    </a:solidFill>
                    <a:latin typeface="Cambria Math" panose="02040503050406030204" charset="0"/>
                    <a:ea typeface="微软雅黑" panose="020B0503020204020204" charset="-122"/>
                    <a:cs typeface="Cambria Math" panose="02040503050406030204" charset="0"/>
                  </a:rPr>
                  <a:t>东西。</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3. </a:t>
                </a:r>
                <a:r>
                  <a:rPr lang="zh-CN" altLang="en-US" sz="2400">
                    <a:solidFill>
                      <a:schemeClr val="tx1"/>
                    </a:solidFill>
                    <a:latin typeface="Cambria Math" panose="02040503050406030204" charset="0"/>
                    <a:ea typeface="微软雅黑" panose="020B0503020204020204" charset="-122"/>
                    <a:cs typeface="Cambria Math" panose="02040503050406030204" charset="0"/>
                  </a:rPr>
                  <a:t>为什么</a:t>
                </a:r>
                <a:r>
                  <a:rPr lang="en-US" altLang="zh-CN" sz="2400">
                    <a:solidFill>
                      <a:schemeClr val="tx1"/>
                    </a:solidFill>
                    <a:latin typeface="Cambria Math" panose="02040503050406030204" charset="0"/>
                    <a:ea typeface="微软雅黑" panose="020B0503020204020204" charset="-122"/>
                    <a:cs typeface="Cambria Math" panose="02040503050406030204" charset="0"/>
                  </a:rPr>
                  <a:t>L2</a:t>
                </a:r>
                <a:r>
                  <a:rPr lang="zh-CN" altLang="en-US" sz="2400">
                    <a:solidFill>
                      <a:schemeClr val="tx1"/>
                    </a:solidFill>
                    <a:latin typeface="Cambria Math" panose="02040503050406030204" charset="0"/>
                    <a:ea typeface="微软雅黑" panose="020B0503020204020204" charset="-122"/>
                    <a:cs typeface="Cambria Math" panose="02040503050406030204" charset="0"/>
                  </a:rPr>
                  <a:t>范数归一化配合线性自表达模型能够实现逐渐把流形曲率</a:t>
                </a:r>
                <a:r>
                  <a:rPr lang="en-US" altLang="zh-CN"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打平</a:t>
                </a:r>
                <a:r>
                  <a:rPr lang="en-US" altLang="zh-CN" sz="2400">
                    <a:solidFill>
                      <a:schemeClr val="tx1"/>
                    </a:solidFill>
                    <a:latin typeface="Cambria Math" panose="02040503050406030204" charset="0"/>
                    <a:ea typeface="微软雅黑" panose="020B0503020204020204" charset="-122"/>
                    <a:cs typeface="Cambria Math" panose="02040503050406030204" charset="0"/>
                  </a:rPr>
                  <a:t>“</a:t>
                </a:r>
                <a:r>
                  <a:rPr lang="zh-CN" altLang="en-US" sz="2400">
                    <a:solidFill>
                      <a:schemeClr val="tx1"/>
                    </a:solidFill>
                    <a:latin typeface="Cambria Math" panose="02040503050406030204" charset="0"/>
                    <a:ea typeface="微软雅黑" panose="020B0503020204020204" charset="-122"/>
                    <a:cs typeface="Cambria Math" panose="02040503050406030204" charset="0"/>
                  </a:rPr>
                  <a:t>，如何从几何角度理解，本质同问</a:t>
                </a:r>
                <a:r>
                  <a:rPr lang="en-US" altLang="zh-CN" sz="2400">
                    <a:solidFill>
                      <a:schemeClr val="tx1"/>
                    </a:solidFill>
                    <a:latin typeface="Cambria Math" panose="02040503050406030204" charset="0"/>
                    <a:ea typeface="微软雅黑" panose="020B0503020204020204" charset="-122"/>
                    <a:cs typeface="Cambria Math" panose="02040503050406030204" charset="0"/>
                  </a:rPr>
                  <a:t>1</a:t>
                </a:r>
                <a:r>
                  <a:rPr lang="zh-CN" altLang="en-US" sz="2400">
                    <a:solidFill>
                      <a:schemeClr val="tx1"/>
                    </a:solidFill>
                    <a:latin typeface="Cambria Math" panose="02040503050406030204" charset="0"/>
                    <a:ea typeface="微软雅黑" panose="020B0503020204020204" charset="-122"/>
                    <a:cs typeface="Cambria Math" panose="02040503050406030204" charset="0"/>
                  </a:rPr>
                  <a:t>。</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mc:Choice>
        <mc:Fallback>
          <p:sp>
            <p:nvSpPr>
              <p:cNvPr id="5" name="TextBox 30"/>
              <p:cNvSpPr txBox="1">
                <a:spLocks noRot="1" noChangeAspect="1" noMove="1" noResize="1" noEditPoints="1" noAdjustHandles="1" noChangeArrowheads="1" noChangeShapeType="1" noTextEdit="1"/>
              </p:cNvSpPr>
              <p:nvPr>
                <p:custDataLst>
                  <p:tags r:id="rId5"/>
                </p:custDataLst>
              </p:nvPr>
            </p:nvSpPr>
            <p:spPr>
              <a:xfrm>
                <a:off x="609600" y="1714500"/>
                <a:ext cx="15503525" cy="6094095"/>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DELVE</a:t>
            </a:r>
            <a:r>
              <a:rPr lang="zh-CN" altLang="en-US" sz="3600" b="1">
                <a:solidFill>
                  <a:schemeClr val="tx1"/>
                </a:solidFill>
                <a:latin typeface="微软雅黑" panose="020B0503020204020204" charset="-122"/>
                <a:ea typeface="微软雅黑" panose="020B0503020204020204" charset="-122"/>
              </a:rPr>
              <a:t>中提到的</a:t>
            </a:r>
            <a:r>
              <a:rPr lang="en-US" altLang="zh-CN" sz="3600" b="1">
                <a:solidFill>
                  <a:schemeClr val="tx1"/>
                </a:solidFill>
                <a:latin typeface="微软雅黑" panose="020B0503020204020204" charset="-122"/>
                <a:ea typeface="微软雅黑" panose="020B0503020204020204" charset="-122"/>
              </a:rPr>
              <a:t>SE layer</a:t>
            </a:r>
            <a:r>
              <a:rPr lang="zh-CN" altLang="en-US" sz="3600" b="1">
                <a:solidFill>
                  <a:schemeClr val="tx1"/>
                </a:solidFill>
                <a:latin typeface="微软雅黑" panose="020B0503020204020204" charset="-122"/>
                <a:ea typeface="微软雅黑" panose="020B0503020204020204" charset="-122"/>
              </a:rPr>
              <a:t>和其他相似网络结构的</a:t>
            </a:r>
            <a:r>
              <a:rPr lang="zh-CN" altLang="en-US" sz="3600" b="1">
                <a:solidFill>
                  <a:schemeClr val="tx1"/>
                </a:solidFill>
                <a:latin typeface="微软雅黑" panose="020B0503020204020204" charset="-122"/>
                <a:ea typeface="微软雅黑" panose="020B0503020204020204" charset="-122"/>
              </a:rPr>
              <a:t>联系</a:t>
            </a:r>
            <a:endParaRPr lang="zh-CN" altLang="en-US" sz="3600" b="1">
              <a:solidFill>
                <a:schemeClr val="tx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4"/>
          <a:stretch>
            <a:fillRect/>
          </a:stretch>
        </p:blipFill>
        <p:spPr>
          <a:xfrm>
            <a:off x="2209800" y="1943100"/>
            <a:ext cx="13928725" cy="4813300"/>
          </a:xfrm>
          <a:prstGeom prst="rect">
            <a:avLst/>
          </a:prstGeom>
        </p:spPr>
      </p:pic>
      <p:sp>
        <p:nvSpPr>
          <p:cNvPr id="3" name="文本框 2"/>
          <p:cNvSpPr txBox="1"/>
          <p:nvPr/>
        </p:nvSpPr>
        <p:spPr>
          <a:xfrm>
            <a:off x="609600" y="7117080"/>
            <a:ext cx="15725775" cy="2861310"/>
          </a:xfrm>
          <a:prstGeom prst="rect">
            <a:avLst/>
          </a:prstGeom>
          <a:noFill/>
        </p:spPr>
        <p:txBody>
          <a:bodyPr wrap="square" rtlCol="0" anchor="t">
            <a:spAutoFit/>
          </a:bodyPr>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思考：</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1. DELVE</a:t>
            </a:r>
            <a:r>
              <a:rPr lang="zh-CN" altLang="en-US" sz="2400">
                <a:latin typeface="Cambria Math" panose="02040503050406030204" charset="0"/>
                <a:ea typeface="微软雅黑" panose="020B0503020204020204" charset="-122"/>
                <a:cs typeface="Cambria Math" panose="02040503050406030204" charset="0"/>
                <a:sym typeface="+mn-ea"/>
              </a:rPr>
              <a:t>与</a:t>
            </a:r>
            <a:r>
              <a:rPr lang="en-US" altLang="zh-CN" sz="2400">
                <a:latin typeface="Cambria Math" panose="02040503050406030204" charset="0"/>
                <a:ea typeface="微软雅黑" panose="020B0503020204020204" charset="-122"/>
                <a:cs typeface="Cambria Math" panose="02040503050406030204" charset="0"/>
                <a:sym typeface="+mn-ea"/>
              </a:rPr>
              <a:t>GCN</a:t>
            </a:r>
            <a:r>
              <a:rPr lang="zh-CN" altLang="en-US" sz="2400">
                <a:latin typeface="Cambria Math" panose="02040503050406030204" charset="0"/>
                <a:ea typeface="微软雅黑" panose="020B0503020204020204" charset="-122"/>
                <a:cs typeface="Cambria Math" panose="02040503050406030204" charset="0"/>
                <a:sym typeface="+mn-ea"/>
              </a:rPr>
              <a:t>确实十分相似，</a:t>
            </a:r>
            <a:r>
              <a:rPr lang="en-US" altLang="zh-CN" sz="2400">
                <a:latin typeface="Cambria Math" panose="02040503050406030204" charset="0"/>
                <a:ea typeface="微软雅黑" panose="020B0503020204020204" charset="-122"/>
                <a:cs typeface="Cambria Math" panose="02040503050406030204" charset="0"/>
                <a:sym typeface="+mn-ea"/>
              </a:rPr>
              <a:t>DELVE</a:t>
            </a:r>
            <a:r>
              <a:rPr lang="zh-CN" altLang="en-US" sz="2400">
                <a:latin typeface="Cambria Math" panose="02040503050406030204" charset="0"/>
                <a:ea typeface="微软雅黑" panose="020B0503020204020204" charset="-122"/>
                <a:cs typeface="Cambria Math" panose="02040503050406030204" charset="0"/>
                <a:sym typeface="+mn-ea"/>
              </a:rPr>
              <a:t>的</a:t>
            </a:r>
            <a:r>
              <a:rPr lang="en-US" altLang="zh-CN" sz="2400">
                <a:latin typeface="Cambria Math" panose="02040503050406030204" charset="0"/>
                <a:ea typeface="微软雅黑" panose="020B0503020204020204" charset="-122"/>
                <a:cs typeface="Cambria Math" panose="02040503050406030204" charset="0"/>
                <a:sym typeface="+mn-ea"/>
              </a:rPr>
              <a:t>C</a:t>
            </a:r>
            <a:r>
              <a:rPr lang="zh-CN" altLang="en-US" sz="2400">
                <a:latin typeface="Cambria Math" panose="02040503050406030204" charset="0"/>
                <a:ea typeface="微软雅黑" panose="020B0503020204020204" charset="-122"/>
                <a:cs typeface="Cambria Math" panose="02040503050406030204" charset="0"/>
                <a:sym typeface="+mn-ea"/>
              </a:rPr>
              <a:t>是需要求解或者优化的，而</a:t>
            </a:r>
            <a:r>
              <a:rPr lang="en-US" altLang="zh-CN" sz="2400">
                <a:latin typeface="Cambria Math" panose="02040503050406030204" charset="0"/>
                <a:ea typeface="微软雅黑" panose="020B0503020204020204" charset="-122"/>
                <a:cs typeface="Cambria Math" panose="02040503050406030204" charset="0"/>
                <a:sym typeface="+mn-ea"/>
              </a:rPr>
              <a:t>GCN</a:t>
            </a:r>
            <a:r>
              <a:rPr lang="zh-CN" altLang="en-US" sz="2400">
                <a:latin typeface="Cambria Math" panose="02040503050406030204" charset="0"/>
                <a:ea typeface="微软雅黑" panose="020B0503020204020204" charset="-122"/>
                <a:cs typeface="Cambria Math" panose="02040503050406030204" charset="0"/>
                <a:sym typeface="+mn-ea"/>
              </a:rPr>
              <a:t>的</a:t>
            </a:r>
            <a:r>
              <a:rPr lang="en-US" altLang="zh-CN" sz="2400">
                <a:latin typeface="Cambria Math" panose="02040503050406030204" charset="0"/>
                <a:ea typeface="微软雅黑" panose="020B0503020204020204" charset="-122"/>
                <a:cs typeface="Cambria Math" panose="02040503050406030204" charset="0"/>
                <a:sym typeface="+mn-ea"/>
              </a:rPr>
              <a:t>C</a:t>
            </a:r>
            <a:r>
              <a:rPr lang="zh-CN" altLang="en-US" sz="2400">
                <a:latin typeface="Cambria Math" panose="02040503050406030204" charset="0"/>
                <a:ea typeface="微软雅黑" panose="020B0503020204020204" charset="-122"/>
                <a:cs typeface="Cambria Math" panose="02040503050406030204" charset="0"/>
                <a:sym typeface="+mn-ea"/>
              </a:rPr>
              <a:t>（邻接矩阵）是数据自带的，也就是数据间的关系图是提前构建好的，那么自表达网络</a:t>
            </a:r>
            <a:r>
              <a:rPr lang="zh-CN" altLang="en-US" sz="2400">
                <a:latin typeface="Cambria Math" panose="02040503050406030204" charset="0"/>
                <a:ea typeface="微软雅黑" panose="020B0503020204020204" charset="-122"/>
                <a:cs typeface="Cambria Math" panose="02040503050406030204" charset="0"/>
                <a:sym typeface="+mn-ea"/>
              </a:rPr>
              <a:t>相当于在无监督的情况下构建数据的邻接矩阵，从而构建</a:t>
            </a:r>
            <a:r>
              <a:rPr lang="zh-CN" altLang="en-US" sz="2400">
                <a:latin typeface="Cambria Math" panose="02040503050406030204" charset="0"/>
                <a:ea typeface="微软雅黑" panose="020B0503020204020204" charset="-122"/>
                <a:cs typeface="Cambria Math" panose="02040503050406030204" charset="0"/>
                <a:sym typeface="+mn-ea"/>
              </a:rPr>
              <a:t>图。</a:t>
            </a:r>
            <a:endParaRPr lang="zh-CN" altLang="en-US" sz="2400">
              <a:latin typeface="Cambria Math" panose="02040503050406030204" charset="0"/>
              <a:ea typeface="微软雅黑" panose="020B0503020204020204" charset="-122"/>
              <a:cs typeface="Cambria Math" panose="02040503050406030204" charset="0"/>
              <a:sym typeface="+mn-ea"/>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2. </a:t>
            </a:r>
            <a:r>
              <a:rPr lang="zh-CN" altLang="en-US" sz="2400">
                <a:latin typeface="Cambria Math" panose="02040503050406030204" charset="0"/>
                <a:ea typeface="微软雅黑" panose="020B0503020204020204" charset="-122"/>
                <a:cs typeface="Cambria Math" panose="02040503050406030204" charset="0"/>
                <a:sym typeface="+mn-ea"/>
              </a:rPr>
              <a:t>在半监督或者有监督的情况下该模型要怎么用，或者说有没有应用场景，由于对应用的场景和问题还不是了解得特别深入，后续可以深入思考一下这个</a:t>
            </a:r>
            <a:r>
              <a:rPr lang="zh-CN" altLang="en-US" sz="2400">
                <a:latin typeface="Cambria Math" panose="02040503050406030204" charset="0"/>
                <a:ea typeface="微软雅黑" panose="020B0503020204020204" charset="-122"/>
                <a:cs typeface="Cambria Math" panose="02040503050406030204" charset="0"/>
                <a:sym typeface="+mn-ea"/>
              </a:rPr>
              <a:t>问题。</a:t>
            </a:r>
            <a:endParaRPr lang="zh-CN" altLang="en-US" sz="2400">
              <a:latin typeface="Cambria Math" panose="02040503050406030204" charset="0"/>
              <a:ea typeface="微软雅黑" panose="020B0503020204020204" charset="-122"/>
              <a:cs typeface="Cambria Math" panose="02040503050406030204" charset="0"/>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13" name="Freeform 13"/>
          <p:cNvSpPr/>
          <p:nvPr/>
        </p:nvSpPr>
        <p:spPr>
          <a:xfrm>
            <a:off x="0" y="9463088"/>
            <a:ext cx="1713174" cy="762255"/>
          </a:xfrm>
          <a:custGeom>
            <a:avLst/>
            <a:gdLst/>
            <a:ahLst/>
            <a:cxnLst/>
            <a:rect l="l" t="t" r="r" b="b"/>
            <a:pathLst>
              <a:path w="1713174" h="762255">
                <a:moveTo>
                  <a:pt x="0" y="0"/>
                </a:moveTo>
                <a:lnTo>
                  <a:pt x="1713174" y="0"/>
                </a:lnTo>
                <a:lnTo>
                  <a:pt x="1713174" y="762254"/>
                </a:lnTo>
                <a:lnTo>
                  <a:pt x="0" y="762254"/>
                </a:lnTo>
                <a:lnTo>
                  <a:pt x="0" y="0"/>
                </a:lnTo>
                <a:close/>
              </a:path>
            </a:pathLst>
          </a:custGeom>
          <a:blipFill>
            <a:blip/>
            <a:stretch>
              <a:fillRect/>
            </a:stretch>
          </a:blipFill>
        </p:spPr>
      </p:sp>
      <p:sp>
        <p:nvSpPr>
          <p:cNvPr id="190" name="Freeform 30"/>
          <p:cNvSpPr/>
          <p:nvPr>
            <p:custDataLst>
              <p:tags r:id="rId1"/>
            </p:custDataLst>
          </p:nvPr>
        </p:nvSpPr>
        <p:spPr>
          <a:xfrm>
            <a:off x="304888" y="24906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2"/>
            <a:stretch>
              <a:fillRect/>
            </a:stretch>
          </a:blipFill>
        </p:spPr>
      </p:sp>
      <p:sp>
        <p:nvSpPr>
          <p:cNvPr id="7" name="TextBox 30"/>
          <p:cNvSpPr txBox="1"/>
          <p:nvPr>
            <p:custDataLst>
              <p:tags r:id="rId3"/>
            </p:custDataLst>
          </p:nvPr>
        </p:nvSpPr>
        <p:spPr>
          <a:xfrm>
            <a:off x="609600" y="1028700"/>
            <a:ext cx="15503525" cy="553720"/>
          </a:xfrm>
          <a:prstGeom prst="rect">
            <a:avLst/>
          </a:prstGeom>
        </p:spPr>
        <p:txBody>
          <a:bodyPr wrap="square" lIns="0" tIns="0" rIns="0" bIns="0" rtlCol="0" anchor="t">
            <a:spAutoFit/>
          </a:bodyPr>
          <a:lstStyle/>
          <a:p>
            <a:pPr algn="l">
              <a:lnSpc>
                <a:spcPts val="4320"/>
              </a:lnSpc>
              <a:buClrTx/>
              <a:buSzTx/>
              <a:buFontTx/>
            </a:pPr>
            <a:r>
              <a:rPr lang="en-US" altLang="zh-CN" sz="3600" b="1">
                <a:solidFill>
                  <a:schemeClr val="tx1"/>
                </a:solidFill>
                <a:latin typeface="微软雅黑" panose="020B0503020204020204" charset="-122"/>
                <a:ea typeface="微软雅黑" panose="020B0503020204020204" charset="-122"/>
              </a:rPr>
              <a:t>2. PRO-DSC</a:t>
            </a:r>
            <a:r>
              <a:rPr lang="zh-CN" altLang="en-US" sz="3600" b="1">
                <a:solidFill>
                  <a:schemeClr val="tx1"/>
                </a:solidFill>
                <a:latin typeface="微软雅黑" panose="020B0503020204020204" charset="-122"/>
                <a:ea typeface="微软雅黑" panose="020B0503020204020204" charset="-122"/>
              </a:rPr>
              <a:t>中的</a:t>
            </a:r>
            <a:r>
              <a:rPr lang="zh-CN" altLang="en-US" sz="3600" b="1">
                <a:solidFill>
                  <a:schemeClr val="tx1"/>
                </a:solidFill>
                <a:latin typeface="微软雅黑" panose="020B0503020204020204" charset="-122"/>
                <a:ea typeface="微软雅黑" panose="020B0503020204020204" charset="-122"/>
              </a:rPr>
              <a:t>理论</a:t>
            </a:r>
            <a:endParaRPr lang="zh-CN" altLang="en-US" sz="3600" b="1">
              <a:solidFill>
                <a:schemeClr val="tx1"/>
              </a:solidFill>
              <a:latin typeface="微软雅黑" panose="020B0503020204020204" charset="-122"/>
              <a:ea typeface="微软雅黑" panose="020B0503020204020204" charset="-122"/>
            </a:endParaRPr>
          </a:p>
        </p:txBody>
      </p:sp>
      <p:sp>
        <p:nvSpPr>
          <p:cNvPr id="5" name="TextBox 30"/>
          <p:cNvSpPr txBox="1"/>
          <p:nvPr>
            <p:custDataLst>
              <p:tags r:id="rId4"/>
            </p:custDataLst>
          </p:nvPr>
        </p:nvSpPr>
        <p:spPr>
          <a:xfrm>
            <a:off x="609600" y="1714500"/>
            <a:ext cx="15503525" cy="1107440"/>
          </a:xfrm>
          <a:prstGeom prst="rect">
            <a:avLst/>
          </a:prstGeom>
        </p:spPr>
        <p:txBody>
          <a:bodyPr wrap="square" lIns="0" tIns="0" rIns="0" bIns="0" rtlCol="0" anchor="t">
            <a:spAutoFit/>
          </a:bodyPr>
          <a:lstStyle/>
          <a:p>
            <a:pPr algn="l">
              <a:lnSpc>
                <a:spcPts val="4320"/>
              </a:lnSpc>
              <a:buClrTx/>
              <a:buSzTx/>
              <a:buFontTx/>
            </a:pPr>
            <a:r>
              <a:rPr lang="en-US" altLang="zh-CN" sz="2400">
                <a:solidFill>
                  <a:schemeClr val="tx1"/>
                </a:solidFill>
                <a:latin typeface="Cambria Math" panose="02040503050406030204" charset="0"/>
                <a:ea typeface="微软雅黑" panose="020B0503020204020204" charset="-122"/>
                <a:cs typeface="Cambria Math" panose="02040503050406030204" charset="0"/>
              </a:rPr>
              <a:t>PRO-DSC</a:t>
            </a:r>
            <a:r>
              <a:rPr lang="zh-CN" altLang="en-US" sz="2400">
                <a:solidFill>
                  <a:schemeClr val="tx1"/>
                </a:solidFill>
                <a:latin typeface="Cambria Math" panose="02040503050406030204" charset="0"/>
                <a:ea typeface="微软雅黑" panose="020B0503020204020204" charset="-122"/>
                <a:cs typeface="Cambria Math" panose="02040503050406030204" charset="0"/>
              </a:rPr>
              <a:t>论文中的理论较为关键，目前虽然论文已看完，但是理论部分尚未完全地理解，后续可以进行深入地探索，从该论文的写作和创作过程中总结理论工作</a:t>
            </a:r>
            <a:r>
              <a:rPr lang="zh-CN" altLang="en-US" sz="2400">
                <a:solidFill>
                  <a:schemeClr val="tx1"/>
                </a:solidFill>
                <a:latin typeface="Cambria Math" panose="02040503050406030204" charset="0"/>
                <a:ea typeface="微软雅黑" panose="020B0503020204020204" charset="-122"/>
                <a:cs typeface="Cambria Math" panose="02040503050406030204" charset="0"/>
              </a:rPr>
              <a:t>的经验。</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p:txBody>
      </p:sp>
      <p:sp>
        <p:nvSpPr>
          <p:cNvPr id="4" name="文本框 3"/>
          <p:cNvSpPr txBox="1"/>
          <p:nvPr/>
        </p:nvSpPr>
        <p:spPr>
          <a:xfrm>
            <a:off x="609600" y="3154680"/>
            <a:ext cx="15725775" cy="3415030"/>
          </a:xfrm>
          <a:prstGeom prst="rect">
            <a:avLst/>
          </a:prstGeom>
          <a:noFill/>
        </p:spPr>
        <p:txBody>
          <a:bodyPr wrap="square" rtlCol="0" anchor="t">
            <a:spAutoFit/>
          </a:bodyPr>
          <a:p>
            <a:pPr algn="l">
              <a:lnSpc>
                <a:spcPts val="4320"/>
              </a:lnSpc>
              <a:buClrTx/>
              <a:buSzTx/>
              <a:buFontTx/>
            </a:pPr>
            <a:r>
              <a:rPr lang="zh-CN" altLang="en-US" sz="2400">
                <a:latin typeface="Cambria Math" panose="02040503050406030204" charset="0"/>
                <a:ea typeface="微软雅黑" panose="020B0503020204020204" charset="-122"/>
                <a:cs typeface="Cambria Math" panose="02040503050406030204" charset="0"/>
                <a:sym typeface="+mn-ea"/>
              </a:rPr>
              <a:t>思考：</a:t>
            </a:r>
            <a:endParaRPr lang="zh-CN" altLang="en-US" sz="2400">
              <a:solidFill>
                <a:schemeClr val="tx1"/>
              </a:solidFill>
              <a:latin typeface="Cambria Math" panose="02040503050406030204" charset="0"/>
              <a:ea typeface="微软雅黑" panose="020B0503020204020204" charset="-122"/>
              <a:cs typeface="Cambria Math" panose="02040503050406030204" charset="0"/>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1. </a:t>
            </a:r>
            <a:r>
              <a:rPr lang="zh-CN" altLang="en-US" sz="2400">
                <a:latin typeface="Cambria Math" panose="02040503050406030204" charset="0"/>
                <a:ea typeface="微软雅黑" panose="020B0503020204020204" charset="-122"/>
                <a:cs typeface="Cambria Math" panose="02040503050406030204" charset="0"/>
                <a:sym typeface="+mn-ea"/>
              </a:rPr>
              <a:t>从论文的整体逻辑中总结出论文的创作脉络，如发现了什么问题？解决这些问题需要什么样的理论？如何从已有文献中寻找到所需要的理论工具？如何借用其他工作的理论工具达到自己想要证明的理论等等。形成一套未来研究过程中应用理论工具推导目标理论的方法</a:t>
            </a:r>
            <a:r>
              <a:rPr lang="zh-CN" altLang="en-US" sz="2400">
                <a:latin typeface="Cambria Math" panose="02040503050406030204" charset="0"/>
                <a:ea typeface="微软雅黑" panose="020B0503020204020204" charset="-122"/>
                <a:cs typeface="Cambria Math" panose="02040503050406030204" charset="0"/>
                <a:sym typeface="+mn-ea"/>
              </a:rPr>
              <a:t>论。</a:t>
            </a:r>
            <a:endParaRPr lang="zh-CN" altLang="en-US" sz="2400">
              <a:latin typeface="Cambria Math" panose="02040503050406030204" charset="0"/>
              <a:ea typeface="微软雅黑" panose="020B0503020204020204" charset="-122"/>
              <a:cs typeface="Cambria Math" panose="02040503050406030204" charset="0"/>
              <a:sym typeface="+mn-ea"/>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2. log det </a:t>
            </a:r>
            <a:r>
              <a:rPr lang="zh-CN" altLang="en-US" sz="2400">
                <a:latin typeface="Cambria Math" panose="02040503050406030204" charset="0"/>
                <a:ea typeface="微软雅黑" panose="020B0503020204020204" charset="-122"/>
                <a:cs typeface="Cambria Math" panose="02040503050406030204" charset="0"/>
                <a:sym typeface="+mn-ea"/>
              </a:rPr>
              <a:t>为什么是对于矩阵秩的正则化，数学原理推导并拜读马毅老师原</a:t>
            </a:r>
            <a:r>
              <a:rPr lang="zh-CN" altLang="en-US" sz="2400">
                <a:latin typeface="Cambria Math" panose="02040503050406030204" charset="0"/>
                <a:ea typeface="微软雅黑" panose="020B0503020204020204" charset="-122"/>
                <a:cs typeface="Cambria Math" panose="02040503050406030204" charset="0"/>
                <a:sym typeface="+mn-ea"/>
              </a:rPr>
              <a:t>论文。</a:t>
            </a:r>
            <a:endParaRPr lang="zh-CN" altLang="en-US" sz="2400">
              <a:latin typeface="Cambria Math" panose="02040503050406030204" charset="0"/>
              <a:ea typeface="微软雅黑" panose="020B0503020204020204" charset="-122"/>
              <a:cs typeface="Cambria Math" panose="02040503050406030204" charset="0"/>
              <a:sym typeface="+mn-ea"/>
            </a:endParaRPr>
          </a:p>
          <a:p>
            <a:pPr algn="l">
              <a:lnSpc>
                <a:spcPts val="4320"/>
              </a:lnSpc>
              <a:buClrTx/>
              <a:buSzTx/>
              <a:buFontTx/>
            </a:pPr>
            <a:r>
              <a:rPr lang="en-US" altLang="zh-CN" sz="2400">
                <a:latin typeface="Cambria Math" panose="02040503050406030204" charset="0"/>
                <a:ea typeface="微软雅黑" panose="020B0503020204020204" charset="-122"/>
                <a:cs typeface="Cambria Math" panose="02040503050406030204" charset="0"/>
                <a:sym typeface="+mn-ea"/>
              </a:rPr>
              <a:t>3. </a:t>
            </a:r>
            <a:r>
              <a:rPr lang="zh-CN" altLang="en-US" sz="2400">
                <a:latin typeface="Cambria Math" panose="02040503050406030204" charset="0"/>
                <a:ea typeface="微软雅黑" panose="020B0503020204020204" charset="-122"/>
                <a:cs typeface="Cambria Math" panose="02040503050406030204" charset="0"/>
                <a:sym typeface="+mn-ea"/>
              </a:rPr>
              <a:t>完整理论都自主推导一</a:t>
            </a:r>
            <a:r>
              <a:rPr lang="zh-CN" altLang="en-US" sz="2400">
                <a:latin typeface="Cambria Math" panose="02040503050406030204" charset="0"/>
                <a:ea typeface="微软雅黑" panose="020B0503020204020204" charset="-122"/>
                <a:cs typeface="Cambria Math" panose="02040503050406030204" charset="0"/>
                <a:sym typeface="+mn-ea"/>
              </a:rPr>
              <a:t>遍。</a:t>
            </a:r>
            <a:endParaRPr lang="zh-CN" altLang="en-US" sz="2400">
              <a:latin typeface="Cambria Math" panose="02040503050406030204" charset="0"/>
              <a:ea typeface="微软雅黑" panose="020B0503020204020204" charset="-122"/>
              <a:cs typeface="Cambria Math" panose="02040503050406030204" charset="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5FA"/>
        </a:solidFill>
        <a:effectLst/>
      </p:bgPr>
    </p:bg>
    <p:spTree>
      <p:nvGrpSpPr>
        <p:cNvPr id="1" name=""/>
        <p:cNvGrpSpPr/>
        <p:nvPr/>
      </p:nvGrpSpPr>
      <p:grpSpPr>
        <a:xfrm>
          <a:off x="0" y="0"/>
          <a:ext cx="0" cy="0"/>
          <a:chOff x="0" y="0"/>
          <a:chExt cx="0" cy="0"/>
        </a:xfrm>
      </p:grpSpPr>
      <p:sp>
        <p:nvSpPr>
          <p:cNvPr id="3" name="TextBox 3"/>
          <p:cNvSpPr txBox="1"/>
          <p:nvPr/>
        </p:nvSpPr>
        <p:spPr>
          <a:xfrm>
            <a:off x="1475836" y="3645378"/>
            <a:ext cx="9051097" cy="1661795"/>
          </a:xfrm>
          <a:prstGeom prst="rect">
            <a:avLst/>
          </a:prstGeom>
        </p:spPr>
        <p:txBody>
          <a:bodyPr lIns="0" tIns="0" rIns="0" bIns="0" rtlCol="0" anchor="t">
            <a:spAutoFit/>
          </a:bodyPr>
          <a:lstStyle/>
          <a:p>
            <a:pPr algn="l">
              <a:lnSpc>
                <a:spcPts val="12960"/>
              </a:lnSpc>
            </a:pPr>
            <a:r>
              <a:rPr lang="en-US" sz="10800" b="1">
                <a:solidFill>
                  <a:srgbClr val="356AFF"/>
                </a:solidFill>
                <a:latin typeface="微软雅黑" panose="020B0503020204020204" charset="-122"/>
                <a:ea typeface="微软雅黑" panose="020B0503020204020204" charset="-122"/>
              </a:rPr>
              <a:t>感谢观看</a:t>
            </a:r>
            <a:endParaRPr lang="en-US" sz="10800" b="1">
              <a:solidFill>
                <a:srgbClr val="356AFF"/>
              </a:solidFill>
              <a:latin typeface="微软雅黑" panose="020B0503020204020204" charset="-122"/>
              <a:ea typeface="微软雅黑" panose="020B0503020204020204" charset="-122"/>
            </a:endParaRPr>
          </a:p>
        </p:txBody>
      </p:sp>
      <p:sp>
        <p:nvSpPr>
          <p:cNvPr id="5" name="Freeform 5"/>
          <p:cNvSpPr/>
          <p:nvPr/>
        </p:nvSpPr>
        <p:spPr>
          <a:xfrm>
            <a:off x="9525" y="4903330"/>
            <a:ext cx="18288000" cy="5393195"/>
          </a:xfrm>
          <a:custGeom>
            <a:avLst/>
            <a:gdLst/>
            <a:ahLst/>
            <a:cxnLst/>
            <a:rect l="l" t="t" r="r" b="b"/>
            <a:pathLst>
              <a:path w="18288000" h="5393195">
                <a:moveTo>
                  <a:pt x="0" y="0"/>
                </a:moveTo>
                <a:lnTo>
                  <a:pt x="18288000" y="0"/>
                </a:lnTo>
                <a:lnTo>
                  <a:pt x="18288000" y="5393195"/>
                </a:lnTo>
                <a:lnTo>
                  <a:pt x="0" y="5393195"/>
                </a:lnTo>
                <a:lnTo>
                  <a:pt x="0" y="0"/>
                </a:lnTo>
                <a:close/>
              </a:path>
            </a:pathLst>
          </a:custGeom>
          <a:blipFill>
            <a:blip r:embed="rId1"/>
            <a:stretch>
              <a:fillRect/>
            </a:stretch>
          </a:blipFill>
        </p:spPr>
      </p:sp>
      <p:grpSp>
        <p:nvGrpSpPr>
          <p:cNvPr id="36" name="组合 35"/>
          <p:cNvGrpSpPr/>
          <p:nvPr/>
        </p:nvGrpSpPr>
        <p:grpSpPr>
          <a:xfrm>
            <a:off x="1447800" y="5714365"/>
            <a:ext cx="3073400" cy="781050"/>
            <a:chOff x="2346" y="11110"/>
            <a:chExt cx="4840" cy="1230"/>
          </a:xfrm>
        </p:grpSpPr>
        <p:grpSp>
          <p:nvGrpSpPr>
            <p:cNvPr id="8" name="Group 8"/>
            <p:cNvGrpSpPr/>
            <p:nvPr/>
          </p:nvGrpSpPr>
          <p:grpSpPr>
            <a:xfrm>
              <a:off x="2346" y="11110"/>
              <a:ext cx="4519" cy="1230"/>
              <a:chOff x="0" y="0"/>
              <a:chExt cx="3826412" cy="1041008"/>
            </a:xfrm>
          </p:grpSpPr>
          <p:sp>
            <p:nvSpPr>
              <p:cNvPr id="9" name="Freeform 9"/>
              <p:cNvSpPr/>
              <p:nvPr/>
            </p:nvSpPr>
            <p:spPr>
              <a:xfrm>
                <a:off x="0" y="0"/>
                <a:ext cx="3826383" cy="1041019"/>
              </a:xfrm>
              <a:custGeom>
                <a:avLst/>
                <a:gdLst/>
                <a:ahLst/>
                <a:cxnLst/>
                <a:rect l="l" t="t" r="r" b="b"/>
                <a:pathLst>
                  <a:path w="3826383" h="1041019">
                    <a:moveTo>
                      <a:pt x="0" y="520446"/>
                    </a:moveTo>
                    <a:cubicBezTo>
                      <a:pt x="0" y="233045"/>
                      <a:pt x="233045" y="0"/>
                      <a:pt x="520446" y="0"/>
                    </a:cubicBezTo>
                    <a:lnTo>
                      <a:pt x="3305937" y="0"/>
                    </a:lnTo>
                    <a:cubicBezTo>
                      <a:pt x="3593465" y="0"/>
                      <a:pt x="3826383" y="233045"/>
                      <a:pt x="3826383" y="520446"/>
                    </a:cubicBezTo>
                    <a:cubicBezTo>
                      <a:pt x="3826383" y="807847"/>
                      <a:pt x="3593338" y="1040892"/>
                      <a:pt x="3305937" y="1040892"/>
                    </a:cubicBezTo>
                    <a:lnTo>
                      <a:pt x="520446" y="1040892"/>
                    </a:lnTo>
                    <a:cubicBezTo>
                      <a:pt x="233045" y="1041019"/>
                      <a:pt x="0" y="807974"/>
                      <a:pt x="0" y="520446"/>
                    </a:cubicBezTo>
                    <a:close/>
                  </a:path>
                </a:pathLst>
              </a:custGeom>
              <a:solidFill>
                <a:srgbClr val="356AFF"/>
              </a:solidFill>
            </p:spPr>
          </p:sp>
        </p:grpSp>
        <p:sp>
          <p:nvSpPr>
            <p:cNvPr id="10" name="TextBox 10"/>
            <p:cNvSpPr txBox="1"/>
            <p:nvPr/>
          </p:nvSpPr>
          <p:spPr>
            <a:xfrm>
              <a:off x="2716" y="11411"/>
              <a:ext cx="4470" cy="581"/>
            </a:xfrm>
            <a:prstGeom prst="rect">
              <a:avLst/>
            </a:prstGeom>
          </p:spPr>
          <p:txBody>
            <a:bodyPr wrap="square" lIns="0" tIns="0" rIns="0" bIns="0" rtlCol="0" anchor="t">
              <a:spAutoFit/>
            </a:bodyPr>
            <a:lstStyle/>
            <a:p>
              <a:pPr algn="l">
                <a:lnSpc>
                  <a:spcPts val="2880"/>
                </a:lnSpc>
              </a:pPr>
              <a:r>
                <a:rPr lang="en-US" sz="2800" b="1" dirty="0" err="1">
                  <a:solidFill>
                    <a:srgbClr val="FFFFFF"/>
                  </a:solidFill>
                  <a:latin typeface="微软雅黑" panose="020B0503020204020204" charset="-122"/>
                  <a:ea typeface="微软雅黑" panose="020B0503020204020204" charset="-122"/>
                  <a:cs typeface="微软雅黑" panose="020B0503020204020204" charset="-122"/>
                </a:rPr>
                <a:t>汇报人：</a:t>
              </a:r>
              <a:r>
                <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rPr>
                <a:t>李家兴</a:t>
              </a:r>
              <a:endParaRPr lang="zh-CN" altLang="en-US" sz="2800" b="1" dirty="0" err="1">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11" name="Group 11"/>
          <p:cNvGrpSpPr/>
          <p:nvPr/>
        </p:nvGrpSpPr>
        <p:grpSpPr>
          <a:xfrm>
            <a:off x="14827002" y="3090522"/>
            <a:ext cx="1945042" cy="1945042"/>
            <a:chOff x="0" y="0"/>
            <a:chExt cx="2593390" cy="2593390"/>
          </a:xfrm>
        </p:grpSpPr>
        <p:sp>
          <p:nvSpPr>
            <p:cNvPr id="12" name="Freeform 12"/>
            <p:cNvSpPr/>
            <p:nvPr/>
          </p:nvSpPr>
          <p:spPr>
            <a:xfrm>
              <a:off x="0" y="0"/>
              <a:ext cx="2593340" cy="2593340"/>
            </a:xfrm>
            <a:custGeom>
              <a:avLst/>
              <a:gdLst/>
              <a:ahLst/>
              <a:cxnLst/>
              <a:rect l="l" t="t" r="r" b="b"/>
              <a:pathLst>
                <a:path w="2593340" h="2593340">
                  <a:moveTo>
                    <a:pt x="0" y="1296670"/>
                  </a:moveTo>
                  <a:cubicBezTo>
                    <a:pt x="0" y="580517"/>
                    <a:pt x="580517" y="0"/>
                    <a:pt x="1296670" y="0"/>
                  </a:cubicBezTo>
                  <a:cubicBezTo>
                    <a:pt x="2012823" y="0"/>
                    <a:pt x="2593340" y="580517"/>
                    <a:pt x="2593340" y="1296670"/>
                  </a:cubicBezTo>
                  <a:cubicBezTo>
                    <a:pt x="2593340" y="2012823"/>
                    <a:pt x="2012823" y="2593340"/>
                    <a:pt x="1296670" y="2593340"/>
                  </a:cubicBezTo>
                  <a:cubicBezTo>
                    <a:pt x="580517" y="2593340"/>
                    <a:pt x="0" y="2012823"/>
                    <a:pt x="0" y="1296670"/>
                  </a:cubicBezTo>
                  <a:close/>
                </a:path>
              </a:pathLst>
            </a:custGeom>
            <a:solidFill>
              <a:srgbClr val="FFFFFF"/>
            </a:solidFill>
          </p:spPr>
        </p:sp>
      </p:grpSp>
      <p:grpSp>
        <p:nvGrpSpPr>
          <p:cNvPr id="13" name="Group 13"/>
          <p:cNvGrpSpPr/>
          <p:nvPr/>
        </p:nvGrpSpPr>
        <p:grpSpPr>
          <a:xfrm>
            <a:off x="14594971" y="7354464"/>
            <a:ext cx="460719" cy="460719"/>
            <a:chOff x="0" y="0"/>
            <a:chExt cx="614292" cy="614292"/>
          </a:xfrm>
        </p:grpSpPr>
        <p:sp>
          <p:nvSpPr>
            <p:cNvPr id="14" name="Freeform 14"/>
            <p:cNvSpPr/>
            <p:nvPr/>
          </p:nvSpPr>
          <p:spPr>
            <a:xfrm>
              <a:off x="0" y="0"/>
              <a:ext cx="614299" cy="614299"/>
            </a:xfrm>
            <a:custGeom>
              <a:avLst/>
              <a:gdLst/>
              <a:ahLst/>
              <a:cxnLst/>
              <a:rect l="l" t="t" r="r" b="b"/>
              <a:pathLst>
                <a:path w="614299" h="614299">
                  <a:moveTo>
                    <a:pt x="0" y="307086"/>
                  </a:moveTo>
                  <a:cubicBezTo>
                    <a:pt x="0" y="137541"/>
                    <a:pt x="137541" y="0"/>
                    <a:pt x="307086" y="0"/>
                  </a:cubicBezTo>
                  <a:cubicBezTo>
                    <a:pt x="476631" y="0"/>
                    <a:pt x="614299" y="137541"/>
                    <a:pt x="614299" y="307086"/>
                  </a:cubicBezTo>
                  <a:cubicBezTo>
                    <a:pt x="614299" y="476631"/>
                    <a:pt x="476758" y="614299"/>
                    <a:pt x="307086" y="614299"/>
                  </a:cubicBezTo>
                  <a:cubicBezTo>
                    <a:pt x="137414" y="614299"/>
                    <a:pt x="0" y="476758"/>
                    <a:pt x="0" y="307086"/>
                  </a:cubicBezTo>
                  <a:close/>
                </a:path>
              </a:pathLst>
            </a:custGeom>
            <a:solidFill>
              <a:srgbClr val="FFFFFF"/>
            </a:solidFill>
          </p:spPr>
        </p:sp>
      </p:grpSp>
      <p:grpSp>
        <p:nvGrpSpPr>
          <p:cNvPr id="15" name="Group 15"/>
          <p:cNvGrpSpPr/>
          <p:nvPr/>
        </p:nvGrpSpPr>
        <p:grpSpPr>
          <a:xfrm>
            <a:off x="11133848" y="7206754"/>
            <a:ext cx="1907086" cy="1907086"/>
            <a:chOff x="0" y="0"/>
            <a:chExt cx="2542782" cy="2542782"/>
          </a:xfrm>
        </p:grpSpPr>
        <p:sp>
          <p:nvSpPr>
            <p:cNvPr id="16" name="Freeform 16"/>
            <p:cNvSpPr/>
            <p:nvPr/>
          </p:nvSpPr>
          <p:spPr>
            <a:xfrm>
              <a:off x="0" y="0"/>
              <a:ext cx="2542794" cy="2542794"/>
            </a:xfrm>
            <a:custGeom>
              <a:avLst/>
              <a:gdLst/>
              <a:ahLst/>
              <a:cxnLst/>
              <a:rect l="l" t="t" r="r" b="b"/>
              <a:pathLst>
                <a:path w="2542794" h="2542794">
                  <a:moveTo>
                    <a:pt x="0" y="1271397"/>
                  </a:moveTo>
                  <a:cubicBezTo>
                    <a:pt x="0" y="569214"/>
                    <a:pt x="569214" y="0"/>
                    <a:pt x="1271397" y="0"/>
                  </a:cubicBezTo>
                  <a:cubicBezTo>
                    <a:pt x="1973580" y="0"/>
                    <a:pt x="2542794" y="569214"/>
                    <a:pt x="2542794" y="1271397"/>
                  </a:cubicBezTo>
                  <a:cubicBezTo>
                    <a:pt x="2542794" y="1973580"/>
                    <a:pt x="1973580" y="2542794"/>
                    <a:pt x="1271397" y="2542794"/>
                  </a:cubicBezTo>
                  <a:cubicBezTo>
                    <a:pt x="569214" y="2542794"/>
                    <a:pt x="0" y="1973580"/>
                    <a:pt x="0" y="1271397"/>
                  </a:cubicBezTo>
                  <a:close/>
                </a:path>
              </a:pathLst>
            </a:custGeom>
            <a:solidFill>
              <a:srgbClr val="2C57D4"/>
            </a:solidFill>
          </p:spPr>
        </p:sp>
      </p:grpSp>
      <p:sp>
        <p:nvSpPr>
          <p:cNvPr id="17" name="Freeform 17"/>
          <p:cNvSpPr/>
          <p:nvPr/>
        </p:nvSpPr>
        <p:spPr>
          <a:xfrm>
            <a:off x="14634945" y="5941110"/>
            <a:ext cx="3662582" cy="4355416"/>
          </a:xfrm>
          <a:custGeom>
            <a:avLst/>
            <a:gdLst/>
            <a:ahLst/>
            <a:cxnLst/>
            <a:rect l="l" t="t" r="r" b="b"/>
            <a:pathLst>
              <a:path w="3662582" h="4355416">
                <a:moveTo>
                  <a:pt x="0" y="0"/>
                </a:moveTo>
                <a:lnTo>
                  <a:pt x="3662582" y="0"/>
                </a:lnTo>
                <a:lnTo>
                  <a:pt x="3662582" y="4355416"/>
                </a:lnTo>
                <a:lnTo>
                  <a:pt x="0" y="4355416"/>
                </a:lnTo>
                <a:lnTo>
                  <a:pt x="0" y="0"/>
                </a:lnTo>
                <a:close/>
              </a:path>
            </a:pathLst>
          </a:custGeom>
          <a:blipFill>
            <a:blip r:embed="rId2"/>
            <a:stretch>
              <a:fillRect/>
            </a:stretch>
          </a:blipFill>
        </p:spPr>
      </p:sp>
      <p:grpSp>
        <p:nvGrpSpPr>
          <p:cNvPr id="23" name="Group 23"/>
          <p:cNvGrpSpPr/>
          <p:nvPr/>
        </p:nvGrpSpPr>
        <p:grpSpPr>
          <a:xfrm>
            <a:off x="10748413" y="5482213"/>
            <a:ext cx="228600" cy="228600"/>
            <a:chOff x="0" y="0"/>
            <a:chExt cx="304800" cy="304800"/>
          </a:xfrm>
        </p:grpSpPr>
        <p:sp>
          <p:nvSpPr>
            <p:cNvPr id="24" name="Freeform 24"/>
            <p:cNvSpPr/>
            <p:nvPr/>
          </p:nvSpPr>
          <p:spPr>
            <a:xfrm>
              <a:off x="0" y="0"/>
              <a:ext cx="304800" cy="304800"/>
            </a:xfrm>
            <a:custGeom>
              <a:avLst/>
              <a:gdLst/>
              <a:ahLst/>
              <a:cxnLst/>
              <a:rect l="l" t="t" r="r" b="b"/>
              <a:pathLst>
                <a:path w="304800" h="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FFFFFF"/>
            </a:solidFill>
          </p:spPr>
        </p:sp>
      </p:grpSp>
      <p:grpSp>
        <p:nvGrpSpPr>
          <p:cNvPr id="25" name="Group 25"/>
          <p:cNvGrpSpPr/>
          <p:nvPr/>
        </p:nvGrpSpPr>
        <p:grpSpPr>
          <a:xfrm>
            <a:off x="16975932" y="2936160"/>
            <a:ext cx="392338" cy="392339"/>
            <a:chOff x="0" y="0"/>
            <a:chExt cx="523118" cy="523118"/>
          </a:xfrm>
        </p:grpSpPr>
        <p:sp>
          <p:nvSpPr>
            <p:cNvPr id="26" name="Freeform 26"/>
            <p:cNvSpPr/>
            <p:nvPr/>
          </p:nvSpPr>
          <p:spPr>
            <a:xfrm>
              <a:off x="0" y="0"/>
              <a:ext cx="523240" cy="523240"/>
            </a:xfrm>
            <a:custGeom>
              <a:avLst/>
              <a:gdLst/>
              <a:ahLst/>
              <a:cxnLst/>
              <a:rect l="l" t="t" r="r" b="b"/>
              <a:pathLst>
                <a:path w="523240" h="523240">
                  <a:moveTo>
                    <a:pt x="0" y="261620"/>
                  </a:moveTo>
                  <a:cubicBezTo>
                    <a:pt x="0" y="117094"/>
                    <a:pt x="117094" y="0"/>
                    <a:pt x="261620" y="0"/>
                  </a:cubicBezTo>
                  <a:cubicBezTo>
                    <a:pt x="406146" y="0"/>
                    <a:pt x="523240" y="117094"/>
                    <a:pt x="523240" y="261620"/>
                  </a:cubicBezTo>
                  <a:cubicBezTo>
                    <a:pt x="523240" y="406146"/>
                    <a:pt x="406146" y="523240"/>
                    <a:pt x="261620" y="523240"/>
                  </a:cubicBezTo>
                  <a:cubicBezTo>
                    <a:pt x="117094" y="523240"/>
                    <a:pt x="0" y="406019"/>
                    <a:pt x="0" y="261620"/>
                  </a:cubicBezTo>
                  <a:close/>
                </a:path>
              </a:pathLst>
            </a:custGeom>
            <a:solidFill>
              <a:srgbClr val="356AFF"/>
            </a:solidFill>
          </p:spPr>
        </p:sp>
      </p:grpSp>
      <p:grpSp>
        <p:nvGrpSpPr>
          <p:cNvPr id="27" name="Group 27"/>
          <p:cNvGrpSpPr/>
          <p:nvPr/>
        </p:nvGrpSpPr>
        <p:grpSpPr>
          <a:xfrm>
            <a:off x="11204916" y="3281867"/>
            <a:ext cx="569742" cy="569742"/>
            <a:chOff x="0" y="0"/>
            <a:chExt cx="759656" cy="759656"/>
          </a:xfrm>
        </p:grpSpPr>
        <p:sp>
          <p:nvSpPr>
            <p:cNvPr id="28" name="Freeform 28"/>
            <p:cNvSpPr/>
            <p:nvPr/>
          </p:nvSpPr>
          <p:spPr>
            <a:xfrm>
              <a:off x="0" y="0"/>
              <a:ext cx="759714" cy="759714"/>
            </a:xfrm>
            <a:custGeom>
              <a:avLst/>
              <a:gdLst/>
              <a:ahLst/>
              <a:cxnLst/>
              <a:rect l="l" t="t" r="r" b="b"/>
              <a:pathLst>
                <a:path w="759714" h="759714">
                  <a:moveTo>
                    <a:pt x="0" y="379857"/>
                  </a:moveTo>
                  <a:cubicBezTo>
                    <a:pt x="0" y="170053"/>
                    <a:pt x="170053" y="0"/>
                    <a:pt x="379857" y="0"/>
                  </a:cubicBezTo>
                  <a:cubicBezTo>
                    <a:pt x="589661" y="0"/>
                    <a:pt x="759714" y="170053"/>
                    <a:pt x="759714" y="379857"/>
                  </a:cubicBezTo>
                  <a:cubicBezTo>
                    <a:pt x="759714" y="589661"/>
                    <a:pt x="589661" y="759714"/>
                    <a:pt x="379857" y="759714"/>
                  </a:cubicBezTo>
                  <a:cubicBezTo>
                    <a:pt x="170053" y="759714"/>
                    <a:pt x="0" y="589661"/>
                    <a:pt x="0" y="379857"/>
                  </a:cubicBezTo>
                  <a:close/>
                  <a:moveTo>
                    <a:pt x="189865" y="379857"/>
                  </a:moveTo>
                  <a:cubicBezTo>
                    <a:pt x="189865" y="484759"/>
                    <a:pt x="274955" y="569722"/>
                    <a:pt x="379730" y="569722"/>
                  </a:cubicBezTo>
                  <a:cubicBezTo>
                    <a:pt x="484505" y="569722"/>
                    <a:pt x="569595" y="484632"/>
                    <a:pt x="569595" y="379857"/>
                  </a:cubicBezTo>
                  <a:cubicBezTo>
                    <a:pt x="569595" y="275082"/>
                    <a:pt x="484505" y="189992"/>
                    <a:pt x="379730" y="189992"/>
                  </a:cubicBezTo>
                  <a:cubicBezTo>
                    <a:pt x="274955" y="189992"/>
                    <a:pt x="189865" y="275082"/>
                    <a:pt x="189865" y="379857"/>
                  </a:cubicBezTo>
                  <a:close/>
                </a:path>
              </a:pathLst>
            </a:custGeom>
            <a:solidFill>
              <a:srgbClr val="356AFF"/>
            </a:solidFill>
          </p:spPr>
        </p:sp>
      </p:grpSp>
      <p:sp>
        <p:nvSpPr>
          <p:cNvPr id="30" name="Freeform 30"/>
          <p:cNvSpPr/>
          <p:nvPr/>
        </p:nvSpPr>
        <p:spPr>
          <a:xfrm>
            <a:off x="5324628" y="9524745"/>
            <a:ext cx="1713174" cy="762255"/>
          </a:xfrm>
          <a:custGeom>
            <a:avLst/>
            <a:gdLst/>
            <a:ahLst/>
            <a:cxnLst/>
            <a:rect l="l" t="t" r="r" b="b"/>
            <a:pathLst>
              <a:path w="1713174" h="762255">
                <a:moveTo>
                  <a:pt x="0" y="0"/>
                </a:moveTo>
                <a:lnTo>
                  <a:pt x="1713174" y="0"/>
                </a:lnTo>
                <a:lnTo>
                  <a:pt x="1713174" y="762255"/>
                </a:lnTo>
                <a:lnTo>
                  <a:pt x="0" y="762255"/>
                </a:lnTo>
                <a:lnTo>
                  <a:pt x="0" y="0"/>
                </a:lnTo>
                <a:close/>
              </a:path>
            </a:pathLst>
          </a:custGeom>
          <a:blipFill>
            <a:blip r:embed="rId3"/>
            <a:stretch>
              <a:fillRect/>
            </a:stretch>
          </a:blipFill>
        </p:spPr>
      </p:sp>
      <p:sp>
        <p:nvSpPr>
          <p:cNvPr id="37" name="Freeform 30"/>
          <p:cNvSpPr/>
          <p:nvPr>
            <p:custDataLst>
              <p:tags r:id="rId4"/>
            </p:custDataLst>
          </p:nvPr>
        </p:nvSpPr>
        <p:spPr>
          <a:xfrm>
            <a:off x="304888" y="266841"/>
            <a:ext cx="2187262" cy="656549"/>
          </a:xfrm>
          <a:custGeom>
            <a:avLst/>
            <a:gdLst/>
            <a:ahLst/>
            <a:cxnLst/>
            <a:rect l="l" t="t" r="r" b="b"/>
            <a:pathLst>
              <a:path w="2187262" h="656549">
                <a:moveTo>
                  <a:pt x="0" y="0"/>
                </a:moveTo>
                <a:lnTo>
                  <a:pt x="2187262" y="0"/>
                </a:lnTo>
                <a:lnTo>
                  <a:pt x="2187262" y="656549"/>
                </a:lnTo>
                <a:lnTo>
                  <a:pt x="0" y="656549"/>
                </a:lnTo>
                <a:lnTo>
                  <a:pt x="0" y="0"/>
                </a:lnTo>
                <a:close/>
              </a:path>
            </a:pathLst>
          </a:custGeom>
          <a:blipFill>
            <a:blip r:embed="rId5"/>
            <a:stretch>
              <a:fillRect/>
            </a:stretch>
          </a:blipFill>
        </p:spPr>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3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4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6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7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8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9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3.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2.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19.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5.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6.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1.xml><?xml version="1.0" encoding="utf-8"?>
<p:tagLst xmlns:p="http://schemas.openxmlformats.org/presentationml/2006/main">
  <p:tag name="KSO_WM_DIAGRAM_VIRTUALLY_FRAME" val="{&quot;height&quot;:648.229842519685,&quot;left&quot;:519.5674015748032,&quot;top&quot;:111.19047244094489,&quot;width&quot;:817.1200787401575}"/>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COMMONDATA" val="eyJoZGlkIjoiZTNiMmJjMGUyMDNhMGI0MjllZTc4OTE3ODRjOTBjMW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5663</Words>
  <Application>WPS 演示</Application>
  <PresentationFormat>自定义</PresentationFormat>
  <Paragraphs>229</Paragraphs>
  <Slides>35</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35</vt:i4>
      </vt:variant>
    </vt:vector>
  </HeadingPairs>
  <TitlesOfParts>
    <vt:vector size="51" baseType="lpstr">
      <vt:lpstr>Arial</vt:lpstr>
      <vt:lpstr>宋体</vt:lpstr>
      <vt:lpstr>Wingdings</vt:lpstr>
      <vt:lpstr>Montserrat Ultra-Bold</vt:lpstr>
      <vt:lpstr>思源黑体</vt:lpstr>
      <vt:lpstr>黑体</vt:lpstr>
      <vt:lpstr>微软雅黑</vt:lpstr>
      <vt:lpstr>Cambria Math</vt:lpstr>
      <vt:lpstr>Calibri</vt:lpstr>
      <vt:lpstr>Arial Unicode MS</vt:lpstr>
      <vt:lpstr>MS Mincho</vt:lpstr>
      <vt:lpstr>Montserrat Ultra-Bold</vt:lpstr>
      <vt:lpstr>思源黑体</vt:lpstr>
      <vt:lpstr>方正大黑体_GBK</vt:lpstr>
      <vt:lpstr>Ms.Luce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蓝色简约商业计划书演示文稿</dc:title>
  <dc:creator>唐玉婵</dc:creator>
  <cp:lastModifiedBy>是她</cp:lastModifiedBy>
  <cp:revision>37</cp:revision>
  <dcterms:created xsi:type="dcterms:W3CDTF">2006-08-16T00:00:00Z</dcterms:created>
  <dcterms:modified xsi:type="dcterms:W3CDTF">2026-01-23T01:08:18Z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A1735CF52F6D4D80BA44C61B7048A70D_12</vt:lpwstr>
  </property>
  <property fmtid="{D5CDD505-2E9C-101B-9397-08002B2CF9AE}" pid="3" name="KSOProductBuildVer">
    <vt:lpwstr>2052-12.1.0.24657</vt:lpwstr>
  </property>
</Properties>
</file>