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9" r:id="rId3"/>
    <p:sldId id="286" r:id="rId4"/>
    <p:sldId id="287" r:id="rId5"/>
    <p:sldId id="288" r:id="rId6"/>
    <p:sldId id="277" r:id="rId7"/>
    <p:sldId id="289" r:id="rId8"/>
    <p:sldId id="290" r:id="rId9"/>
    <p:sldId id="291" r:id="rId10"/>
    <p:sldId id="293" r:id="rId11"/>
    <p:sldId id="279" r:id="rId12"/>
    <p:sldId id="294" r:id="rId13"/>
    <p:sldId id="295" r:id="rId14"/>
    <p:sldId id="296" r:id="rId15"/>
    <p:sldId id="280" r:id="rId16"/>
    <p:sldId id="298" r:id="rId17"/>
    <p:sldId id="300" r:id="rId18"/>
    <p:sldId id="28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9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0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3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5.xml"/><Relationship Id="rId2" Type="http://schemas.openxmlformats.org/officeDocument/2006/relationships/image" Target="../media/image1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6.xml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7.xml"/><Relationship Id="rId2" Type="http://schemas.openxmlformats.org/officeDocument/2006/relationships/image" Target="../media/image24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8.xml"/><Relationship Id="rId2" Type="http://schemas.openxmlformats.org/officeDocument/2006/relationships/image" Target="../media/image25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7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LISA</a:t>
            </a:r>
            <a:endParaRPr lang="en-US" altLang="zh-CN" sz="2400" b="1"/>
          </a:p>
        </p:txBody>
      </p:sp>
      <p:sp>
        <p:nvSpPr>
          <p:cNvPr id="2" name="文本框 1"/>
          <p:cNvSpPr txBox="1"/>
          <p:nvPr/>
        </p:nvSpPr>
        <p:spPr>
          <a:xfrm>
            <a:off x="345440" y="920750"/>
            <a:ext cx="89566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：全参数微调内存开销巨大，而</a:t>
            </a:r>
            <a:r>
              <a:rPr lang="en-US" altLang="zh-CN" sz="2000"/>
              <a:t> LoRA </a:t>
            </a:r>
            <a:r>
              <a:rPr lang="zh-CN" altLang="en-US" sz="2000"/>
              <a:t>虽然高效，但由于将更新限制在低秩子空间内，其性能往往达不到全参数微调的水平</a:t>
            </a:r>
            <a:r>
              <a:rPr lang="en-US" altLang="zh-CN" sz="2000"/>
              <a:t> 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1969135"/>
            <a:ext cx="8823960" cy="4699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" y="2585085"/>
            <a:ext cx="8953500" cy="33147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93395" y="6239510"/>
            <a:ext cx="10503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R. Pan, X. Liu, S. Diao, R. Pi, J. Zhang, C. Han, and T. Zhang. Lisa: layerwise importance sampling for memory efficient large language model fine-tuning. Advances in Neural Information Processing Systems, 37:57018–57049, 2024.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LISA</a:t>
            </a:r>
            <a:endParaRPr lang="en-US" altLang="zh-CN" sz="24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85" y="1316355"/>
            <a:ext cx="9898380" cy="2247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1240" y="3824605"/>
            <a:ext cx="3350895" cy="28568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5" y="4237990"/>
            <a:ext cx="8004175" cy="21939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LISA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367790"/>
            <a:ext cx="4602480" cy="412242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840" y="1611630"/>
            <a:ext cx="4564380" cy="38785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LISA</a:t>
            </a:r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835" y="1017905"/>
            <a:ext cx="9799320" cy="3771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55" y="5153025"/>
            <a:ext cx="9822180" cy="14325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MISA</a:t>
            </a:r>
            <a:endParaRPr lang="en-US" altLang="zh-CN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834961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</a:t>
            </a:r>
            <a:r>
              <a:rPr lang="en-US" altLang="zh-CN" sz="2000"/>
              <a:t>LISA </a:t>
            </a:r>
            <a:r>
              <a:rPr lang="zh-CN" altLang="en-US" sz="2000"/>
              <a:t>的采样粒度太粗（以层为单位），忽略了层内不同模块（如</a:t>
            </a:r>
            <a:r>
              <a:rPr lang="en-US" altLang="zh-CN" sz="2000"/>
              <a:t> Attention </a:t>
            </a:r>
            <a:r>
              <a:rPr lang="zh-CN" altLang="en-US" sz="2000"/>
              <a:t>和</a:t>
            </a:r>
            <a:r>
              <a:rPr lang="en-US" altLang="zh-CN" sz="2000"/>
              <a:t> FFN</a:t>
            </a:r>
            <a:r>
              <a:rPr lang="zh-CN" altLang="en-US" sz="2000"/>
              <a:t>）的重要性差异，且均匀采样过于启发式</a:t>
            </a:r>
            <a:r>
              <a:rPr lang="en-US" altLang="zh-CN" sz="2000"/>
              <a:t> </a:t>
            </a:r>
            <a:r>
              <a:rPr lang="zh-CN" altLang="en-US" sz="2000"/>
              <a:t>。于是提出采取</a:t>
            </a:r>
            <a:r>
              <a:rPr lang="en-US" altLang="zh-CN" sz="2000"/>
              <a:t>Block</a:t>
            </a:r>
            <a:r>
              <a:rPr lang="zh-CN" altLang="en-US" sz="2000"/>
              <a:t>或者叫</a:t>
            </a:r>
            <a:r>
              <a:rPr lang="en-US" altLang="zh-CN" sz="2000"/>
              <a:t>Module</a:t>
            </a:r>
            <a:r>
              <a:rPr lang="zh-CN" altLang="en-US" sz="2000"/>
              <a:t>级别的重要性</a:t>
            </a:r>
            <a:r>
              <a:rPr lang="zh-CN" altLang="en-US" sz="2000"/>
              <a:t>采样。</a:t>
            </a:r>
            <a:endParaRPr lang="zh-CN" altLang="en-US" sz="20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770" y="2482850"/>
            <a:ext cx="5226050" cy="34105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93395" y="6239510"/>
            <a:ext cx="1050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MISA: Memory-Efficient LLMs Optimization with Module-wise Importance Sampling.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MISA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921385"/>
            <a:ext cx="8869680" cy="5715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MISA</a:t>
            </a:r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181100"/>
            <a:ext cx="8907780" cy="22479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" y="3945255"/>
            <a:ext cx="8877300" cy="23241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MISA</a:t>
            </a:r>
            <a:endParaRPr lang="en-US" altLang="zh-CN" sz="2400" b="1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980" y="1630680"/>
            <a:ext cx="8900160" cy="374142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MISA</a:t>
            </a:r>
            <a:endParaRPr lang="en-US" altLang="zh-CN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473200"/>
            <a:ext cx="8412480" cy="43434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</a:t>
            </a:r>
            <a:endParaRPr lang="en-US" altLang="zh-CN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970915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：不再选择性更新参数，而是通过低秩投影压缩梯度，从而压缩优化器内存。训练</a:t>
            </a:r>
            <a:r>
              <a:rPr lang="en-US" altLang="zh-CN" sz="2000"/>
              <a:t> LLM </a:t>
            </a:r>
            <a:r>
              <a:rPr lang="zh-CN" altLang="en-US" sz="2000"/>
              <a:t>的内存瓶颈主要在优化器状态（如</a:t>
            </a:r>
            <a:r>
              <a:rPr lang="en-US" altLang="zh-CN" sz="2000"/>
              <a:t> Adam </a:t>
            </a:r>
            <a:r>
              <a:rPr lang="zh-CN" altLang="en-US" sz="2000"/>
              <a:t>的动量和方差）。</a:t>
            </a:r>
            <a:r>
              <a:rPr lang="en-US" altLang="zh-CN" sz="2000"/>
              <a:t>LoRA</a:t>
            </a:r>
            <a:r>
              <a:rPr lang="zh-CN" altLang="en-US" sz="2000"/>
              <a:t>效果差可能由于参数矩阵本身不低秩，而梯度矩阵则具有近似低秩的性质（更新差异</a:t>
            </a:r>
            <a:r>
              <a:rPr lang="zh-CN" altLang="en-US" sz="2000"/>
              <a:t>大）。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260" y="2472690"/>
            <a:ext cx="4022725" cy="35934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93395" y="6239510"/>
            <a:ext cx="10503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Jiawei Zhao, Zhenyu Zhang, Beidi Chen, Zhangyang Wang, Anima Anandkumar, and Yuandong Tian. Galore: Memory-efficient llm training by gradient low-rank projection. arXiv preprint arXiv:2403.03507, 2024.</a:t>
            </a:r>
            <a:endParaRPr lang="en-US" altLang="zh-CN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270" y="3527425"/>
            <a:ext cx="4084320" cy="6477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</a:t>
            </a:r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772795"/>
            <a:ext cx="5189220" cy="604075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2985135" y="2717800"/>
            <a:ext cx="1874520" cy="195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</a:t>
            </a:r>
            <a:endParaRPr lang="en-US" altLang="zh-CN" sz="2400" b="1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105" y="1939290"/>
            <a:ext cx="5356860" cy="4008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2289810"/>
            <a:ext cx="5410200" cy="36576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845" y="1329690"/>
            <a:ext cx="10896600" cy="5105400"/>
          </a:xfrm>
          <a:prstGeom prst="rect">
            <a:avLst/>
          </a:prstGeom>
        </p:spPr>
      </p:pic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</a:t>
            </a:r>
            <a:endParaRPr lang="en-US" altLang="zh-CN" sz="2400" b="1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GaLore2</a:t>
            </a:r>
            <a:endParaRPr lang="en-US" altLang="zh-CN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83496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Motivation</a:t>
            </a:r>
            <a:r>
              <a:rPr lang="zh-CN" altLang="en-US" sz="2000"/>
              <a:t>：工程化改进</a:t>
            </a:r>
            <a:r>
              <a:rPr lang="en-US" altLang="zh-CN" sz="2000"/>
              <a:t>SVD</a:t>
            </a:r>
            <a:r>
              <a:rPr lang="zh-CN" altLang="en-US" sz="2000"/>
              <a:t>环节，使</a:t>
            </a:r>
            <a:r>
              <a:rPr lang="en-US" altLang="zh-CN" sz="2000"/>
              <a:t>GaLore</a:t>
            </a:r>
            <a:r>
              <a:rPr lang="zh-CN" altLang="en-US" sz="2000"/>
              <a:t>技术可应用于工业级大模型</a:t>
            </a:r>
            <a:r>
              <a:rPr lang="en-US" altLang="zh-CN" sz="2000"/>
              <a:t>PT</a:t>
            </a:r>
            <a:r>
              <a:rPr lang="zh-CN" altLang="en-US" sz="2000"/>
              <a:t>和</a:t>
            </a:r>
            <a:r>
              <a:rPr lang="en-US" altLang="zh-CN" sz="2000"/>
              <a:t>CPT</a:t>
            </a:r>
            <a:r>
              <a:rPr lang="zh-CN" altLang="en-US" sz="2000"/>
              <a:t>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1. Fast random SVD</a:t>
            </a:r>
            <a:endParaRPr lang="en-US" altLang="zh-CN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FSDP</a:t>
            </a:r>
            <a:endParaRPr lang="en-US" altLang="zh-CN" sz="2000"/>
          </a:p>
        </p:txBody>
      </p:sp>
      <p:sp>
        <p:nvSpPr>
          <p:cNvPr id="10" name="文本框 9"/>
          <p:cNvSpPr txBox="1"/>
          <p:nvPr/>
        </p:nvSpPr>
        <p:spPr>
          <a:xfrm>
            <a:off x="493395" y="6239510"/>
            <a:ext cx="1050353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en-US" altLang="zh-CN" sz="1200">
                <a:latin typeface="Times New Roman" panose="02020603050405020304" charset="0"/>
                <a:cs typeface="Times New Roman" panose="02020603050405020304" charset="0"/>
              </a:rPr>
              <a:t>GaLore 2: Large-Scale LLM Pre-Training by Gradient Low-Rank Projection.</a:t>
            </a:r>
            <a:endParaRPr lang="zh-CN" altLang="en-US" sz="12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675" y="2433320"/>
            <a:ext cx="7983220" cy="36722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GaLore2</a:t>
            </a:r>
            <a:endParaRPr lang="en-US" altLang="zh-CN"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35" y="2416810"/>
            <a:ext cx="11946255" cy="285115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/>
              <a:t>GaLore2</a:t>
            </a:r>
            <a:endParaRPr lang="en-US" altLang="zh-CN" sz="2400" b="1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9850" y="895350"/>
            <a:ext cx="6972300" cy="50673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Sun_Yat-sen_Univ_Logo.sv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7155" y="109855"/>
            <a:ext cx="1744980" cy="17449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45440" y="312420"/>
            <a:ext cx="39808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 b="1"/>
              <a:t>下周工作</a:t>
            </a:r>
            <a:endParaRPr lang="zh-CN" altLang="en-US" sz="2400" b="1"/>
          </a:p>
        </p:txBody>
      </p:sp>
      <p:sp>
        <p:nvSpPr>
          <p:cNvPr id="3" name="文本框 2"/>
          <p:cNvSpPr txBox="1"/>
          <p:nvPr/>
        </p:nvSpPr>
        <p:spPr>
          <a:xfrm>
            <a:off x="345440" y="920750"/>
            <a:ext cx="83496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sz="2000"/>
              <a:t>1. </a:t>
            </a:r>
            <a:r>
              <a:rPr lang="zh-CN" altLang="en-US" sz="2000"/>
              <a:t>完成</a:t>
            </a:r>
            <a:r>
              <a:rPr lang="en-US" altLang="zh-CN" sz="2000"/>
              <a:t>SEAL</a:t>
            </a:r>
            <a:r>
              <a:rPr lang="zh-CN" altLang="en-US" sz="2000"/>
              <a:t>的环境搭建和实验</a:t>
            </a:r>
            <a:r>
              <a:rPr lang="zh-CN" altLang="en-US" sz="2000"/>
              <a:t>复现。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zh-CN" altLang="en-US" sz="2000"/>
              <a:t>目前正在搭建环境，周内可以</a:t>
            </a:r>
            <a:r>
              <a:rPr lang="zh-CN" altLang="en-US" sz="2000"/>
              <a:t>完成。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2. </a:t>
            </a:r>
            <a:r>
              <a:rPr lang="zh-CN" altLang="en-US" sz="2000"/>
              <a:t>完成</a:t>
            </a:r>
            <a:r>
              <a:rPr lang="en-US" altLang="zh-CN" sz="2000"/>
              <a:t>4090</a:t>
            </a:r>
            <a:r>
              <a:rPr lang="zh-CN" altLang="en-US" sz="2000"/>
              <a:t>单卡的</a:t>
            </a:r>
            <a:r>
              <a:rPr lang="en-US" altLang="zh-CN" sz="2000"/>
              <a:t>LISA</a:t>
            </a:r>
            <a:r>
              <a:rPr lang="zh-CN" altLang="en-US" sz="2000"/>
              <a:t>与</a:t>
            </a:r>
            <a:r>
              <a:rPr lang="en-US" altLang="zh-CN" sz="2000"/>
              <a:t>GaLore</a:t>
            </a:r>
            <a:r>
              <a:rPr lang="zh-CN" altLang="en-US" sz="2000"/>
              <a:t>的</a:t>
            </a:r>
            <a:r>
              <a:rPr lang="zh-CN" altLang="en-US" sz="2000"/>
              <a:t>运行。</a:t>
            </a:r>
            <a:endParaRPr lang="zh-CN" altLang="en-US" sz="2000"/>
          </a:p>
          <a:p>
            <a:pPr indent="0" fontAlgn="auto">
              <a:lnSpc>
                <a:spcPct val="150000"/>
              </a:lnSpc>
            </a:pPr>
            <a:r>
              <a:rPr lang="en-US" altLang="zh-CN" sz="2000"/>
              <a:t>3. </a:t>
            </a:r>
            <a:r>
              <a:rPr lang="zh-CN" altLang="en-US" sz="2000"/>
              <a:t>阅读</a:t>
            </a:r>
            <a:r>
              <a:rPr lang="en-US" altLang="zh-CN" sz="2000"/>
              <a:t>GUM</a:t>
            </a:r>
            <a:r>
              <a:rPr lang="zh-CN" altLang="en-US" sz="2000"/>
              <a:t>与</a:t>
            </a:r>
            <a:r>
              <a:rPr lang="en-US" altLang="zh-CN" sz="2000"/>
              <a:t>Fira</a:t>
            </a:r>
            <a:r>
              <a:rPr lang="zh-CN" altLang="en-US" sz="2000"/>
              <a:t>最新的</a:t>
            </a:r>
            <a:r>
              <a:rPr lang="en-US" altLang="zh-CN" sz="2000"/>
              <a:t>SOTA</a:t>
            </a:r>
            <a:r>
              <a:rPr lang="zh-CN" altLang="en-US" sz="2000"/>
              <a:t>工作</a:t>
            </a:r>
            <a:r>
              <a:rPr lang="zh-CN" altLang="en-US" sz="2000"/>
              <a:t>阅读。</a:t>
            </a:r>
            <a:endParaRPr lang="zh-CN" altLang="en-US" sz="20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1123</Words>
  <Application>WPS 演示</Application>
  <PresentationFormat>宽屏</PresentationFormat>
  <Paragraphs>57</Paragraphs>
  <Slides>17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Times New Roman</vt:lpstr>
      <vt:lpstr>SFRM1728</vt:lpstr>
      <vt:lpstr>Segoe Print</vt:lpstr>
      <vt:lpstr>微软雅黑</vt:lpstr>
      <vt:lpstr>Arial Unicode MS</vt:lpstr>
      <vt:lpstr>Calibri</vt:lpstr>
      <vt:lpstr>SFRM1728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是她</cp:lastModifiedBy>
  <cp:revision>187</cp:revision>
  <dcterms:created xsi:type="dcterms:W3CDTF">2019-06-19T02:08:00Z</dcterms:created>
  <dcterms:modified xsi:type="dcterms:W3CDTF">2026-03-19T15:03:08Z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CC4AC3AD79CA40C18E9B66A5156574DC_11</vt:lpwstr>
  </property>
</Properties>
</file>